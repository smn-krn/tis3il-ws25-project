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9" r:id="rId4"/>
    <p:sldId id="258" r:id="rId5"/>
    <p:sldId id="270" r:id="rId6"/>
    <p:sldId id="271" r:id="rId7"/>
    <p:sldId id="272" r:id="rId8"/>
    <p:sldId id="273" r:id="rId9"/>
    <p:sldId id="260" r:id="rId10"/>
    <p:sldId id="274" r:id="rId11"/>
    <p:sldId id="275" r:id="rId12"/>
    <p:sldId id="263" r:id="rId13"/>
    <p:sldId id="276" r:id="rId14"/>
    <p:sldId id="277" r:id="rId15"/>
    <p:sldId id="266" r:id="rId16"/>
    <p:sldId id="268" r:id="rId17"/>
  </p:sldIdLst>
  <p:sldSz cx="18288000" cy="10287000"/>
  <p:notesSz cx="6858000" cy="9144000"/>
  <p:embeddedFontLst>
    <p:embeddedFont>
      <p:font typeface="Inter" panose="020B0604020202020204" charset="0"/>
      <p:regular r:id="rId18"/>
    </p:embeddedFont>
    <p:embeddedFont>
      <p:font typeface="Inter Bold" panose="020B0604020202020204" charset="0"/>
      <p:regular r:id="rId19"/>
    </p:embeddedFont>
    <p:embeddedFont>
      <p:font typeface="League Spartan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5" d="100"/>
          <a:sy n="45" d="100"/>
        </p:scale>
        <p:origin x="1008" y="3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5" Type="http://schemas.openxmlformats.org/officeDocument/2006/relationships/image" Target="../media/image6.pn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5645" y="3600450"/>
            <a:ext cx="3257995" cy="3045824"/>
            <a:chOff x="0" y="0"/>
            <a:chExt cx="812800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089597" y="3600450"/>
            <a:ext cx="1183468" cy="3086100"/>
            <a:chOff x="0" y="0"/>
            <a:chExt cx="291397" cy="7598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397" cy="759868"/>
            </a:xfrm>
            <a:custGeom>
              <a:avLst/>
              <a:gdLst/>
              <a:ahLst/>
              <a:cxnLst/>
              <a:rect l="l" t="t" r="r" b="b"/>
              <a:pathLst>
                <a:path w="291397" h="759868">
                  <a:moveTo>
                    <a:pt x="88197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88197" y="759868"/>
                  </a:lnTo>
                  <a:lnTo>
                    <a:pt x="291397" y="379934"/>
                  </a:lnTo>
                  <a:lnTo>
                    <a:pt x="8819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7097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 rot="5400000">
            <a:off x="1402672" y="6547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4" name="TextBox 14"/>
          <p:cNvSpPr txBox="1"/>
          <p:nvPr/>
        </p:nvSpPr>
        <p:spPr>
          <a:xfrm>
            <a:off x="8382000" y="1357053"/>
            <a:ext cx="7754136" cy="5767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9000" y="3816156"/>
            <a:ext cx="9956990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7419"/>
              </a:lnSpc>
              <a:spcBef>
                <a:spcPct val="0"/>
              </a:spcBef>
            </a:pPr>
            <a:r>
              <a:rPr lang="en-US" sz="5299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Weather forecasting to boost sales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43800" y="5848985"/>
            <a:ext cx="7345135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Presentation by the Data Team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694108" y="8258175"/>
            <a:ext cx="544202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23rd January, 2026</a:t>
            </a:r>
          </a:p>
        </p:txBody>
      </p:sp>
      <p:pic>
        <p:nvPicPr>
          <p:cNvPr id="18" name="Grafik 17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4DA12F01-72ED-5083-B450-653DFA802F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4982" y="2200530"/>
            <a:ext cx="2799839" cy="27998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7259300" y="5438878"/>
            <a:ext cx="2821508" cy="2618024"/>
            <a:chOff x="0" y="0"/>
            <a:chExt cx="703906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03906" cy="653141"/>
            </a:xfrm>
            <a:custGeom>
              <a:avLst/>
              <a:gdLst/>
              <a:ahLst/>
              <a:cxnLst/>
              <a:rect l="l" t="t" r="r" b="b"/>
              <a:pathLst>
                <a:path w="703906" h="653141">
                  <a:moveTo>
                    <a:pt x="50070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500706" y="653141"/>
                  </a:lnTo>
                  <a:lnTo>
                    <a:pt x="703906" y="326570"/>
                  </a:lnTo>
                  <a:lnTo>
                    <a:pt x="500706" y="0"/>
                  </a:ln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8960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28700" y="2767366"/>
            <a:ext cx="6784598" cy="678459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25046" r="-2504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519037" y="641748"/>
            <a:ext cx="5518901" cy="3601352"/>
            <a:chOff x="0" y="0"/>
            <a:chExt cx="1000907" cy="65314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00907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734768" y="1194997"/>
            <a:ext cx="3199165" cy="18646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 of Contents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4000" y="2206285"/>
            <a:ext cx="7840733" cy="6479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Team Slide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Solution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Source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Insights from Data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Engineering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Models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</a:p>
          <a:p>
            <a:pPr marL="734059" lvl="1" indent="-367030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Forecast</a:t>
            </a:r>
          </a:p>
          <a:p>
            <a:pPr marL="734059" lvl="1" indent="-367030" algn="l">
              <a:lnSpc>
                <a:spcPts val="5099"/>
              </a:lnSpc>
              <a:buFont typeface="Arial"/>
              <a:buChar char="•"/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Value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3" name="AutoShape 13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14" name="Freeform 14"/>
          <p:cNvSpPr/>
          <p:nvPr/>
        </p:nvSpPr>
        <p:spPr>
          <a:xfrm rot="5400000">
            <a:off x="16429362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pic>
        <p:nvPicPr>
          <p:cNvPr id="15" name="Grafik 14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94E3A87E-55F5-BBBE-17B2-3A5DC2BF5C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720" y="3735633"/>
            <a:ext cx="3406490" cy="34064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2F450-C63A-B0A9-3446-689203C0B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944BE0-EE23-A15C-1621-C936102A2BA5}"/>
              </a:ext>
            </a:extLst>
          </p:cNvPr>
          <p:cNvGrpSpPr/>
          <p:nvPr/>
        </p:nvGrpSpPr>
        <p:grpSpPr>
          <a:xfrm>
            <a:off x="2438400" y="3924300"/>
            <a:ext cx="3447216" cy="3941316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B3D195A-2C35-0BC6-92AB-AEF2CD5AE560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AE50DD-6E2C-B65A-1522-4DC8B58F0B9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BE273D1A-F5F7-A5C9-06D6-878E3F05D397}"/>
              </a:ext>
            </a:extLst>
          </p:cNvPr>
          <p:cNvGrpSpPr/>
          <p:nvPr/>
        </p:nvGrpSpPr>
        <p:grpSpPr>
          <a:xfrm>
            <a:off x="7486931" y="3924300"/>
            <a:ext cx="3447216" cy="3941316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1A7C36F-7377-D949-CDF8-99C65F04119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BBDF6EE-A4B6-5D7B-6B56-E622FB14E5D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D785E31-B046-13C7-B933-BD93B8BBCEE0}"/>
              </a:ext>
            </a:extLst>
          </p:cNvPr>
          <p:cNvGrpSpPr/>
          <p:nvPr/>
        </p:nvGrpSpPr>
        <p:grpSpPr>
          <a:xfrm>
            <a:off x="1981200" y="3771900"/>
            <a:ext cx="3752016" cy="3941316"/>
            <a:chOff x="0" y="0"/>
            <a:chExt cx="1198766" cy="143376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C3944A9-4AF0-DA6F-818C-8CEF94C51F5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A3B30C4F-20D5-71C4-2408-6C08EE8A3D76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3957C4B5-1431-284E-96F1-4BBACB236B5B}"/>
              </a:ext>
            </a:extLst>
          </p:cNvPr>
          <p:cNvGrpSpPr/>
          <p:nvPr/>
        </p:nvGrpSpPr>
        <p:grpSpPr>
          <a:xfrm>
            <a:off x="7029902" y="3771900"/>
            <a:ext cx="3751845" cy="3941316"/>
            <a:chOff x="0" y="0"/>
            <a:chExt cx="1198766" cy="143376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4D14314-07BA-37D6-C2F2-14B7C7E6573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1283CC66-D86C-C361-DFCB-9F0D75A83B2B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2453607-D092-0FBC-B431-30A904D0428F}"/>
              </a:ext>
            </a:extLst>
          </p:cNvPr>
          <p:cNvSpPr txBox="1"/>
          <p:nvPr/>
        </p:nvSpPr>
        <p:spPr>
          <a:xfrm>
            <a:off x="2471238" y="4950299"/>
            <a:ext cx="3166627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Preprocessing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Baseline Models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Statistical Models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doc file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58794ED4-C493-EF03-30EC-72C9AF25991A}"/>
              </a:ext>
            </a:extLst>
          </p:cNvPr>
          <p:cNvSpPr txBox="1"/>
          <p:nvPr/>
        </p:nvSpPr>
        <p:spPr>
          <a:xfrm>
            <a:off x="2705398" y="4128440"/>
            <a:ext cx="2323802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Binder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A9A3E2A2-8009-2C04-2653-C1420A89666F}"/>
              </a:ext>
            </a:extLst>
          </p:cNvPr>
          <p:cNvSpPr txBox="1"/>
          <p:nvPr/>
        </p:nvSpPr>
        <p:spPr>
          <a:xfrm>
            <a:off x="7162800" y="4128440"/>
            <a:ext cx="3387619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Salchegger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BE07885C-AA56-794C-1F9A-B12FB90B6D32}"/>
              </a:ext>
            </a:extLst>
          </p:cNvPr>
          <p:cNvSpPr txBox="1"/>
          <p:nvPr/>
        </p:nvSpPr>
        <p:spPr>
          <a:xfrm>
            <a:off x="7277654" y="4950299"/>
            <a:ext cx="3272766" cy="214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ML-Models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Final best models file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Visualizations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6E34585A-7189-27DC-D655-85D27C99AC61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E278D777-FD45-0E4D-7536-0880ED53FC84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12427FC-809B-819D-43CE-D67C62B82719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0B6B530D-057C-1484-3353-039EE7EF466D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contribution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35B50E7F-D0A0-8560-020E-1269397AEB15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E4EF0F9E-676F-04A2-1DE0-548809B26079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1152550C-0657-1307-8351-A845C6686CEE}"/>
              </a:ext>
            </a:extLst>
          </p:cNvPr>
          <p:cNvGrpSpPr/>
          <p:nvPr/>
        </p:nvGrpSpPr>
        <p:grpSpPr>
          <a:xfrm>
            <a:off x="12478584" y="3945384"/>
            <a:ext cx="3447216" cy="3941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ECE752EE-0E07-062A-3248-A5DC7DD890A9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0AAC13F1-47D6-2F44-E276-8AD6599F9FA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EBC6E30F-8373-7B6C-11B7-3C2B0C163707}"/>
              </a:ext>
            </a:extLst>
          </p:cNvPr>
          <p:cNvGrpSpPr/>
          <p:nvPr/>
        </p:nvGrpSpPr>
        <p:grpSpPr>
          <a:xfrm>
            <a:off x="12078433" y="3792984"/>
            <a:ext cx="3694967" cy="3941316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1FB54055-E9A9-244F-4CB1-15BB5A45E8EA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5BFD26E8-9B97-9456-F633-E546600F67F7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0D1800A4-549D-6978-9A47-BE959CFC1812}"/>
              </a:ext>
            </a:extLst>
          </p:cNvPr>
          <p:cNvSpPr txBox="1"/>
          <p:nvPr/>
        </p:nvSpPr>
        <p:spPr>
          <a:xfrm>
            <a:off x="12496800" y="4149524"/>
            <a:ext cx="2990016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Ms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Kern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35CCB615-427E-8D59-558B-DD2B54FBB68D}"/>
              </a:ext>
            </a:extLst>
          </p:cNvPr>
          <p:cNvSpPr txBox="1"/>
          <p:nvPr/>
        </p:nvSpPr>
        <p:spPr>
          <a:xfrm>
            <a:off x="12326184" y="4950299"/>
            <a:ext cx="3256418" cy="170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Github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repo setup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Helper functions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Neural Models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Slides</a:t>
            </a:r>
          </a:p>
        </p:txBody>
      </p:sp>
    </p:spTree>
    <p:extLst>
      <p:ext uri="{BB962C8B-B14F-4D97-AF65-F5344CB8AC3E}">
        <p14:creationId xmlns:p14="http://schemas.microsoft.com/office/powerpoint/2010/main" val="12102024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10791" y="4297972"/>
            <a:ext cx="10548509" cy="1185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Providing temperature prediction for energy consumption estimate</a:t>
            </a:r>
            <a:endParaRPr lang="en-US" sz="3399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715230" y="6218733"/>
            <a:ext cx="10353936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Showcase current method used and current success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033330" y="4635792"/>
            <a:ext cx="3791038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Company Overview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2033330" y="6549683"/>
            <a:ext cx="422447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Purpose of the Report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/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83C60-03AD-19EB-721E-1DF13EEC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39DF550F-BDB5-4091-3284-C83FB48A2F85}"/>
              </a:ext>
            </a:extLst>
          </p:cNvPr>
          <p:cNvSpPr txBox="1"/>
          <p:nvPr/>
        </p:nvSpPr>
        <p:spPr>
          <a:xfrm>
            <a:off x="6468044" y="4610100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model has MAE of 3 degrees over a span of 5 years prediction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449A4BD-94C4-0693-F74C-6799D09CC55F}"/>
              </a:ext>
            </a:extLst>
          </p:cNvPr>
          <p:cNvSpPr txBox="1"/>
          <p:nvPr/>
        </p:nvSpPr>
        <p:spPr>
          <a:xfrm>
            <a:off x="6468044" y="6630818"/>
            <a:ext cx="10353936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Able to look at typical weather </a:t>
            </a:r>
            <a:r>
              <a:rPr lang="en-US" sz="3399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behaviour</a:t>
            </a: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even years in advance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504D84E9-0B63-B012-83B5-AE42310A47CB}"/>
              </a:ext>
            </a:extLst>
          </p:cNvPr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85DF47D-00D0-F676-7C18-38152154EC18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1D1D1AE1-5711-9D06-D188-814D774C5F17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867EFF78-B9CF-6DB4-2362-37C82BDF88A9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F4436A34-323C-F316-F357-1AFA89C4CCAC}"/>
              </a:ext>
            </a:extLst>
          </p:cNvPr>
          <p:cNvGrpSpPr/>
          <p:nvPr/>
        </p:nvGrpSpPr>
        <p:grpSpPr>
          <a:xfrm>
            <a:off x="1524000" y="4780249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850FACA6-0BA4-5517-6592-203F15BD2E45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528C26A-3535-1EB2-641F-B009034D3B99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25B62BC5-82CD-8F65-6E50-9C411FCA02CD}"/>
              </a:ext>
            </a:extLst>
          </p:cNvPr>
          <p:cNvSpPr txBox="1"/>
          <p:nvPr/>
        </p:nvSpPr>
        <p:spPr>
          <a:xfrm>
            <a:off x="1790583" y="4980110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Good results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46858C0-C421-5DCC-6911-2EC9F0B751D6}"/>
              </a:ext>
            </a:extLst>
          </p:cNvPr>
          <p:cNvGrpSpPr/>
          <p:nvPr/>
        </p:nvGrpSpPr>
        <p:grpSpPr>
          <a:xfrm>
            <a:off x="1524000" y="6694139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6D6AF5B4-1A1E-E3C7-70E4-199E1C0A01E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A88057F-628B-EA4E-B4E8-047BAA8F2042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C22BCA7-4FC9-0562-B641-EAF5A76B7219}"/>
              </a:ext>
            </a:extLst>
          </p:cNvPr>
          <p:cNvSpPr txBox="1"/>
          <p:nvPr/>
        </p:nvSpPr>
        <p:spPr>
          <a:xfrm>
            <a:off x="1790583" y="6894001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Reliable delivery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D3BBD04D-7B98-5FFC-788C-AD9D7C443DEA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5103ECF7-AC79-8FF7-A4F8-B296014055E4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3BD131F6-BEEE-030A-0E6F-046842263677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47143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794310-5ED0-0DCA-AD5C-4D813109B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BBD0FC0-F7FC-9D4D-0531-F7EAB4DD347D}"/>
              </a:ext>
            </a:extLst>
          </p:cNvPr>
          <p:cNvSpPr txBox="1"/>
          <p:nvPr/>
        </p:nvSpPr>
        <p:spPr>
          <a:xfrm>
            <a:off x="6710791" y="4555319"/>
            <a:ext cx="1054850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https://dev.meteostat.net/bulk/daily.html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7E1BF624-DFD5-3AB2-6C1B-3672ACBEDD2A}"/>
              </a:ext>
            </a:extLst>
          </p:cNvPr>
          <p:cNvSpPr txBox="1"/>
          <p:nvPr/>
        </p:nvSpPr>
        <p:spPr>
          <a:xfrm>
            <a:off x="6710791" y="6560571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daily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E478002-46EF-C05E-5978-98AC202AC5F7}"/>
              </a:ext>
            </a:extLst>
          </p:cNvPr>
          <p:cNvSpPr txBox="1"/>
          <p:nvPr/>
        </p:nvSpPr>
        <p:spPr>
          <a:xfrm>
            <a:off x="6710791" y="8430106"/>
            <a:ext cx="10353936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CSV format from the get-go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FE254E69-5036-9FD8-C5A1-AA54AC03A58B}"/>
              </a:ext>
            </a:extLst>
          </p:cNvPr>
          <p:cNvGrpSpPr/>
          <p:nvPr/>
        </p:nvGrpSpPr>
        <p:grpSpPr>
          <a:xfrm>
            <a:off x="-1197824" y="1878992"/>
            <a:ext cx="63794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99D25A2D-1CEB-912D-9970-6DFD5A6AAA2A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71A572B7-E250-0D34-91BB-06D2531597B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7BA87A-12F1-4B34-5F49-C7F08DED022C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Source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BDD9D64C-7032-E29F-58D0-BC4793AE8B36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9D8C3F1C-B61E-4EEF-6B0A-1C7857BD52CC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2B095CD3-9C64-9120-FB5A-66ABEC8F6708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8FD3AF9F-00BC-BDBE-BE2F-056017ACBF55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Website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0EFE0876-197E-56F1-C9F2-C49B8A46E312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AFC50CF4-DE0D-557C-05C4-C8CF87917C5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F592610-CC37-439D-1B56-1B384423F6D7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D4EC9B19-E498-36C0-A95C-798EF6B7C806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Updates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A30FF26-6ABA-4CB0-A0BB-3FABC200FB59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0C72B11-497E-92EF-402E-D4B174734FCB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065A810F-CD0F-B439-822B-706147CD36F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CB70A2FF-42B6-D2BF-8102-F6010B33DF7D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Format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B54D7C73-3F2C-0F73-3B17-B20787DA6E4F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358EC904-DF29-CF80-5CC4-37F3EFDE63B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4AE69A20-6D0C-4BDB-9B0D-9CC37ED7968B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82286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26E2A4-9CB3-428A-D661-C780299A8A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EF9149E0-E994-EDD4-E7B7-69B1CE7D60DB}"/>
              </a:ext>
            </a:extLst>
          </p:cNvPr>
          <p:cNvSpPr txBox="1"/>
          <p:nvPr/>
        </p:nvSpPr>
        <p:spPr>
          <a:xfrm>
            <a:off x="6708922" y="4610100"/>
            <a:ext cx="10548509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Michigan</a:t>
            </a: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562C4FA7-5D98-E7A3-EE7B-966B2D33E91F}"/>
              </a:ext>
            </a:extLst>
          </p:cNvPr>
          <p:cNvSpPr txBox="1"/>
          <p:nvPr/>
        </p:nvSpPr>
        <p:spPr>
          <a:xfrm>
            <a:off x="6710791" y="6566534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January 1</a:t>
            </a:r>
            <a:r>
              <a:rPr lang="en-US" sz="3200" baseline="30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1980 – November 30</a:t>
            </a:r>
            <a:r>
              <a:rPr lang="en-US" sz="3200" baseline="300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</a:t>
            </a: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2025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D582A7D-FB98-0B57-63FD-B3E4EFDBF4DC}"/>
              </a:ext>
            </a:extLst>
          </p:cNvPr>
          <p:cNvSpPr txBox="1"/>
          <p:nvPr/>
        </p:nvSpPr>
        <p:spPr>
          <a:xfrm>
            <a:off x="6710791" y="8420100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From -25.5° to 29.7°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9092E83A-D03F-E21E-D11E-FB321D948328}"/>
              </a:ext>
            </a:extLst>
          </p:cNvPr>
          <p:cNvGrpSpPr/>
          <p:nvPr/>
        </p:nvGrpSpPr>
        <p:grpSpPr>
          <a:xfrm>
            <a:off x="-1197824" y="1878992"/>
            <a:ext cx="69128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8110137-A1D1-726F-0804-8E61B5A64EEB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8238CBA-5AFA-19B5-A541-8A206122D822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15DB77C-CC0F-13E8-AD76-05692D565922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Insights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7411EDDF-BB64-9509-3F5C-8384B4213224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539A1DE7-D2A4-982D-FAC7-F925BEE8C76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CE6B89C8-CA05-52C9-31D2-5E27B0B4C99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09CA7D61-8EE7-FF8B-574E-9903276EF2DD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Location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A549CBCC-2615-238F-7AC3-3A8978884181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34BE94D-EDD9-27A3-C872-AE1B05C90E2F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 dirty="0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FC608B9-241C-3411-1919-B02500C2E3F5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54C30BD9-79C9-0623-08C4-CC8CCBF2504E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Time Span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A1887736-CD48-1BDC-9A62-5083920FC36E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4E87106E-DB62-9DD1-7E14-D22365A88DBE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12C19232-48A9-7F77-44FD-2AE1FCEE49BA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7A98C108-0C2D-36E5-5571-C480D474AE1E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Value range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693F1F01-D970-749D-C54B-34856653ED2D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CC7997D0-E686-ED45-062A-50EE0E25106A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8F8B2638-2245-CC3F-84DD-CAB411D45111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814060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4362-967A-DD41-F1A3-A86C7A1F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CEB20B28-7A87-C3DD-7E87-9834DD004F05}"/>
              </a:ext>
            </a:extLst>
          </p:cNvPr>
          <p:cNvGrpSpPr/>
          <p:nvPr/>
        </p:nvGrpSpPr>
        <p:grpSpPr>
          <a:xfrm>
            <a:off x="-1197824" y="1878992"/>
            <a:ext cx="8208224" cy="1577554"/>
            <a:chOff x="0" y="0"/>
            <a:chExt cx="2418659" cy="65314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FCE4080-918E-C246-6A7C-8E4A87056633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A4548718-E45A-710F-FBC7-CD144BD9D104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8494401-8314-29D0-C461-0B7FA60073C8}"/>
              </a:ext>
            </a:extLst>
          </p:cNvPr>
          <p:cNvSpPr txBox="1"/>
          <p:nvPr/>
        </p:nvSpPr>
        <p:spPr>
          <a:xfrm>
            <a:off x="304800" y="221489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Engineering</a:t>
            </a:r>
          </a:p>
        </p:txBody>
      </p:sp>
      <p:grpSp>
        <p:nvGrpSpPr>
          <p:cNvPr id="9" name="Group 9">
            <a:extLst>
              <a:ext uri="{FF2B5EF4-FFF2-40B4-BE49-F238E27FC236}">
                <a16:creationId xmlns:a16="http://schemas.microsoft.com/office/drawing/2014/main" id="{CF94E7EC-540A-FB0B-B5E8-CF308882FB1B}"/>
              </a:ext>
            </a:extLst>
          </p:cNvPr>
          <p:cNvGrpSpPr/>
          <p:nvPr/>
        </p:nvGrpSpPr>
        <p:grpSpPr>
          <a:xfrm>
            <a:off x="1766747" y="4435931"/>
            <a:ext cx="4640821" cy="990272"/>
            <a:chOff x="0" y="0"/>
            <a:chExt cx="3060886" cy="653141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1DE1F1CC-F04E-C050-356D-DF72AA1C4B8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B9BE37A3-41CE-645B-774F-5691F85B62C3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FE7B617C-8CD4-46CD-5059-928F8FDA9836}"/>
              </a:ext>
            </a:extLst>
          </p:cNvPr>
          <p:cNvSpPr txBox="1"/>
          <p:nvPr/>
        </p:nvSpPr>
        <p:spPr>
          <a:xfrm>
            <a:off x="2033330" y="4635792"/>
            <a:ext cx="3791038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Aggregation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31C1A907-5E48-1FF7-1B29-4DAAAB75D4A4}"/>
              </a:ext>
            </a:extLst>
          </p:cNvPr>
          <p:cNvGrpSpPr/>
          <p:nvPr/>
        </p:nvGrpSpPr>
        <p:grpSpPr>
          <a:xfrm>
            <a:off x="1766747" y="6349821"/>
            <a:ext cx="4640821" cy="990272"/>
            <a:chOff x="0" y="0"/>
            <a:chExt cx="3060886" cy="653141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25A8E96-8FDC-148F-97D8-BDCB6A5D5FE0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544BFD7-9017-FDA4-9A2A-A0B0345189C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9FE8234F-C099-D02E-AF63-8822DE76EAFB}"/>
              </a:ext>
            </a:extLst>
          </p:cNvPr>
          <p:cNvSpPr txBox="1"/>
          <p:nvPr/>
        </p:nvSpPr>
        <p:spPr>
          <a:xfrm>
            <a:off x="2033330" y="6549683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Removal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56ABCBAC-32DD-5901-3561-3C9996B53FFB}"/>
              </a:ext>
            </a:extLst>
          </p:cNvPr>
          <p:cNvGrpSpPr/>
          <p:nvPr/>
        </p:nvGrpSpPr>
        <p:grpSpPr>
          <a:xfrm>
            <a:off x="1723111" y="8268028"/>
            <a:ext cx="4640821" cy="990272"/>
            <a:chOff x="0" y="0"/>
            <a:chExt cx="3060886" cy="65314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8DF29719-553D-4920-D3D9-18CBBB2D2E64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595958BE-B3E6-A695-ACA2-5C1E6CBE46BE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DE9F9B76-9A4D-160B-3A8A-77529CDB5575}"/>
              </a:ext>
            </a:extLst>
          </p:cNvPr>
          <p:cNvSpPr txBox="1"/>
          <p:nvPr/>
        </p:nvSpPr>
        <p:spPr>
          <a:xfrm>
            <a:off x="1989694" y="8467889"/>
            <a:ext cx="4224475" cy="494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Reconstructed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EE320241-E5CB-0EBC-7352-F40F65724237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22" name="AutoShape 22">
            <a:extLst>
              <a:ext uri="{FF2B5EF4-FFF2-40B4-BE49-F238E27FC236}">
                <a16:creationId xmlns:a16="http://schemas.microsoft.com/office/drawing/2014/main" id="{A1DCB918-EA02-51F6-0DFA-ABB343287C0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53DDC3FA-189D-19CC-827C-648A35872173}"/>
              </a:ext>
            </a:extLst>
          </p:cNvPr>
          <p:cNvSpPr/>
          <p:nvPr/>
        </p:nvSpPr>
        <p:spPr>
          <a:xfrm rot="5400000">
            <a:off x="16429362" y="888432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24" name="TextBox 2">
            <a:extLst>
              <a:ext uri="{FF2B5EF4-FFF2-40B4-BE49-F238E27FC236}">
                <a16:creationId xmlns:a16="http://schemas.microsoft.com/office/drawing/2014/main" id="{9CE41E1B-8017-5BEB-2815-89D74468E126}"/>
              </a:ext>
            </a:extLst>
          </p:cNvPr>
          <p:cNvSpPr txBox="1"/>
          <p:nvPr/>
        </p:nvSpPr>
        <p:spPr>
          <a:xfrm>
            <a:off x="6710791" y="4344818"/>
            <a:ext cx="10548509" cy="1179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observations from nearby stations to a single daily time series</a:t>
            </a:r>
          </a:p>
        </p:txBody>
      </p:sp>
      <p:sp>
        <p:nvSpPr>
          <p:cNvPr id="25" name="TextBox 3">
            <a:extLst>
              <a:ext uri="{FF2B5EF4-FFF2-40B4-BE49-F238E27FC236}">
                <a16:creationId xmlns:a16="http://schemas.microsoft.com/office/drawing/2014/main" id="{EB2F1CC8-70C6-DC43-3C2C-D45B804797FE}"/>
              </a:ext>
            </a:extLst>
          </p:cNvPr>
          <p:cNvSpPr txBox="1"/>
          <p:nvPr/>
        </p:nvSpPr>
        <p:spPr>
          <a:xfrm>
            <a:off x="6710791" y="6515100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 unusable variables</a:t>
            </a: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75CFFBA3-7656-3047-C1F0-F2A18412B894}"/>
              </a:ext>
            </a:extLst>
          </p:cNvPr>
          <p:cNvSpPr txBox="1"/>
          <p:nvPr/>
        </p:nvSpPr>
        <p:spPr>
          <a:xfrm>
            <a:off x="6710791" y="8471534"/>
            <a:ext cx="10353936" cy="558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average temperature using min/max values</a:t>
            </a:r>
          </a:p>
        </p:txBody>
      </p:sp>
    </p:spTree>
    <p:extLst>
      <p:ext uri="{BB962C8B-B14F-4D97-AF65-F5344CB8AC3E}">
        <p14:creationId xmlns:p14="http://schemas.microsoft.com/office/powerpoint/2010/main" val="2034768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2000" y="2781300"/>
            <a:ext cx="3447216" cy="7370316"/>
            <a:chOff x="0" y="0"/>
            <a:chExt cx="1198766" cy="143376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4838147" y="2781300"/>
            <a:ext cx="3447216" cy="7370316"/>
            <a:chOff x="0" y="0"/>
            <a:chExt cx="1198766" cy="14337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915400" y="2781300"/>
            <a:ext cx="4876800" cy="7370316"/>
            <a:chOff x="0" y="0"/>
            <a:chExt cx="1198766" cy="143376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09600" y="2628900"/>
            <a:ext cx="3447216" cy="7370316"/>
            <a:chOff x="0" y="0"/>
            <a:chExt cx="1198766" cy="143376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685747" y="2628900"/>
            <a:ext cx="3447216" cy="7370316"/>
            <a:chOff x="0" y="0"/>
            <a:chExt cx="1198766" cy="1433761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63000" y="2628900"/>
            <a:ext cx="4876800" cy="7370316"/>
            <a:chOff x="0" y="0"/>
            <a:chExt cx="1198766" cy="143376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794838" y="3807299"/>
            <a:ext cx="3166627" cy="3015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Historic Average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 Naïve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Walk with Drift</a:t>
            </a:r>
          </a:p>
          <a:p>
            <a:pPr marL="342900" indent="-342900" algn="just">
              <a:lnSpc>
                <a:spcPts val="3360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Structural (local trend)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47800" y="298544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257800" y="298544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936142" y="3807299"/>
            <a:ext cx="3065620" cy="47595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Simple Exponential Smoothing (SES)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 Linear Trend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Holt-Winters Seasonal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Autoregressive (AR)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Moving Average (MA)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ARIMA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9506136" y="2985440"/>
            <a:ext cx="2478753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Summary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8EC7E53E-A7EF-BF25-3449-85AF5CC55CC5}"/>
              </a:ext>
            </a:extLst>
          </p:cNvPr>
          <p:cNvGrpSpPr/>
          <p:nvPr/>
        </p:nvGrpSpPr>
        <p:grpSpPr>
          <a:xfrm>
            <a:off x="14231184" y="2802384"/>
            <a:ext cx="3447216" cy="7370316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852403BE-FBE4-103B-6FA6-716D7713F2AD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F14F5557-886F-AE6E-1FB1-CD654333263C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4553821E-1036-36B6-6C42-73EB3B1C9729}"/>
              </a:ext>
            </a:extLst>
          </p:cNvPr>
          <p:cNvGrpSpPr/>
          <p:nvPr/>
        </p:nvGrpSpPr>
        <p:grpSpPr>
          <a:xfrm>
            <a:off x="14078784" y="2649984"/>
            <a:ext cx="3447216" cy="7370316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0E430927-A099-F142-A149-4AFB01ADB84E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2CD016C5-11CC-57D5-EAB1-6B83083CDB50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179612B3-B05B-8AB3-DA14-17DAD5BD4C30}"/>
              </a:ext>
            </a:extLst>
          </p:cNvPr>
          <p:cNvSpPr txBox="1"/>
          <p:nvPr/>
        </p:nvSpPr>
        <p:spPr>
          <a:xfrm>
            <a:off x="14821921" y="300652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55D1A72F-9476-8ADB-764A-C96DB44FA57D}"/>
              </a:ext>
            </a:extLst>
          </p:cNvPr>
          <p:cNvSpPr txBox="1"/>
          <p:nvPr/>
        </p:nvSpPr>
        <p:spPr>
          <a:xfrm>
            <a:off x="8934174" y="3807299"/>
            <a:ext cx="4400826" cy="56316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Linear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Ridge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Huber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Tweedie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KNN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Radius </a:t>
            </a: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Neighbours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Decision Tree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Random Forest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HistGB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LightGBM</a:t>
            </a:r>
            <a:endParaRPr lang="en-US" sz="2400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  <a:p>
            <a:pPr marL="342900" indent="-342900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XGBoost</a:t>
            </a: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[+ Random Forest]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Support Vector Regression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MLP Regressor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BE20EF92-D807-3ED5-7FAD-5470C7794F8D}"/>
              </a:ext>
            </a:extLst>
          </p:cNvPr>
          <p:cNvSpPr txBox="1"/>
          <p:nvPr/>
        </p:nvSpPr>
        <p:spPr>
          <a:xfrm>
            <a:off x="14269582" y="3807299"/>
            <a:ext cx="3065620" cy="21434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LSTM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NBEATS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NHITS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GRU</a:t>
            </a:r>
          </a:p>
          <a:p>
            <a:pPr marL="342900" indent="-342900" algn="just">
              <a:lnSpc>
                <a:spcPts val="3359"/>
              </a:lnSpc>
              <a:spcBef>
                <a:spcPct val="0"/>
              </a:spcBef>
              <a:buFontTx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0B583-5AFF-FD9D-B6BB-01738F955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7B8125CD-01FA-5A2D-80B6-DAEB0D712F86}"/>
              </a:ext>
            </a:extLst>
          </p:cNvPr>
          <p:cNvGrpSpPr/>
          <p:nvPr/>
        </p:nvGrpSpPr>
        <p:grpSpPr>
          <a:xfrm>
            <a:off x="1371600" y="2760216"/>
            <a:ext cx="3447216" cy="7183884"/>
            <a:chOff x="0" y="0"/>
            <a:chExt cx="1198766" cy="1433761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0A8478-C55D-584C-C8A3-6097A95F919C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0387C36-85BA-555F-6B88-4700A2EE4ACE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E91A55A4-2174-E75B-FFF9-E88F3BA6C791}"/>
              </a:ext>
            </a:extLst>
          </p:cNvPr>
          <p:cNvGrpSpPr/>
          <p:nvPr/>
        </p:nvGrpSpPr>
        <p:grpSpPr>
          <a:xfrm>
            <a:off x="5447747" y="2760216"/>
            <a:ext cx="3447216" cy="7183884"/>
            <a:chOff x="0" y="0"/>
            <a:chExt cx="1198766" cy="1433761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8A0FB12C-8CE9-BE96-7D8B-EC00E597CB44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81ACA69-3B42-BB1D-5B05-0275BA97C63F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9608EF05-4F1A-B5B5-7788-8DEAA7E0674F}"/>
              </a:ext>
            </a:extLst>
          </p:cNvPr>
          <p:cNvGrpSpPr/>
          <p:nvPr/>
        </p:nvGrpSpPr>
        <p:grpSpPr>
          <a:xfrm>
            <a:off x="9562547" y="2760216"/>
            <a:ext cx="3447216" cy="7183884"/>
            <a:chOff x="0" y="0"/>
            <a:chExt cx="1198766" cy="1433761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48165A93-C1DA-D5B8-53B4-789F2F54C13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5A8AFCB8-DEF0-EA6C-B39C-5B7DB17C3469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0915AF03-34F1-75BD-9FDF-871B77CF7458}"/>
              </a:ext>
            </a:extLst>
          </p:cNvPr>
          <p:cNvGrpSpPr/>
          <p:nvPr/>
        </p:nvGrpSpPr>
        <p:grpSpPr>
          <a:xfrm>
            <a:off x="1219200" y="2607816"/>
            <a:ext cx="3447216" cy="7183884"/>
            <a:chOff x="0" y="0"/>
            <a:chExt cx="1198766" cy="1433761"/>
          </a:xfrm>
        </p:grpSpPr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FBA5130-359B-9A44-6E00-098CBFC774C2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61CBEF5-28A0-7E0F-CE50-064D9A12B8C3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>
            <a:extLst>
              <a:ext uri="{FF2B5EF4-FFF2-40B4-BE49-F238E27FC236}">
                <a16:creationId xmlns:a16="http://schemas.microsoft.com/office/drawing/2014/main" id="{6B7F0A28-2B04-671A-7ED9-04BF57E615E3}"/>
              </a:ext>
            </a:extLst>
          </p:cNvPr>
          <p:cNvGrpSpPr/>
          <p:nvPr/>
        </p:nvGrpSpPr>
        <p:grpSpPr>
          <a:xfrm>
            <a:off x="5295347" y="2607816"/>
            <a:ext cx="3447216" cy="7183884"/>
            <a:chOff x="0" y="0"/>
            <a:chExt cx="1198766" cy="1433761"/>
          </a:xfrm>
        </p:grpSpPr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B6E4E63F-7328-EF86-79E5-30E536FB7FD7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D756C7D-878C-ACE6-5BD3-859D23837AE1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9D4210B1-03DE-8823-F3F7-D8D76FEF9431}"/>
              </a:ext>
            </a:extLst>
          </p:cNvPr>
          <p:cNvGrpSpPr/>
          <p:nvPr/>
        </p:nvGrpSpPr>
        <p:grpSpPr>
          <a:xfrm>
            <a:off x="9410147" y="2607816"/>
            <a:ext cx="3447216" cy="7183884"/>
            <a:chOff x="0" y="0"/>
            <a:chExt cx="1198766" cy="1433761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6AFF260F-D41F-10CF-3AB3-B2FAC410D25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9">
              <a:extLst>
                <a:ext uri="{FF2B5EF4-FFF2-40B4-BE49-F238E27FC236}">
                  <a16:creationId xmlns:a16="http://schemas.microsoft.com/office/drawing/2014/main" id="{A7A6E9E1-614F-3D7B-9881-CF9C8EF9F7C8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>
            <a:extLst>
              <a:ext uri="{FF2B5EF4-FFF2-40B4-BE49-F238E27FC236}">
                <a16:creationId xmlns:a16="http://schemas.microsoft.com/office/drawing/2014/main" id="{47DFDC27-F18F-9B4F-343A-C15CFF8279C4}"/>
              </a:ext>
            </a:extLst>
          </p:cNvPr>
          <p:cNvSpPr txBox="1"/>
          <p:nvPr/>
        </p:nvSpPr>
        <p:spPr>
          <a:xfrm>
            <a:off x="1404438" y="3543300"/>
            <a:ext cx="3166627" cy="4842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Seasonal naive model performed surprisingly strong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Captured seasonality well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Serves as a competitive lower bound</a:t>
            </a: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FC97156-24A5-6F79-89D7-B4E6D1C19321}"/>
              </a:ext>
            </a:extLst>
          </p:cNvPr>
          <p:cNvSpPr txBox="1"/>
          <p:nvPr/>
        </p:nvSpPr>
        <p:spPr>
          <a:xfrm>
            <a:off x="2057400" y="2781300"/>
            <a:ext cx="1905000" cy="564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Baseline</a:t>
            </a:r>
          </a:p>
        </p:txBody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B107C353-44D3-7582-07EA-A06649BFCF25}"/>
              </a:ext>
            </a:extLst>
          </p:cNvPr>
          <p:cNvSpPr txBox="1"/>
          <p:nvPr/>
        </p:nvSpPr>
        <p:spPr>
          <a:xfrm>
            <a:off x="5867400" y="2781300"/>
            <a:ext cx="2322635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Statistical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1EBE0122-AC6B-247A-2321-DDBA29B424AF}"/>
              </a:ext>
            </a:extLst>
          </p:cNvPr>
          <p:cNvSpPr txBox="1"/>
          <p:nvPr/>
        </p:nvSpPr>
        <p:spPr>
          <a:xfrm>
            <a:off x="5486400" y="3543300"/>
            <a:ext cx="3065620" cy="54584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Limited performance improvement over baselines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Struggled with long-term variability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Often negative or near-zero R²</a:t>
            </a: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5CE30C97-35DA-6A25-1B84-7C603B5903F0}"/>
              </a:ext>
            </a:extLst>
          </p:cNvPr>
          <p:cNvSpPr txBox="1"/>
          <p:nvPr/>
        </p:nvSpPr>
        <p:spPr>
          <a:xfrm>
            <a:off x="10153284" y="2781300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ML</a:t>
            </a:r>
          </a:p>
        </p:txBody>
      </p:sp>
      <p:grpSp>
        <p:nvGrpSpPr>
          <p:cNvPr id="26" name="Group 26">
            <a:extLst>
              <a:ext uri="{FF2B5EF4-FFF2-40B4-BE49-F238E27FC236}">
                <a16:creationId xmlns:a16="http://schemas.microsoft.com/office/drawing/2014/main" id="{0DD8BA98-BCF2-96FA-E733-56112F1BB3E5}"/>
              </a:ext>
            </a:extLst>
          </p:cNvPr>
          <p:cNvGrpSpPr/>
          <p:nvPr/>
        </p:nvGrpSpPr>
        <p:grpSpPr>
          <a:xfrm>
            <a:off x="-762000" y="1363882"/>
            <a:ext cx="10729641" cy="990272"/>
            <a:chOff x="0" y="0"/>
            <a:chExt cx="5136921" cy="653141"/>
          </a:xfrm>
        </p:grpSpPr>
        <p:sp>
          <p:nvSpPr>
            <p:cNvPr id="27" name="Freeform 27">
              <a:extLst>
                <a:ext uri="{FF2B5EF4-FFF2-40B4-BE49-F238E27FC236}">
                  <a16:creationId xmlns:a16="http://schemas.microsoft.com/office/drawing/2014/main" id="{0F68A5A0-D4F8-A8D2-8A8A-AE866F3F2FD8}"/>
                </a:ext>
              </a:extLst>
            </p:cNvPr>
            <p:cNvSpPr/>
            <p:nvPr/>
          </p:nvSpPr>
          <p:spPr>
            <a:xfrm>
              <a:off x="0" y="0"/>
              <a:ext cx="5136921" cy="653141"/>
            </a:xfrm>
            <a:custGeom>
              <a:avLst/>
              <a:gdLst/>
              <a:ahLst/>
              <a:cxnLst/>
              <a:rect l="l" t="t" r="r" b="b"/>
              <a:pathLst>
                <a:path w="5136921" h="653141">
                  <a:moveTo>
                    <a:pt x="4933721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4933721" y="653141"/>
                  </a:lnTo>
                  <a:lnTo>
                    <a:pt x="5136921" y="326570"/>
                  </a:lnTo>
                  <a:lnTo>
                    <a:pt x="4933721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8" name="TextBox 28">
              <a:extLst>
                <a:ext uri="{FF2B5EF4-FFF2-40B4-BE49-F238E27FC236}">
                  <a16:creationId xmlns:a16="http://schemas.microsoft.com/office/drawing/2014/main" id="{12403A54-DFC0-A694-7018-E289CD04962F}"/>
                </a:ext>
              </a:extLst>
            </p:cNvPr>
            <p:cNvSpPr txBox="1"/>
            <p:nvPr/>
          </p:nvSpPr>
          <p:spPr>
            <a:xfrm>
              <a:off x="0" y="-38100"/>
              <a:ext cx="5022621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9" name="TextBox 29">
            <a:extLst>
              <a:ext uri="{FF2B5EF4-FFF2-40B4-BE49-F238E27FC236}">
                <a16:creationId xmlns:a16="http://schemas.microsoft.com/office/drawing/2014/main" id="{A72DB091-2803-3D41-74C6-780D0D572296}"/>
              </a:ext>
            </a:extLst>
          </p:cNvPr>
          <p:cNvSpPr txBox="1"/>
          <p:nvPr/>
        </p:nvSpPr>
        <p:spPr>
          <a:xfrm>
            <a:off x="-392105" y="1411014"/>
            <a:ext cx="10240375" cy="9156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Model Evaluations</a:t>
            </a:r>
          </a:p>
        </p:txBody>
      </p:sp>
      <p:sp>
        <p:nvSpPr>
          <p:cNvPr id="30" name="TextBox 30">
            <a:extLst>
              <a:ext uri="{FF2B5EF4-FFF2-40B4-BE49-F238E27FC236}">
                <a16:creationId xmlns:a16="http://schemas.microsoft.com/office/drawing/2014/main" id="{879039C0-0B68-91E3-944C-1FA677C8F390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31" name="AutoShape 31">
            <a:extLst>
              <a:ext uri="{FF2B5EF4-FFF2-40B4-BE49-F238E27FC236}">
                <a16:creationId xmlns:a16="http://schemas.microsoft.com/office/drawing/2014/main" id="{2226ECE4-0762-98C3-7BC2-4E226843FBA1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32" name="Group 8">
            <a:extLst>
              <a:ext uri="{FF2B5EF4-FFF2-40B4-BE49-F238E27FC236}">
                <a16:creationId xmlns:a16="http://schemas.microsoft.com/office/drawing/2014/main" id="{01781487-0329-4AA5-3B2F-284FA525E255}"/>
              </a:ext>
            </a:extLst>
          </p:cNvPr>
          <p:cNvGrpSpPr/>
          <p:nvPr/>
        </p:nvGrpSpPr>
        <p:grpSpPr>
          <a:xfrm>
            <a:off x="13659131" y="2781300"/>
            <a:ext cx="3447216" cy="7183884"/>
            <a:chOff x="0" y="0"/>
            <a:chExt cx="1198766" cy="1433761"/>
          </a:xfrm>
        </p:grpSpPr>
        <p:sp>
          <p:nvSpPr>
            <p:cNvPr id="33" name="Freeform 9">
              <a:extLst>
                <a:ext uri="{FF2B5EF4-FFF2-40B4-BE49-F238E27FC236}">
                  <a16:creationId xmlns:a16="http://schemas.microsoft.com/office/drawing/2014/main" id="{F9CE1DE3-38AA-A23A-0B4D-C65A2B0B50C3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598196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4" name="TextBox 10">
              <a:extLst>
                <a:ext uri="{FF2B5EF4-FFF2-40B4-BE49-F238E27FC236}">
                  <a16:creationId xmlns:a16="http://schemas.microsoft.com/office/drawing/2014/main" id="{11BF896F-9DB5-65D2-17B6-E62686F2270D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FF27E7D8-4064-89BF-5650-D4EDEAF7BD82}"/>
              </a:ext>
            </a:extLst>
          </p:cNvPr>
          <p:cNvGrpSpPr/>
          <p:nvPr/>
        </p:nvGrpSpPr>
        <p:grpSpPr>
          <a:xfrm>
            <a:off x="13506731" y="2628900"/>
            <a:ext cx="3447216" cy="7183884"/>
            <a:chOff x="0" y="0"/>
            <a:chExt cx="1198766" cy="1433761"/>
          </a:xfrm>
        </p:grpSpPr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98B6B682-9A39-5D78-096C-D4B5DE9BA20B}"/>
                </a:ext>
              </a:extLst>
            </p:cNvPr>
            <p:cNvSpPr/>
            <p:nvPr/>
          </p:nvSpPr>
          <p:spPr>
            <a:xfrm>
              <a:off x="0" y="0"/>
              <a:ext cx="1198766" cy="1433761"/>
            </a:xfrm>
            <a:custGeom>
              <a:avLst/>
              <a:gdLst/>
              <a:ahLst/>
              <a:cxnLst/>
              <a:rect l="l" t="t" r="r" b="b"/>
              <a:pathLst>
                <a:path w="1198766" h="1433761">
                  <a:moveTo>
                    <a:pt x="0" y="0"/>
                  </a:moveTo>
                  <a:lnTo>
                    <a:pt x="1198766" y="0"/>
                  </a:lnTo>
                  <a:lnTo>
                    <a:pt x="1198766" y="1433761"/>
                  </a:lnTo>
                  <a:lnTo>
                    <a:pt x="0" y="1433761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2B485F"/>
              </a:solidFill>
              <a:prstDash val="solid"/>
              <a:miter/>
            </a:ln>
          </p:spPr>
          <p:txBody>
            <a:bodyPr/>
            <a:lstStyle/>
            <a:p>
              <a:endParaRPr lang="de-AT"/>
            </a:p>
          </p:txBody>
        </p:sp>
        <p:sp>
          <p:nvSpPr>
            <p:cNvPr id="37" name="TextBox 19">
              <a:extLst>
                <a:ext uri="{FF2B5EF4-FFF2-40B4-BE49-F238E27FC236}">
                  <a16:creationId xmlns:a16="http://schemas.microsoft.com/office/drawing/2014/main" id="{FC678AD9-0E19-1469-038C-BF9BB7231915}"/>
                </a:ext>
              </a:extLst>
            </p:cNvPr>
            <p:cNvSpPr txBox="1"/>
            <p:nvPr/>
          </p:nvSpPr>
          <p:spPr>
            <a:xfrm>
              <a:off x="0" y="-38100"/>
              <a:ext cx="1198766" cy="14718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8" name="TextBox 24">
            <a:extLst>
              <a:ext uri="{FF2B5EF4-FFF2-40B4-BE49-F238E27FC236}">
                <a16:creationId xmlns:a16="http://schemas.microsoft.com/office/drawing/2014/main" id="{7DAE03B2-329F-3694-7446-9BE4D7B99416}"/>
              </a:ext>
            </a:extLst>
          </p:cNvPr>
          <p:cNvSpPr txBox="1"/>
          <p:nvPr/>
        </p:nvSpPr>
        <p:spPr>
          <a:xfrm>
            <a:off x="14249868" y="2802384"/>
            <a:ext cx="1752132" cy="5718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Neural</a:t>
            </a:r>
          </a:p>
        </p:txBody>
      </p:sp>
      <p:sp>
        <p:nvSpPr>
          <p:cNvPr id="40" name="TextBox 23">
            <a:extLst>
              <a:ext uri="{FF2B5EF4-FFF2-40B4-BE49-F238E27FC236}">
                <a16:creationId xmlns:a16="http://schemas.microsoft.com/office/drawing/2014/main" id="{2D854885-6BCD-FB0F-6CBD-1C92C7ECD7FF}"/>
              </a:ext>
            </a:extLst>
          </p:cNvPr>
          <p:cNvSpPr txBox="1"/>
          <p:nvPr/>
        </p:nvSpPr>
        <p:spPr>
          <a:xfrm>
            <a:off x="9581321" y="3543300"/>
            <a:ext cx="3065620" cy="6074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accuracy compared to other models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Better at capturing nonlinear relationships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stable error metrics across validation and test sets</a:t>
            </a:r>
          </a:p>
        </p:txBody>
      </p:sp>
      <p:sp>
        <p:nvSpPr>
          <p:cNvPr id="41" name="TextBox 23">
            <a:extLst>
              <a:ext uri="{FF2B5EF4-FFF2-40B4-BE49-F238E27FC236}">
                <a16:creationId xmlns:a16="http://schemas.microsoft.com/office/drawing/2014/main" id="{47F4C3D2-784D-17FF-51B9-60181D34FAC5}"/>
              </a:ext>
            </a:extLst>
          </p:cNvPr>
          <p:cNvSpPr txBox="1"/>
          <p:nvPr/>
        </p:nvSpPr>
        <p:spPr>
          <a:xfrm>
            <a:off x="13697529" y="3543300"/>
            <a:ext cx="3065620" cy="422737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Best overall performance on test data</a:t>
            </a:r>
          </a:p>
          <a:p>
            <a:pPr marL="342900" indent="-342900">
              <a:lnSpc>
                <a:spcPts val="4759"/>
              </a:lnSpc>
              <a:spcBef>
                <a:spcPct val="0"/>
              </a:spcBef>
              <a:buFont typeface="Symbol" panose="05050102010706020507" pitchFamily="18" charset="2"/>
              <a:buChar char="-"/>
            </a:pPr>
            <a:r>
              <a:rPr lang="en-US" sz="2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Captured both seasonality and complex temporal patterns</a:t>
            </a:r>
          </a:p>
        </p:txBody>
      </p:sp>
    </p:spTree>
    <p:extLst>
      <p:ext uri="{BB962C8B-B14F-4D97-AF65-F5344CB8AC3E}">
        <p14:creationId xmlns:p14="http://schemas.microsoft.com/office/powerpoint/2010/main" val="8735270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B3DC0-5BEE-6ADD-2930-97994FB19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09C0AD-6E5B-6329-43D9-F3EDC353E771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C1E14A5D-EF7E-9653-2780-02BE5386B722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FCA5A1A2-E3BF-7A0B-59AD-066C038ABD98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5674BDB-F442-EC9F-FE88-2C9769AF0539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B664878-5896-6FCD-7DCC-EFFF7FE924A9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8D5B72AA-FB3F-9976-AA9C-33B32E1760AC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45E3880-08C8-0B8E-A4A8-19233A6CF423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Raw data</a:t>
            </a:r>
          </a:p>
        </p:txBody>
      </p:sp>
      <p:pic>
        <p:nvPicPr>
          <p:cNvPr id="4" name="Grafik 3" descr="Ein Bild, das Text, Screenshot, Reihe, Diagramm enthält.&#10;&#10;KI-generierte Inhalte können fehlerhaft sein.">
            <a:extLst>
              <a:ext uri="{FF2B5EF4-FFF2-40B4-BE49-F238E27FC236}">
                <a16:creationId xmlns:a16="http://schemas.microsoft.com/office/drawing/2014/main" id="{5EBCBC4C-496D-9771-B30C-862427E56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47" y="3009900"/>
            <a:ext cx="16838886" cy="6248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927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/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</a:t>
            </a:r>
          </a:p>
        </p:txBody>
      </p:sp>
      <p:pic>
        <p:nvPicPr>
          <p:cNvPr id="9" name="Grafik 8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4BC6962F-3BCD-9548-17B4-9B786CC73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398" y="2933700"/>
            <a:ext cx="14351431" cy="6096000"/>
          </a:xfrm>
          <a:prstGeom prst="rect">
            <a:avLst/>
          </a:prstGeom>
        </p:spPr>
      </p:pic>
      <p:graphicFrame>
        <p:nvGraphicFramePr>
          <p:cNvPr id="16" name="Tabelle 15">
            <a:extLst>
              <a:ext uri="{FF2B5EF4-FFF2-40B4-BE49-F238E27FC236}">
                <a16:creationId xmlns:a16="http://schemas.microsoft.com/office/drawing/2014/main" id="{2B24E1B5-AC9B-EE2D-FE80-DE12059543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8250411"/>
              </p:ext>
            </p:extLst>
          </p:nvPr>
        </p:nvGraphicFramePr>
        <p:xfrm>
          <a:off x="12344400" y="6286500"/>
          <a:ext cx="4677928" cy="208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38964">
                  <a:extLst>
                    <a:ext uri="{9D8B030D-6E8A-4147-A177-3AD203B41FA5}">
                      <a16:colId xmlns:a16="http://schemas.microsoft.com/office/drawing/2014/main" val="2197298121"/>
                    </a:ext>
                  </a:extLst>
                </a:gridCol>
                <a:gridCol w="2338964">
                  <a:extLst>
                    <a:ext uri="{9D8B030D-6E8A-4147-A177-3AD203B41FA5}">
                      <a16:colId xmlns:a16="http://schemas.microsoft.com/office/drawing/2014/main" val="4140210806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292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5.1999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949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Statistical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8.5890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5191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4.2710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2899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 err="1"/>
                        <a:t>Neural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3.6032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4003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CF1CA-7D96-B99D-46BA-3D7D778CA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4AC1C53-5EDA-C458-1DE2-CD08F59678DC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6F20818D-75D2-936C-5CA1-4CD497EB63E0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CA083354-D235-C7B7-AD3D-4D102E624D4F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44238282-1169-9865-F2C7-F82624CC75B8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49A7780-7B07-BEDF-E607-B810ACA9060B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7D1B59DE-3196-B12F-C37A-A1911C02A59D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56FF63B-BE14-DF99-3177-F28A80B43569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</a:t>
            </a:r>
          </a:p>
        </p:txBody>
      </p:sp>
      <p:pic>
        <p:nvPicPr>
          <p:cNvPr id="4" name="Grafik 3" descr="Ein Bild, das Text, Screenshot, Diagramm enthält.&#10;&#10;KI-generierte Inhalte können fehlerhaft sein.">
            <a:extLst>
              <a:ext uri="{FF2B5EF4-FFF2-40B4-BE49-F238E27FC236}">
                <a16:creationId xmlns:a16="http://schemas.microsoft.com/office/drawing/2014/main" id="{755E24C6-DBBD-7806-8745-CDC06C2CCD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23" y="3009900"/>
            <a:ext cx="14530823" cy="6172200"/>
          </a:xfrm>
          <a:prstGeom prst="rect">
            <a:avLst/>
          </a:prstGeom>
        </p:spPr>
      </p:pic>
      <p:graphicFrame>
        <p:nvGraphicFramePr>
          <p:cNvPr id="13" name="Tabelle 12">
            <a:extLst>
              <a:ext uri="{FF2B5EF4-FFF2-40B4-BE49-F238E27FC236}">
                <a16:creationId xmlns:a16="http://schemas.microsoft.com/office/drawing/2014/main" id="{6DDABF4A-541B-854E-79FB-6E2CC4092E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1782388"/>
              </p:ext>
            </p:extLst>
          </p:nvPr>
        </p:nvGraphicFramePr>
        <p:xfrm>
          <a:off x="12344400" y="6286500"/>
          <a:ext cx="4677928" cy="2082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338964">
                  <a:extLst>
                    <a:ext uri="{9D8B030D-6E8A-4147-A177-3AD203B41FA5}">
                      <a16:colId xmlns:a16="http://schemas.microsoft.com/office/drawing/2014/main" val="2197298121"/>
                    </a:ext>
                  </a:extLst>
                </a:gridCol>
                <a:gridCol w="2338964">
                  <a:extLst>
                    <a:ext uri="{9D8B030D-6E8A-4147-A177-3AD203B41FA5}">
                      <a16:colId xmlns:a16="http://schemas.microsoft.com/office/drawing/2014/main" val="4140210806"/>
                    </a:ext>
                  </a:extLst>
                </a:gridCol>
              </a:tblGrid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MAE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59292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4.8010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3994937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Statistical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12.4058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5751916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/>
                        <a:t>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3.9845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528991"/>
                  </a:ext>
                </a:extLst>
              </a:tr>
              <a:tr h="416560">
                <a:tc>
                  <a:txBody>
                    <a:bodyPr/>
                    <a:lstStyle/>
                    <a:p>
                      <a:r>
                        <a:rPr lang="de-AT" dirty="0" err="1"/>
                        <a:t>Neural</a:t>
                      </a:r>
                      <a:endParaRPr lang="de-A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/>
                        <a:t>3.5033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3040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1170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7BB56-EA64-3908-75A3-F7E32F5985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31F2A69-71B2-3C1E-8730-5C84E085427A}"/>
              </a:ext>
            </a:extLst>
          </p:cNvPr>
          <p:cNvSpPr/>
          <p:nvPr/>
        </p:nvSpPr>
        <p:spPr>
          <a:xfrm rot="5400000">
            <a:off x="6627029" y="1470898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43CB6D50-BC4D-2038-9AD7-EEE9EA84D747}"/>
              </a:ext>
            </a:extLst>
          </p:cNvPr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B33472B5-5F3D-2E43-5FFF-29FAE0C4E59B}"/>
              </a:ext>
            </a:extLst>
          </p:cNvPr>
          <p:cNvGrpSpPr/>
          <p:nvPr/>
        </p:nvGrpSpPr>
        <p:grpSpPr>
          <a:xfrm>
            <a:off x="-1197824" y="495300"/>
            <a:ext cx="7484172" cy="1577554"/>
            <a:chOff x="0" y="0"/>
            <a:chExt cx="2418659" cy="653141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A4BFAB59-41BA-4F49-A5F2-1B6FF4018622}"/>
                </a:ext>
              </a:extLst>
            </p:cNvPr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6EE206E-4458-4349-DD45-B2DC16E5D740}"/>
                </a:ext>
              </a:extLst>
            </p:cNvPr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TextBox 10">
            <a:extLst>
              <a:ext uri="{FF2B5EF4-FFF2-40B4-BE49-F238E27FC236}">
                <a16:creationId xmlns:a16="http://schemas.microsoft.com/office/drawing/2014/main" id="{2FFDB9A7-EAD4-9FF8-D925-05546DF2C1F5}"/>
              </a:ext>
            </a:extLst>
          </p:cNvPr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6F27B0B2-1ED3-C0B6-2AAB-D85F0311DC5E}"/>
              </a:ext>
            </a:extLst>
          </p:cNvPr>
          <p:cNvSpPr txBox="1"/>
          <p:nvPr/>
        </p:nvSpPr>
        <p:spPr>
          <a:xfrm>
            <a:off x="685800" y="826259"/>
            <a:ext cx="748417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Forecast</a:t>
            </a:r>
          </a:p>
        </p:txBody>
      </p:sp>
      <p:pic>
        <p:nvPicPr>
          <p:cNvPr id="4" name="Grafik 3" descr="Ein Bild, das Text, Diagramm, Reihe, Screenshot enthält.&#10;&#10;KI-generierte Inhalte können fehlerhaft sein.">
            <a:extLst>
              <a:ext uri="{FF2B5EF4-FFF2-40B4-BE49-F238E27FC236}">
                <a16:creationId xmlns:a16="http://schemas.microsoft.com/office/drawing/2014/main" id="{AF65C24B-B86C-1446-B97D-6F5FCCD21E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3019688"/>
            <a:ext cx="15427788" cy="6553200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A5F8D6CF-5D4D-A4D4-E7AE-40DCEE5CB084}"/>
              </a:ext>
            </a:extLst>
          </p:cNvPr>
          <p:cNvSpPr txBox="1"/>
          <p:nvPr/>
        </p:nvSpPr>
        <p:spPr>
          <a:xfrm>
            <a:off x="9448800" y="3019688"/>
            <a:ext cx="228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de-AT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7CF34861-E7AB-C1FD-7605-0951F07112A1}"/>
              </a:ext>
            </a:extLst>
          </p:cNvPr>
          <p:cNvSpPr txBox="1"/>
          <p:nvPr/>
        </p:nvSpPr>
        <p:spPr>
          <a:xfrm>
            <a:off x="9372600" y="2973521"/>
            <a:ext cx="3778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sz="24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46487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7824" y="1878992"/>
            <a:ext cx="5841871" cy="1577554"/>
            <a:chOff x="0" y="0"/>
            <a:chExt cx="2418659" cy="6531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18659" cy="653141"/>
            </a:xfrm>
            <a:custGeom>
              <a:avLst/>
              <a:gdLst/>
              <a:ahLst/>
              <a:cxnLst/>
              <a:rect l="l" t="t" r="r" b="b"/>
              <a:pathLst>
                <a:path w="2418659" h="653141">
                  <a:moveTo>
                    <a:pt x="2215459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215459" y="653141"/>
                  </a:lnTo>
                  <a:lnTo>
                    <a:pt x="2418659" y="326570"/>
                  </a:lnTo>
                  <a:lnTo>
                    <a:pt x="2215459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304359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7675977" y="961707"/>
            <a:ext cx="3956611" cy="0"/>
          </a:xfrm>
          <a:prstGeom prst="line">
            <a:avLst/>
          </a:prstGeom>
          <a:ln w="38100" cap="flat">
            <a:solidFill>
              <a:srgbClr val="2B485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AT"/>
          </a:p>
        </p:txBody>
      </p:sp>
      <p:grpSp>
        <p:nvGrpSpPr>
          <p:cNvPr id="6" name="Group 6"/>
          <p:cNvGrpSpPr/>
          <p:nvPr/>
        </p:nvGrpSpPr>
        <p:grpSpPr>
          <a:xfrm rot="5400000">
            <a:off x="11107550" y="7457624"/>
            <a:ext cx="5518901" cy="3601352"/>
            <a:chOff x="0" y="0"/>
            <a:chExt cx="1000907" cy="6531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00907" cy="653141"/>
            </a:xfrm>
            <a:custGeom>
              <a:avLst/>
              <a:gdLst/>
              <a:ahLst/>
              <a:cxnLst/>
              <a:rect l="l" t="t" r="r" b="b"/>
              <a:pathLst>
                <a:path w="1000907" h="653141">
                  <a:moveTo>
                    <a:pt x="797707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797707" y="653141"/>
                  </a:lnTo>
                  <a:lnTo>
                    <a:pt x="1000907" y="326570"/>
                  </a:lnTo>
                  <a:lnTo>
                    <a:pt x="797707" y="0"/>
                  </a:lnTo>
                  <a:close/>
                </a:path>
              </a:pathLst>
            </a:custGeom>
            <a:solidFill>
              <a:srgbClr val="598196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886607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>
            <a:off x="11492805" y="2293797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sp>
        <p:nvSpPr>
          <p:cNvPr id="13" name="TextBox 13"/>
          <p:cNvSpPr txBox="1"/>
          <p:nvPr/>
        </p:nvSpPr>
        <p:spPr>
          <a:xfrm>
            <a:off x="738662" y="2233530"/>
            <a:ext cx="7053922" cy="915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20"/>
              </a:lnSpc>
              <a:spcBef>
                <a:spcPct val="0"/>
              </a:spcBef>
            </a:pPr>
            <a:r>
              <a:rPr lang="en-US" sz="530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Value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95334" y="715962"/>
            <a:ext cx="4563966" cy="835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sz="2400" b="1" dirty="0" err="1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2400" b="1" dirty="0">
                <a:solidFill>
                  <a:srgbClr val="2B485F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5" name="Freeform 15"/>
          <p:cNvSpPr/>
          <p:nvPr/>
        </p:nvSpPr>
        <p:spPr>
          <a:xfrm rot="5400000">
            <a:off x="1495128" y="8428362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  <p:grpSp>
        <p:nvGrpSpPr>
          <p:cNvPr id="17" name="Group 9">
            <a:extLst>
              <a:ext uri="{FF2B5EF4-FFF2-40B4-BE49-F238E27FC236}">
                <a16:creationId xmlns:a16="http://schemas.microsoft.com/office/drawing/2014/main" id="{C3627C43-0F6B-B162-071F-26801DB8DCC8}"/>
              </a:ext>
            </a:extLst>
          </p:cNvPr>
          <p:cNvGrpSpPr/>
          <p:nvPr/>
        </p:nvGrpSpPr>
        <p:grpSpPr>
          <a:xfrm>
            <a:off x="457201" y="4752729"/>
            <a:ext cx="3352800" cy="990272"/>
            <a:chOff x="0" y="0"/>
            <a:chExt cx="3060886" cy="653141"/>
          </a:xfrm>
        </p:grpSpPr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28499936-E464-0F8F-F951-B989E1CEA161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9" name="TextBox 11">
              <a:extLst>
                <a:ext uri="{FF2B5EF4-FFF2-40B4-BE49-F238E27FC236}">
                  <a16:creationId xmlns:a16="http://schemas.microsoft.com/office/drawing/2014/main" id="{66A66150-8C80-15CD-A4EB-0850DF8C3BD9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12">
            <a:extLst>
              <a:ext uri="{FF2B5EF4-FFF2-40B4-BE49-F238E27FC236}">
                <a16:creationId xmlns:a16="http://schemas.microsoft.com/office/drawing/2014/main" id="{19040C90-99F1-953F-A8CF-C0B27D52268C}"/>
              </a:ext>
            </a:extLst>
          </p:cNvPr>
          <p:cNvSpPr txBox="1"/>
          <p:nvPr/>
        </p:nvSpPr>
        <p:spPr>
          <a:xfrm>
            <a:off x="723783" y="4952590"/>
            <a:ext cx="2738867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Case 1</a:t>
            </a:r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16F766E3-F564-7E10-72DA-7ADFA1C12A9E}"/>
              </a:ext>
            </a:extLst>
          </p:cNvPr>
          <p:cNvGrpSpPr/>
          <p:nvPr/>
        </p:nvGrpSpPr>
        <p:grpSpPr>
          <a:xfrm>
            <a:off x="457201" y="6666619"/>
            <a:ext cx="3352800" cy="990272"/>
            <a:chOff x="0" y="0"/>
            <a:chExt cx="3060886" cy="653141"/>
          </a:xfrm>
        </p:grpSpPr>
        <p:sp>
          <p:nvSpPr>
            <p:cNvPr id="22" name="Freeform 14">
              <a:extLst>
                <a:ext uri="{FF2B5EF4-FFF2-40B4-BE49-F238E27FC236}">
                  <a16:creationId xmlns:a16="http://schemas.microsoft.com/office/drawing/2014/main" id="{2DD97F9B-5D9D-EEA1-47B7-764DEEF3BF99}"/>
                </a:ext>
              </a:extLst>
            </p:cNvPr>
            <p:cNvSpPr/>
            <p:nvPr/>
          </p:nvSpPr>
          <p:spPr>
            <a:xfrm>
              <a:off x="0" y="0"/>
              <a:ext cx="3060886" cy="653141"/>
            </a:xfrm>
            <a:custGeom>
              <a:avLst/>
              <a:gdLst/>
              <a:ahLst/>
              <a:cxnLst/>
              <a:rect l="l" t="t" r="r" b="b"/>
              <a:pathLst>
                <a:path w="3060886" h="653141">
                  <a:moveTo>
                    <a:pt x="2857686" y="0"/>
                  </a:moveTo>
                  <a:lnTo>
                    <a:pt x="0" y="0"/>
                  </a:lnTo>
                  <a:lnTo>
                    <a:pt x="0" y="653141"/>
                  </a:lnTo>
                  <a:lnTo>
                    <a:pt x="2857686" y="653141"/>
                  </a:lnTo>
                  <a:lnTo>
                    <a:pt x="3060886" y="326570"/>
                  </a:lnTo>
                  <a:lnTo>
                    <a:pt x="2857686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23" name="TextBox 15">
              <a:extLst>
                <a:ext uri="{FF2B5EF4-FFF2-40B4-BE49-F238E27FC236}">
                  <a16:creationId xmlns:a16="http://schemas.microsoft.com/office/drawing/2014/main" id="{443B19FD-5DA6-8026-BDB1-71108CCD3EC1}"/>
                </a:ext>
              </a:extLst>
            </p:cNvPr>
            <p:cNvSpPr txBox="1"/>
            <p:nvPr/>
          </p:nvSpPr>
          <p:spPr>
            <a:xfrm>
              <a:off x="0" y="-38100"/>
              <a:ext cx="2946586" cy="6912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4" name="TextBox 16">
            <a:extLst>
              <a:ext uri="{FF2B5EF4-FFF2-40B4-BE49-F238E27FC236}">
                <a16:creationId xmlns:a16="http://schemas.microsoft.com/office/drawing/2014/main" id="{2FF8C18B-1110-534E-4829-B1030D27FA9C}"/>
              </a:ext>
            </a:extLst>
          </p:cNvPr>
          <p:cNvSpPr txBox="1"/>
          <p:nvPr/>
        </p:nvSpPr>
        <p:spPr>
          <a:xfrm>
            <a:off x="723783" y="6866481"/>
            <a:ext cx="3052007" cy="4944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Case 2</a:t>
            </a: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F725DBF7-EDB3-431E-9E03-72CF552E0163}"/>
              </a:ext>
            </a:extLst>
          </p:cNvPr>
          <p:cNvSpPr txBox="1"/>
          <p:nvPr/>
        </p:nvSpPr>
        <p:spPr>
          <a:xfrm>
            <a:off x="4114800" y="4610100"/>
            <a:ext cx="5973555" cy="11737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More reliable energy prediction</a:t>
            </a:r>
          </a:p>
        </p:txBody>
      </p:sp>
      <p:sp>
        <p:nvSpPr>
          <p:cNvPr id="26" name="TextBox 3">
            <a:extLst>
              <a:ext uri="{FF2B5EF4-FFF2-40B4-BE49-F238E27FC236}">
                <a16:creationId xmlns:a16="http://schemas.microsoft.com/office/drawing/2014/main" id="{D84425E3-228B-D6FE-1628-1EB4BBE0D181}"/>
              </a:ext>
            </a:extLst>
          </p:cNvPr>
          <p:cNvSpPr txBox="1"/>
          <p:nvPr/>
        </p:nvSpPr>
        <p:spPr>
          <a:xfrm>
            <a:off x="4114800" y="6831898"/>
            <a:ext cx="5863370" cy="5581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  <a:spcBef>
                <a:spcPct val="0"/>
              </a:spcBef>
            </a:pPr>
            <a:r>
              <a:rPr lang="en-US" sz="32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Potential B2C use case</a:t>
            </a:r>
          </a:p>
        </p:txBody>
      </p:sp>
      <p:sp>
        <p:nvSpPr>
          <p:cNvPr id="12" name="AutoShape 2">
            <a:extLst>
              <a:ext uri="{FF2B5EF4-FFF2-40B4-BE49-F238E27FC236}">
                <a16:creationId xmlns:a16="http://schemas.microsoft.com/office/drawing/2014/main" id="{3A481135-571D-6F5B-5DE9-33BF888FBD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991600" y="49911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AT"/>
          </a:p>
        </p:txBody>
      </p:sp>
      <p:pic>
        <p:nvPicPr>
          <p:cNvPr id="28" name="Grafik 27" descr="Ein Bild, das Text, Logo, Grafiken, Schrift enthält.&#10;&#10;KI-generierte Inhalte können fehlerhaft sein.">
            <a:extLst>
              <a:ext uri="{FF2B5EF4-FFF2-40B4-BE49-F238E27FC236}">
                <a16:creationId xmlns:a16="http://schemas.microsoft.com/office/drawing/2014/main" id="{8FADF2D4-9FC6-B4EF-96FE-04F36F9CCD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8105" b="90820" l="9961" r="89844">
                        <a14:foregroundMark x1="40820" y1="28711" x2="40820" y2="28711"/>
                        <a14:foregroundMark x1="39258" y1="17285" x2="39258" y2="17285"/>
                        <a14:foregroundMark x1="53936" y1="8989" x2="58368" y2="8391"/>
                        <a14:foregroundMark x1="38965" y1="15332" x2="39160" y2="18652"/>
                        <a14:foregroundMark x1="30664" y1="19043" x2="33496" y2="21387"/>
                        <a14:foregroundMark x1="27441" y1="26953" x2="31250" y2="26855"/>
                        <a14:foregroundMark x1="39160" y1="34863" x2="39355" y2="37402"/>
                        <a14:foregroundMark x1="44824" y1="33203" x2="47144" y2="33821"/>
                        <a14:foregroundMark x1="47754" y1="26855" x2="50879" y2="26367"/>
                        <a14:foregroundMark x1="32715" y1="33789" x2="32129" y2="35059"/>
                        <a14:foregroundMark x1="44922" y1="20313" x2="46191" y2="19824"/>
                        <a14:foregroundMark x1="68066" y1="33594" x2="67578" y2="55469"/>
                        <a14:foregroundMark x1="26465" y1="52637" x2="26563" y2="60156"/>
                        <a14:foregroundMark x1="34082" y1="48438" x2="33984" y2="58887"/>
                        <a14:foregroundMark x1="42676" y1="55078" x2="42773" y2="61035"/>
                        <a14:foregroundMark x1="50195" y1="49609" x2="50195" y2="57227"/>
                        <a14:foregroundMark x1="59277" y1="56738" x2="60059" y2="63086"/>
                        <a14:foregroundMark x1="66016" y1="60449" x2="66797" y2="64160"/>
                        <a14:foregroundMark x1="15709" y1="79297" x2="15625" y2="80176"/>
                        <a14:foregroundMark x1="15820" y1="78125" x2="15709" y2="79297"/>
                        <a14:foregroundMark x1="23903" y1="79102" x2="24023" y2="80664"/>
                        <a14:foregroundMark x1="23828" y1="78125" x2="23903" y2="79102"/>
                        <a14:foregroundMark x1="32324" y1="78125" x2="31055" y2="80371"/>
                        <a14:foregroundMark x1="40540" y1="79980" x2="40332" y2="80566"/>
                        <a14:foregroundMark x1="41406" y1="77539" x2="40540" y2="79980"/>
                        <a14:foregroundMark x1="48828" y1="77246" x2="48828" y2="80566"/>
                        <a14:foregroundMark x1="57910" y1="77246" x2="57227" y2="78125"/>
                        <a14:foregroundMark x1="65723" y1="77344" x2="64258" y2="79590"/>
                        <a14:foregroundMark x1="73730" y1="79004" x2="74414" y2="82129"/>
                        <a14:foregroundMark x1="81641" y1="77148" x2="81934" y2="79883"/>
                        <a14:foregroundMark x1="20898" y1="88184" x2="20898" y2="88184"/>
                        <a14:foregroundMark x1="25586" y1="87793" x2="25586" y2="87793"/>
                        <a14:foregroundMark x1="29590" y1="87793" x2="29590" y2="87793"/>
                        <a14:foregroundMark x1="33301" y1="88086" x2="33301" y2="88086"/>
                        <a14:foregroundMark x1="37500" y1="88184" x2="37500" y2="88184"/>
                        <a14:foregroundMark x1="16895" y1="88477" x2="16895" y2="88477"/>
                        <a14:foregroundMark x1="18164" y1="90820" x2="18164" y2="90820"/>
                        <a14:foregroundMark x1="16699" y1="89063" x2="16699" y2="89063"/>
                        <a14:foregroundMark x1="18652" y1="87500" x2="18652" y2="87500"/>
                        <a14:foregroundMark x1="17285" y1="87793" x2="17285" y2="87793"/>
                        <a14:foregroundMark x1="40527" y1="87500" x2="40527" y2="87500"/>
                        <a14:foregroundMark x1="43164" y1="88086" x2="43164" y2="88086"/>
                        <a14:foregroundMark x1="45605" y1="88184" x2="45605" y2="88184"/>
                        <a14:foregroundMark x1="49512" y1="88965" x2="49512" y2="88965"/>
                        <a14:foregroundMark x1="55469" y1="88965" x2="55469" y2="88965"/>
                        <a14:foregroundMark x1="59863" y1="88770" x2="59863" y2="88770"/>
                        <a14:foregroundMark x1="64746" y1="87988" x2="64746" y2="87988"/>
                        <a14:foregroundMark x1="69531" y1="88574" x2="69531" y2="88574"/>
                        <a14:foregroundMark x1="73145" y1="88770" x2="73145" y2="88770"/>
                        <a14:foregroundMark x1="76855" y1="88379" x2="76855" y2="88379"/>
                        <a14:foregroundMark x1="81348" y1="88281" x2="81348" y2="88281"/>
                        <a14:foregroundMark x1="25391" y1="90332" x2="25391" y2="90332"/>
                        <a14:foregroundMark x1="81738" y1="88379" x2="81738" y2="88379"/>
                        <a14:foregroundMark x1="81543" y1="88184" x2="81543" y2="88184"/>
                        <a14:foregroundMark x1="81738" y1="89160" x2="81738" y2="89160"/>
                        <a14:backgroundMark x1="39551" y1="11230" x2="50293" y2="10059"/>
                        <a14:backgroundMark x1="51953" y1="9668" x2="51953" y2="9668"/>
                        <a14:backgroundMark x1="50684" y1="9375" x2="52441" y2="9668"/>
                        <a14:backgroundMark x1="38672" y1="11230" x2="40039" y2="10938"/>
                        <a14:backgroundMark x1="52344" y1="9570" x2="53711" y2="9375"/>
                        <a14:backgroundMark x1="58887" y1="7715" x2="63184" y2="8887"/>
                        <a14:backgroundMark x1="48438" y1="17285" x2="48242" y2="18164"/>
                        <a14:backgroundMark x1="47656" y1="17773" x2="48535" y2="19043"/>
                        <a14:backgroundMark x1="33691" y1="31738" x2="34570" y2="33008"/>
                        <a14:backgroundMark x1="47559" y1="33496" x2="48535" y2="34473"/>
                        <a14:backgroundMark x1="86230" y1="12695" x2="86621" y2="18066"/>
                        <a14:backgroundMark x1="86621" y1="18066" x2="86133" y2="17188"/>
                        <a14:backgroundMark x1="86035" y1="15332" x2="86523" y2="20508"/>
                        <a14:backgroundMark x1="86523" y1="20508" x2="86230" y2="22363"/>
                        <a14:backgroundMark x1="17676" y1="79297" x2="17676" y2="79297"/>
                        <a14:backgroundMark x1="18359" y1="81934" x2="18359" y2="81934"/>
                        <a14:backgroundMark x1="25098" y1="79102" x2="25098" y2="79102"/>
                        <a14:backgroundMark x1="42383" y1="79980" x2="42383" y2="79980"/>
                        <a14:backgroundMark x1="22656" y1="89746" x2="22656" y2="89746"/>
                        <a14:backgroundMark x1="41504" y1="86328" x2="40332" y2="86914"/>
                        <a14:backgroundMark x1="40137" y1="87012" x2="41602" y2="87305"/>
                        <a14:backgroundMark x1="17409" y1="89063" x2="17285" y2="89746"/>
                        <a14:backgroundMark x1="17480" y1="88672" x2="17409" y2="89063"/>
                        <a14:backgroundMark x1="60449" y1="89258" x2="60449" y2="89258"/>
                        <a14:backgroundMark x1="70605" y1="88672" x2="70605" y2="88672"/>
                        <a14:backgroundMark x1="73926" y1="89355" x2="73926" y2="89355"/>
                        <a14:backgroundMark x1="25879" y1="89551" x2="25879" y2="89551"/>
                        <a14:backgroundMark x1="25781" y1="89551" x2="25781" y2="89551"/>
                        <a14:backgroundMark x1="81445" y1="87988" x2="81445" y2="87988"/>
                        <a14:backgroundMark x1="81348" y1="88086" x2="81348" y2="88086"/>
                        <a14:backgroundMark x1="81836" y1="88281" x2="81836" y2="88281"/>
                        <a14:backgroundMark x1="81738" y1="88379" x2="81738" y2="88379"/>
                        <a14:backgroundMark x1="81445" y1="88184" x2="81445" y2="88184"/>
                        <a14:backgroundMark x1="81543" y1="88281" x2="81543" y2="88281"/>
                        <a14:backgroundMark x1="81641" y1="88184" x2="81641" y2="8818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06847" y="2334637"/>
            <a:ext cx="4274216" cy="4274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89980" y="1688841"/>
            <a:ext cx="6909318" cy="6909318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2"/>
              <a:stretch>
                <a:fillRect l="-16666" r="-16666"/>
              </a:stretch>
            </a:blipFill>
          </p:spPr>
          <p:txBody>
            <a:bodyPr/>
            <a:lstStyle/>
            <a:p>
              <a:endParaRPr lang="de-AT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985938" y="3600450"/>
            <a:ext cx="11015853" cy="3086100"/>
            <a:chOff x="0" y="0"/>
            <a:chExt cx="2901295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901295" cy="812800"/>
            </a:xfrm>
            <a:custGeom>
              <a:avLst/>
              <a:gdLst/>
              <a:ahLst/>
              <a:cxnLst/>
              <a:rect l="l" t="t" r="r" b="b"/>
              <a:pathLst>
                <a:path w="2901295" h="812800">
                  <a:moveTo>
                    <a:pt x="0" y="0"/>
                  </a:moveTo>
                  <a:lnTo>
                    <a:pt x="2901295" y="0"/>
                  </a:lnTo>
                  <a:lnTo>
                    <a:pt x="2901295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901295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425645" y="3600450"/>
            <a:ext cx="3257995" cy="3045824"/>
            <a:chOff x="0" y="0"/>
            <a:chExt cx="812800" cy="75986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9868"/>
            </a:xfrm>
            <a:custGeom>
              <a:avLst/>
              <a:gdLst/>
              <a:ahLst/>
              <a:cxnLst/>
              <a:rect l="l" t="t" r="r" b="b"/>
              <a:pathLst>
                <a:path w="812800" h="759868">
                  <a:moveTo>
                    <a:pt x="609600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609600" y="759868"/>
                  </a:lnTo>
                  <a:lnTo>
                    <a:pt x="812800" y="379934"/>
                  </a:lnTo>
                  <a:lnTo>
                    <a:pt x="609600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698500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10800000">
            <a:off x="7089597" y="3600450"/>
            <a:ext cx="1183468" cy="3086100"/>
            <a:chOff x="0" y="0"/>
            <a:chExt cx="291397" cy="75986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91397" cy="759868"/>
            </a:xfrm>
            <a:custGeom>
              <a:avLst/>
              <a:gdLst/>
              <a:ahLst/>
              <a:cxnLst/>
              <a:rect l="l" t="t" r="r" b="b"/>
              <a:pathLst>
                <a:path w="291397" h="759868">
                  <a:moveTo>
                    <a:pt x="88197" y="0"/>
                  </a:moveTo>
                  <a:lnTo>
                    <a:pt x="0" y="0"/>
                  </a:lnTo>
                  <a:lnTo>
                    <a:pt x="0" y="759868"/>
                  </a:lnTo>
                  <a:lnTo>
                    <a:pt x="88197" y="759868"/>
                  </a:lnTo>
                  <a:lnTo>
                    <a:pt x="291397" y="379934"/>
                  </a:lnTo>
                  <a:lnTo>
                    <a:pt x="88197" y="0"/>
                  </a:lnTo>
                  <a:close/>
                </a:path>
              </a:pathLst>
            </a:custGeom>
            <a:solidFill>
              <a:srgbClr val="2B485F"/>
            </a:solidFill>
          </p:spPr>
          <p:txBody>
            <a:bodyPr/>
            <a:lstStyle/>
            <a:p>
              <a:endParaRPr lang="de-AT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7097" cy="797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1572170" y="1357053"/>
            <a:ext cx="4563966" cy="18335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899"/>
              </a:lnSpc>
              <a:spcBef>
                <a:spcPct val="0"/>
              </a:spcBef>
            </a:pPr>
            <a:r>
              <a:rPr lang="en-US" sz="34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Broadsoft</a:t>
            </a:r>
            <a:r>
              <a:rPr lang="en-US" sz="34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Consulting Company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81331" y="4080188"/>
            <a:ext cx="8454806" cy="14509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899"/>
              </a:lnSpc>
              <a:spcBef>
                <a:spcPct val="0"/>
              </a:spcBef>
            </a:pPr>
            <a:r>
              <a:rPr lang="en-US" sz="8499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91002" y="5454972"/>
            <a:ext cx="7345135" cy="589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for your attention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694108" y="8258175"/>
            <a:ext cx="5442029" cy="564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759"/>
              </a:lnSpc>
              <a:spcBef>
                <a:spcPct val="0"/>
              </a:spcBef>
            </a:pPr>
            <a:r>
              <a:rPr lang="en-US" sz="3399" b="1" dirty="0" err="1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xth</a:t>
            </a:r>
            <a:r>
              <a:rPr lang="en-US" sz="3399" b="1" dirty="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 January, 2026</a:t>
            </a:r>
          </a:p>
        </p:txBody>
      </p:sp>
      <p:sp>
        <p:nvSpPr>
          <p:cNvPr id="17" name="Freeform 17"/>
          <p:cNvSpPr/>
          <p:nvPr/>
        </p:nvSpPr>
        <p:spPr>
          <a:xfrm rot="5400000">
            <a:off x="198762" y="7504437"/>
            <a:ext cx="455966" cy="1203911"/>
          </a:xfrm>
          <a:custGeom>
            <a:avLst/>
            <a:gdLst/>
            <a:ahLst/>
            <a:cxnLst/>
            <a:rect l="l" t="t" r="r" b="b"/>
            <a:pathLst>
              <a:path w="455966" h="1203911">
                <a:moveTo>
                  <a:pt x="0" y="0"/>
                </a:moveTo>
                <a:lnTo>
                  <a:pt x="455966" y="0"/>
                </a:lnTo>
                <a:lnTo>
                  <a:pt x="455966" y="1203910"/>
                </a:lnTo>
                <a:lnTo>
                  <a:pt x="0" y="12039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AT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417</Words>
  <Application>Microsoft Office PowerPoint</Application>
  <PresentationFormat>Benutzerdefiniert</PresentationFormat>
  <Paragraphs>159</Paragraphs>
  <Slides>16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16</vt:i4>
      </vt:variant>
    </vt:vector>
  </HeadingPairs>
  <TitlesOfParts>
    <vt:vector size="23" baseType="lpstr">
      <vt:lpstr>Calibri</vt:lpstr>
      <vt:lpstr>Inter</vt:lpstr>
      <vt:lpstr>Arial</vt:lpstr>
      <vt:lpstr>League Spartan</vt:lpstr>
      <vt:lpstr>Inter Bold</vt:lpstr>
      <vt:lpstr>Symbol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Blue Minimalist Financial Report Presentation</dc:title>
  <cp:lastModifiedBy>Simone Kern</cp:lastModifiedBy>
  <cp:revision>66</cp:revision>
  <dcterms:created xsi:type="dcterms:W3CDTF">2006-08-16T00:00:00Z</dcterms:created>
  <dcterms:modified xsi:type="dcterms:W3CDTF">2025-12-31T13:52:24Z</dcterms:modified>
  <dc:identifier>DAG7mWnch2A</dc:identifier>
</cp:coreProperties>
</file>