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9" r:id="rId4"/>
    <p:sldId id="258" r:id="rId5"/>
    <p:sldId id="270" r:id="rId6"/>
    <p:sldId id="271" r:id="rId7"/>
    <p:sldId id="272" r:id="rId8"/>
    <p:sldId id="273" r:id="rId9"/>
    <p:sldId id="260" r:id="rId10"/>
    <p:sldId id="274" r:id="rId11"/>
    <p:sldId id="275" r:id="rId12"/>
    <p:sldId id="263" r:id="rId13"/>
    <p:sldId id="276" r:id="rId14"/>
    <p:sldId id="277" r:id="rId15"/>
    <p:sldId id="266" r:id="rId16"/>
    <p:sldId id="268" r:id="rId17"/>
  </p:sldIdLst>
  <p:sldSz cx="18288000" cy="10287000"/>
  <p:notesSz cx="6858000" cy="9144000"/>
  <p:embeddedFontLst>
    <p:embeddedFont>
      <p:font typeface="Inter" panose="020B0604020202020204" charset="0"/>
      <p:regular r:id="rId19"/>
    </p:embeddedFont>
    <p:embeddedFont>
      <p:font typeface="Inter Bold" panose="020B0604020202020204" charset="0"/>
      <p:regular r:id="rId20"/>
    </p:embeddedFont>
    <p:embeddedFont>
      <p:font typeface="League Spartan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8196"/>
    <a:srgbClr val="000000"/>
    <a:srgbClr val="2D4E77"/>
    <a:srgbClr val="1974B2"/>
    <a:srgbClr val="FFEDED"/>
    <a:srgbClr val="FF9F9F"/>
    <a:srgbClr val="FFB3B3"/>
    <a:srgbClr val="FFD5D5"/>
    <a:srgbClr val="FFF8ED"/>
    <a:srgbClr val="FF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9892" autoAdjust="0"/>
  </p:normalViewPr>
  <p:slideViewPr>
    <p:cSldViewPr>
      <p:cViewPr>
        <p:scale>
          <a:sx n="47" d="100"/>
          <a:sy n="47" d="100"/>
        </p:scale>
        <p:origin x="88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DE09A-C9B0-4C61-9A0B-A88EDE867B84}" type="datetimeFigureOut">
              <a:rPr lang="de-AT" smtClean="0"/>
              <a:t>23.01.2026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E70A7-52C8-47CA-AC39-6F54992E192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06633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We’re the Data Team from </a:t>
            </a:r>
            <a:r>
              <a:rPr lang="en-US" dirty="0" err="1"/>
              <a:t>Broadsoft</a:t>
            </a:r>
            <a:r>
              <a:rPr lang="en-US" dirty="0"/>
              <a:t> Consulting, and today we’ll be presenting a </a:t>
            </a:r>
            <a:r>
              <a:rPr lang="en-US" b="1" dirty="0"/>
              <a:t>temperature forecasting project</a:t>
            </a:r>
            <a:r>
              <a:rPr lang="en-US" dirty="0"/>
              <a:t> designed to support </a:t>
            </a:r>
            <a:r>
              <a:rPr lang="en-US" b="1" dirty="0"/>
              <a:t>energy consumption estimation and long-term planning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E70A7-52C8-47CA-AC39-6F54992E1923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1943990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we’re addressing</a:t>
            </a:r>
          </a:p>
          <a:p>
            <a:endParaRPr lang="en-US" dirty="0"/>
          </a:p>
          <a:p>
            <a:r>
              <a:rPr lang="en-US" dirty="0"/>
              <a:t>our data and modeling approach</a:t>
            </a:r>
          </a:p>
          <a:p>
            <a:endParaRPr lang="en-US" dirty="0"/>
          </a:p>
          <a:p>
            <a:r>
              <a:rPr lang="en-US" dirty="0"/>
              <a:t>how we evaluated performance</a:t>
            </a:r>
          </a:p>
          <a:p>
            <a:endParaRPr lang="en-US" dirty="0"/>
          </a:p>
          <a:p>
            <a:r>
              <a:rPr lang="en-US" dirty="0"/>
              <a:t>and most importantly, </a:t>
            </a:r>
            <a:r>
              <a:rPr lang="en-US" b="1" dirty="0"/>
              <a:t>why this forecast has real value</a:t>
            </a:r>
            <a:r>
              <a:rPr lang="en-US" dirty="0"/>
              <a:t>, even years into the future.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E70A7-52C8-47CA-AC39-6F54992E1923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27735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E70A7-52C8-47CA-AC39-6F54992E1923}" type="slidenum">
              <a:rPr lang="de-AT" smtClean="0"/>
              <a:t>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73683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Energy demand is directly influenced by temperature — heating, cooling, and infrastructure planning all depend on it.</a:t>
            </a:r>
          </a:p>
          <a:p>
            <a:r>
              <a:rPr lang="en-US" dirty="0"/>
              <a:t>Current forecasting methods are often:</a:t>
            </a:r>
          </a:p>
          <a:p>
            <a:r>
              <a:rPr lang="en-US" dirty="0"/>
              <a:t>short-term focused</a:t>
            </a:r>
          </a:p>
          <a:p>
            <a:r>
              <a:rPr lang="en-US" dirty="0"/>
              <a:t>expensive to run</a:t>
            </a:r>
          </a:p>
          <a:p>
            <a:r>
              <a:rPr lang="en-US" dirty="0"/>
              <a:t>or difficult to adapt to localized conditions.</a:t>
            </a:r>
          </a:p>
          <a:p>
            <a:r>
              <a:rPr lang="en-US" dirty="0"/>
              <a:t>Our challenge was to create a </a:t>
            </a:r>
            <a:r>
              <a:rPr lang="en-US" b="1" dirty="0"/>
              <a:t>robust temperature prediction system</a:t>
            </a:r>
            <a:r>
              <a:rPr lang="en-US" dirty="0"/>
              <a:t> that:</a:t>
            </a:r>
          </a:p>
          <a:p>
            <a:r>
              <a:rPr lang="en-US" dirty="0"/>
              <a:t>works with historical daily data</a:t>
            </a:r>
          </a:p>
          <a:p>
            <a:r>
              <a:rPr lang="en-US" dirty="0"/>
              <a:t>captures seasonality and long-term trends</a:t>
            </a:r>
          </a:p>
          <a:p>
            <a:r>
              <a:rPr lang="en-US" dirty="0"/>
              <a:t>and provides accuracy that is </a:t>
            </a:r>
            <a:r>
              <a:rPr lang="en-US" i="1" dirty="0"/>
              <a:t>good enough to support real decisions</a:t>
            </a:r>
            <a:r>
              <a:rPr lang="en-US" dirty="0"/>
              <a:t>, not just theoretical benchmarks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E70A7-52C8-47CA-AC39-6F54992E1923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06391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solution is a </a:t>
            </a:r>
            <a:r>
              <a:rPr lang="en-US" b="1" dirty="0"/>
              <a:t>data-driven temperature forecasting pipeline</a:t>
            </a:r>
            <a:r>
              <a:rPr lang="en-US" dirty="0"/>
              <a:t>.</a:t>
            </a:r>
          </a:p>
          <a:p>
            <a:r>
              <a:rPr lang="en-US" dirty="0"/>
              <a:t>The final model achieves a </a:t>
            </a:r>
            <a:r>
              <a:rPr lang="en-US" b="1" dirty="0"/>
              <a:t>mean absolute error of about 3°C</a:t>
            </a:r>
            <a:r>
              <a:rPr lang="en-US" dirty="0"/>
              <a:t>, evaluated over a </a:t>
            </a:r>
            <a:r>
              <a:rPr lang="en-US" b="1" dirty="0"/>
              <a:t>five-year prediction span</a:t>
            </a:r>
            <a:r>
              <a:rPr lang="en-US" dirty="0"/>
              <a:t>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E70A7-52C8-47CA-AC39-6F54992E1923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5888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E70A7-52C8-47CA-AC39-6F54992E1923}" type="slidenum">
              <a:rPr lang="de-AT" smtClean="0"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56024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model enables </a:t>
            </a:r>
            <a:r>
              <a:rPr lang="en-US" b="1" dirty="0"/>
              <a:t>more reliable energy demand estimation</a:t>
            </a:r>
            <a:r>
              <a:rPr lang="en-US" dirty="0"/>
              <a:t>, especially for long-term planning.</a:t>
            </a:r>
          </a:p>
          <a:p>
            <a:r>
              <a:rPr lang="en-US" dirty="0"/>
              <a:t>Potential applications include:</a:t>
            </a:r>
          </a:p>
          <a:p>
            <a:r>
              <a:rPr lang="en-US" dirty="0"/>
              <a:t>energy load forecasting</a:t>
            </a:r>
          </a:p>
          <a:p>
            <a:r>
              <a:rPr lang="en-US" dirty="0"/>
              <a:t>infrastructure stress planning</a:t>
            </a:r>
          </a:p>
          <a:p>
            <a:r>
              <a:rPr lang="en-US" dirty="0"/>
              <a:t>and even consumer-facing weather intelligence tools</a:t>
            </a:r>
          </a:p>
          <a:p>
            <a:r>
              <a:rPr lang="en-US" dirty="0"/>
              <a:t>The framework is also designed to </a:t>
            </a:r>
            <a:r>
              <a:rPr lang="en-US" b="1" dirty="0"/>
              <a:t>improve continuously</a:t>
            </a:r>
            <a:r>
              <a:rPr lang="en-US" dirty="0"/>
              <a:t> as new data becomes available.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E70A7-52C8-47CA-AC39-6F54992E1923}" type="slidenum">
              <a:rPr lang="de-AT" smtClean="0"/>
              <a:t>15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17872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meteostat.net/data" TargetMode="External"/><Relationship Id="rId7" Type="http://schemas.microsoft.com/office/2007/relationships/hdphoto" Target="../media/hdphoto1.wdp"/><Relationship Id="rId2" Type="http://schemas.openxmlformats.org/officeDocument/2006/relationships/hyperlink" Target="https://dev.meteostat.net/bulk/daily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11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mn-krn/TIS3IL-WS25-Project/tree/main" TargetMode="External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9980" y="1688841"/>
            <a:ext cx="6909318" cy="69093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-16666" r="-16666"/>
              </a:stretch>
            </a:blipFill>
          </p:spPr>
          <p:txBody>
            <a:bodyPr/>
            <a:lstStyle/>
            <a:p>
              <a:endParaRPr lang="de-A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985938" y="3600450"/>
            <a:ext cx="11015853" cy="3086100"/>
            <a:chOff x="0" y="0"/>
            <a:chExt cx="2901295" cy="812800"/>
          </a:xfrm>
          <a:solidFill>
            <a:srgbClr val="2D4E77"/>
          </a:solidFill>
        </p:grpSpPr>
        <p:sp>
          <p:nvSpPr>
            <p:cNvPr id="5" name="Freeform 5"/>
            <p:cNvSpPr/>
            <p:nvPr/>
          </p:nvSpPr>
          <p:spPr>
            <a:xfrm>
              <a:off x="0" y="0"/>
              <a:ext cx="2901295" cy="812800"/>
            </a:xfrm>
            <a:custGeom>
              <a:avLst/>
              <a:gdLst/>
              <a:ahLst/>
              <a:cxnLst/>
              <a:rect l="l" t="t" r="r" b="b"/>
              <a:pathLst>
                <a:path w="2901295" h="812800">
                  <a:moveTo>
                    <a:pt x="0" y="0"/>
                  </a:moveTo>
                  <a:lnTo>
                    <a:pt x="2901295" y="0"/>
                  </a:lnTo>
                  <a:lnTo>
                    <a:pt x="2901295" y="812800"/>
                  </a:lnTo>
                  <a:lnTo>
                    <a:pt x="0" y="81280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de-A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01295" cy="85090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079238" y="3455789"/>
            <a:ext cx="3500063" cy="3364111"/>
            <a:chOff x="-101642" y="-38100"/>
            <a:chExt cx="812800" cy="797968"/>
          </a:xfrm>
        </p:grpSpPr>
        <p:sp>
          <p:nvSpPr>
            <p:cNvPr id="8" name="Freeform 8"/>
            <p:cNvSpPr/>
            <p:nvPr/>
          </p:nvSpPr>
          <p:spPr>
            <a:xfrm rot="10800000">
              <a:off x="-101642" y="-36090"/>
              <a:ext cx="812800" cy="759868"/>
            </a:xfrm>
            <a:custGeom>
              <a:avLst/>
              <a:gdLst/>
              <a:ahLst/>
              <a:cxnLst/>
              <a:rect l="l" t="t" r="r" b="b"/>
              <a:pathLst>
                <a:path w="812800" h="759868">
                  <a:moveTo>
                    <a:pt x="609600" y="0"/>
                  </a:moveTo>
                  <a:lnTo>
                    <a:pt x="0" y="0"/>
                  </a:lnTo>
                  <a:lnTo>
                    <a:pt x="0" y="759868"/>
                  </a:lnTo>
                  <a:lnTo>
                    <a:pt x="609600" y="759868"/>
                  </a:lnTo>
                  <a:lnTo>
                    <a:pt x="812800" y="379934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2D4E77"/>
            </a:solidFill>
          </p:spPr>
          <p:txBody>
            <a:bodyPr/>
            <a:lstStyle/>
            <a:p>
              <a:endParaRPr lang="de-AT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98500" cy="797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13" name="Freeform 13"/>
          <p:cNvSpPr/>
          <p:nvPr/>
        </p:nvSpPr>
        <p:spPr>
          <a:xfrm rot="5400000">
            <a:off x="1402672" y="6547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4" name="TextBox 14"/>
          <p:cNvSpPr txBox="1"/>
          <p:nvPr/>
        </p:nvSpPr>
        <p:spPr>
          <a:xfrm>
            <a:off x="8382000" y="1357053"/>
            <a:ext cx="7754136" cy="576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99"/>
              </a:lnSpc>
              <a:spcBef>
                <a:spcPct val="0"/>
              </a:spcBef>
            </a:pPr>
            <a:r>
              <a:rPr lang="en-US" sz="34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34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36205" y="3937395"/>
            <a:ext cx="9956990" cy="1864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Weather forecasting </a:t>
            </a:r>
          </a:p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 various </a:t>
            </a:r>
            <a:r>
              <a:rPr lang="en-US" sz="5299" dirty="0" err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usecases</a:t>
            </a:r>
            <a:endParaRPr lang="en-US" sz="5299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159240" y="5962214"/>
            <a:ext cx="7345135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Presentation by the Data Team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94108" y="8258175"/>
            <a:ext cx="5442029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23rd January, 2026</a:t>
            </a:r>
          </a:p>
        </p:txBody>
      </p:sp>
      <p:sp>
        <p:nvSpPr>
          <p:cNvPr id="19" name="Freeform 8">
            <a:extLst>
              <a:ext uri="{FF2B5EF4-FFF2-40B4-BE49-F238E27FC236}">
                <a16:creationId xmlns:a16="http://schemas.microsoft.com/office/drawing/2014/main" id="{56FCD5E3-1DC1-FBF6-C0C5-7D18DFBCC6D7}"/>
              </a:ext>
            </a:extLst>
          </p:cNvPr>
          <p:cNvSpPr/>
          <p:nvPr/>
        </p:nvSpPr>
        <p:spPr>
          <a:xfrm>
            <a:off x="-635310" y="3536100"/>
            <a:ext cx="3500063" cy="3203487"/>
          </a:xfrm>
          <a:custGeom>
            <a:avLst/>
            <a:gdLst/>
            <a:ahLst/>
            <a:cxnLst/>
            <a:rect l="l" t="t" r="r" b="b"/>
            <a:pathLst>
              <a:path w="812800" h="759868">
                <a:moveTo>
                  <a:pt x="609600" y="0"/>
                </a:moveTo>
                <a:lnTo>
                  <a:pt x="0" y="0"/>
                </a:lnTo>
                <a:lnTo>
                  <a:pt x="0" y="759868"/>
                </a:lnTo>
                <a:lnTo>
                  <a:pt x="609600" y="759868"/>
                </a:lnTo>
                <a:lnTo>
                  <a:pt x="812800" y="379934"/>
                </a:lnTo>
                <a:lnTo>
                  <a:pt x="609600" y="0"/>
                </a:lnTo>
                <a:close/>
              </a:path>
            </a:pathLst>
          </a:custGeom>
          <a:solidFill>
            <a:srgbClr val="2D4E77"/>
          </a:solidFill>
        </p:spPr>
        <p:txBody>
          <a:bodyPr/>
          <a:lstStyle/>
          <a:p>
            <a:endParaRPr lang="de-AT" dirty="0"/>
          </a:p>
        </p:txBody>
      </p:sp>
      <p:pic>
        <p:nvPicPr>
          <p:cNvPr id="20" name="Grafik 19" descr="Ein Bild, das Text, Logo, Grafiken, Schrift enthält.&#10;&#10;KI-generierte Inhalte können fehlerhaft sein.">
            <a:extLst>
              <a:ext uri="{FF2B5EF4-FFF2-40B4-BE49-F238E27FC236}">
                <a16:creationId xmlns:a16="http://schemas.microsoft.com/office/drawing/2014/main" id="{9D85BF2E-0693-821E-44CD-407263D8665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105" b="90820" l="9961" r="89844">
                        <a14:foregroundMark x1="40820" y1="28711" x2="40820" y2="28711"/>
                        <a14:foregroundMark x1="39258" y1="17285" x2="39258" y2="17285"/>
                        <a14:foregroundMark x1="53936" y1="8989" x2="58368" y2="8391"/>
                        <a14:foregroundMark x1="38965" y1="15332" x2="39160" y2="18652"/>
                        <a14:foregroundMark x1="30664" y1="19043" x2="33496" y2="21387"/>
                        <a14:foregroundMark x1="27441" y1="26953" x2="31250" y2="26855"/>
                        <a14:foregroundMark x1="39160" y1="34863" x2="39355" y2="37402"/>
                        <a14:foregroundMark x1="44824" y1="33203" x2="47144" y2="33821"/>
                        <a14:foregroundMark x1="47754" y1="26855" x2="50879" y2="26367"/>
                        <a14:foregroundMark x1="32715" y1="33789" x2="32129" y2="35059"/>
                        <a14:foregroundMark x1="44922" y1="20313" x2="46191" y2="19824"/>
                        <a14:foregroundMark x1="68066" y1="33594" x2="67578" y2="55469"/>
                        <a14:foregroundMark x1="26465" y1="52637" x2="26563" y2="60156"/>
                        <a14:foregroundMark x1="34082" y1="48438" x2="33984" y2="58887"/>
                        <a14:foregroundMark x1="42676" y1="55078" x2="42773" y2="61035"/>
                        <a14:foregroundMark x1="50195" y1="49609" x2="50195" y2="57227"/>
                        <a14:foregroundMark x1="59277" y1="56738" x2="60059" y2="63086"/>
                        <a14:foregroundMark x1="66016" y1="60449" x2="66797" y2="64160"/>
                        <a14:foregroundMark x1="15709" y1="79297" x2="15625" y2="80176"/>
                        <a14:foregroundMark x1="15820" y1="78125" x2="15709" y2="79297"/>
                        <a14:foregroundMark x1="23903" y1="79102" x2="24023" y2="80664"/>
                        <a14:foregroundMark x1="23828" y1="78125" x2="23903" y2="79102"/>
                        <a14:foregroundMark x1="32324" y1="78125" x2="31055" y2="80371"/>
                        <a14:foregroundMark x1="40540" y1="79980" x2="40332" y2="80566"/>
                        <a14:foregroundMark x1="41406" y1="77539" x2="40540" y2="79980"/>
                        <a14:foregroundMark x1="48828" y1="77246" x2="48828" y2="80566"/>
                        <a14:foregroundMark x1="57910" y1="77246" x2="57227" y2="78125"/>
                        <a14:foregroundMark x1="65723" y1="77344" x2="64258" y2="79590"/>
                        <a14:foregroundMark x1="73730" y1="79004" x2="74414" y2="82129"/>
                        <a14:foregroundMark x1="81641" y1="77148" x2="81934" y2="79883"/>
                        <a14:foregroundMark x1="20898" y1="88184" x2="20898" y2="88184"/>
                        <a14:foregroundMark x1="25586" y1="87793" x2="25586" y2="87793"/>
                        <a14:foregroundMark x1="29590" y1="87793" x2="29590" y2="87793"/>
                        <a14:foregroundMark x1="33301" y1="88086" x2="33301" y2="88086"/>
                        <a14:foregroundMark x1="37500" y1="88184" x2="37500" y2="88184"/>
                        <a14:foregroundMark x1="16895" y1="88477" x2="16895" y2="88477"/>
                        <a14:foregroundMark x1="18164" y1="90820" x2="18164" y2="90820"/>
                        <a14:foregroundMark x1="16699" y1="89063" x2="16699" y2="89063"/>
                        <a14:foregroundMark x1="18652" y1="87500" x2="18652" y2="87500"/>
                        <a14:foregroundMark x1="17285" y1="87793" x2="17285" y2="87793"/>
                        <a14:foregroundMark x1="40527" y1="87500" x2="40527" y2="87500"/>
                        <a14:foregroundMark x1="43164" y1="88086" x2="43164" y2="88086"/>
                        <a14:foregroundMark x1="45605" y1="88184" x2="45605" y2="88184"/>
                        <a14:foregroundMark x1="49512" y1="88965" x2="49512" y2="88965"/>
                        <a14:foregroundMark x1="55469" y1="88965" x2="55469" y2="88965"/>
                        <a14:foregroundMark x1="59863" y1="88770" x2="59863" y2="88770"/>
                        <a14:foregroundMark x1="64746" y1="87988" x2="64746" y2="87988"/>
                        <a14:foregroundMark x1="69531" y1="88574" x2="69531" y2="88574"/>
                        <a14:foregroundMark x1="73145" y1="88770" x2="73145" y2="88770"/>
                        <a14:foregroundMark x1="76855" y1="88379" x2="76855" y2="88379"/>
                        <a14:foregroundMark x1="81348" y1="88281" x2="81348" y2="88281"/>
                        <a14:foregroundMark x1="25391" y1="90332" x2="25391" y2="90332"/>
                        <a14:foregroundMark x1="81738" y1="88379" x2="81738" y2="88379"/>
                        <a14:foregroundMark x1="81543" y1="88184" x2="81543" y2="88184"/>
                        <a14:foregroundMark x1="81738" y1="89160" x2="81738" y2="89160"/>
                        <a14:backgroundMark x1="39551" y1="11230" x2="50293" y2="10059"/>
                        <a14:backgroundMark x1="51953" y1="9668" x2="51953" y2="9668"/>
                        <a14:backgroundMark x1="50684" y1="9375" x2="52441" y2="9668"/>
                        <a14:backgroundMark x1="38672" y1="11230" x2="40039" y2="10938"/>
                        <a14:backgroundMark x1="52344" y1="9570" x2="53711" y2="9375"/>
                        <a14:backgroundMark x1="58887" y1="7715" x2="63184" y2="8887"/>
                        <a14:backgroundMark x1="48438" y1="17285" x2="48242" y2="18164"/>
                        <a14:backgroundMark x1="47656" y1="17773" x2="48535" y2="19043"/>
                        <a14:backgroundMark x1="33691" y1="31738" x2="34570" y2="33008"/>
                        <a14:backgroundMark x1="47559" y1="33496" x2="48535" y2="34473"/>
                        <a14:backgroundMark x1="86230" y1="12695" x2="86621" y2="18066"/>
                        <a14:backgroundMark x1="86621" y1="18066" x2="86133" y2="17188"/>
                        <a14:backgroundMark x1="86035" y1="15332" x2="86523" y2="20508"/>
                        <a14:backgroundMark x1="86523" y1="20508" x2="86230" y2="22363"/>
                        <a14:backgroundMark x1="17676" y1="79297" x2="17676" y2="79297"/>
                        <a14:backgroundMark x1="18359" y1="81934" x2="18359" y2="81934"/>
                        <a14:backgroundMark x1="25098" y1="79102" x2="25098" y2="79102"/>
                        <a14:backgroundMark x1="42383" y1="79980" x2="42383" y2="79980"/>
                        <a14:backgroundMark x1="22656" y1="89746" x2="22656" y2="89746"/>
                        <a14:backgroundMark x1="41504" y1="86328" x2="40332" y2="86914"/>
                        <a14:backgroundMark x1="40137" y1="87012" x2="41602" y2="87305"/>
                        <a14:backgroundMark x1="17409" y1="89063" x2="17285" y2="89746"/>
                        <a14:backgroundMark x1="17480" y1="88672" x2="17409" y2="89063"/>
                        <a14:backgroundMark x1="60449" y1="89258" x2="60449" y2="89258"/>
                        <a14:backgroundMark x1="70605" y1="88672" x2="70605" y2="88672"/>
                        <a14:backgroundMark x1="73926" y1="89355" x2="73926" y2="89355"/>
                        <a14:backgroundMark x1="25879" y1="89551" x2="25879" y2="89551"/>
                        <a14:backgroundMark x1="25781" y1="89551" x2="25781" y2="89551"/>
                        <a14:backgroundMark x1="81445" y1="87988" x2="81445" y2="87988"/>
                        <a14:backgroundMark x1="81348" y1="88086" x2="81348" y2="88086"/>
                        <a14:backgroundMark x1="81836" y1="88281" x2="81836" y2="88281"/>
                        <a14:backgroundMark x1="81738" y1="88379" x2="81738" y2="88379"/>
                        <a14:backgroundMark x1="81445" y1="88184" x2="81445" y2="88184"/>
                        <a14:backgroundMark x1="81543" y1="88281" x2="81543" y2="88281"/>
                        <a14:backgroundMark x1="81641" y1="88184" x2="81641" y2="881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539" y="3162300"/>
            <a:ext cx="4648200" cy="4648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62000" y="2767366"/>
            <a:ext cx="6784598" cy="678459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25046" r="-25046"/>
              </a:stretch>
            </a:blipFill>
          </p:spPr>
          <p:txBody>
            <a:bodyPr/>
            <a:lstStyle/>
            <a:p>
              <a:endParaRPr lang="de-AT"/>
            </a:p>
          </p:txBody>
        </p:sp>
      </p:grpSp>
      <p:grpSp>
        <p:nvGrpSpPr>
          <p:cNvPr id="2" name="Group 2"/>
          <p:cNvGrpSpPr/>
          <p:nvPr/>
        </p:nvGrpSpPr>
        <p:grpSpPr>
          <a:xfrm rot="-10800000">
            <a:off x="17259300" y="5438878"/>
            <a:ext cx="2821508" cy="2618024"/>
            <a:chOff x="0" y="0"/>
            <a:chExt cx="703906" cy="6531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3906" cy="653141"/>
            </a:xfrm>
            <a:custGeom>
              <a:avLst/>
              <a:gdLst/>
              <a:ahLst/>
              <a:cxnLst/>
              <a:rect l="l" t="t" r="r" b="b"/>
              <a:pathLst>
                <a:path w="703906" h="653141">
                  <a:moveTo>
                    <a:pt x="50070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500706" y="653141"/>
                  </a:lnTo>
                  <a:lnTo>
                    <a:pt x="703906" y="326570"/>
                  </a:lnTo>
                  <a:lnTo>
                    <a:pt x="500706" y="0"/>
                  </a:lnTo>
                  <a:close/>
                </a:path>
              </a:pathLst>
            </a:custGeom>
            <a:solidFill>
              <a:srgbClr val="598196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8960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519037" y="641748"/>
            <a:ext cx="5518901" cy="3601352"/>
            <a:chOff x="0" y="0"/>
            <a:chExt cx="1000907" cy="6531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00907" cy="653141"/>
            </a:xfrm>
            <a:custGeom>
              <a:avLst/>
              <a:gdLst/>
              <a:ahLst/>
              <a:cxnLst/>
              <a:rect l="l" t="t" r="r" b="b"/>
              <a:pathLst>
                <a:path w="1000907" h="653141">
                  <a:moveTo>
                    <a:pt x="797707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797707" y="653141"/>
                  </a:lnTo>
                  <a:lnTo>
                    <a:pt x="1000907" y="326570"/>
                  </a:lnTo>
                  <a:lnTo>
                    <a:pt x="797707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86607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34768" y="1194997"/>
            <a:ext cx="3199165" cy="1864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Table of Contents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2206285"/>
            <a:ext cx="7840733" cy="647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1379" lvl="1" indent="-514350" algn="just">
              <a:lnSpc>
                <a:spcPts val="509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Team Slide</a:t>
            </a:r>
          </a:p>
          <a:p>
            <a:pPr marL="881379" lvl="1" indent="-514350" algn="just">
              <a:lnSpc>
                <a:spcPts val="509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Problem</a:t>
            </a:r>
          </a:p>
          <a:p>
            <a:pPr marL="881379" lvl="1" indent="-514350" algn="just">
              <a:lnSpc>
                <a:spcPts val="509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Solution</a:t>
            </a:r>
          </a:p>
          <a:p>
            <a:pPr marL="881379" lvl="1" indent="-514350" algn="just">
              <a:lnSpc>
                <a:spcPts val="509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Source</a:t>
            </a:r>
          </a:p>
          <a:p>
            <a:pPr marL="881379" lvl="1" indent="-514350" algn="just">
              <a:lnSpc>
                <a:spcPts val="509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Insights from Data</a:t>
            </a:r>
          </a:p>
          <a:p>
            <a:pPr marL="881379" lvl="1" indent="-514350" algn="just">
              <a:lnSpc>
                <a:spcPts val="509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Engineering</a:t>
            </a:r>
          </a:p>
          <a:p>
            <a:pPr marL="881379" lvl="1" indent="-514350" algn="just">
              <a:lnSpc>
                <a:spcPts val="509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Models</a:t>
            </a:r>
          </a:p>
          <a:p>
            <a:pPr marL="881379" lvl="1" indent="-514350" algn="just">
              <a:lnSpc>
                <a:spcPts val="509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Evaluation</a:t>
            </a:r>
          </a:p>
          <a:p>
            <a:pPr marL="881379" lvl="1" indent="-514350" algn="just">
              <a:lnSpc>
                <a:spcPts val="509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Forecast</a:t>
            </a:r>
          </a:p>
          <a:p>
            <a:pPr marL="881379" lvl="1" indent="-514350" algn="just">
              <a:lnSpc>
                <a:spcPts val="5099"/>
              </a:lnSpc>
              <a:buFont typeface="Arial" panose="020B0604020202020204" pitchFamily="34" charset="0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Value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14" name="Freeform 14"/>
          <p:cNvSpPr/>
          <p:nvPr/>
        </p:nvSpPr>
        <p:spPr>
          <a:xfrm rot="5400000">
            <a:off x="16429362" y="8428362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pic>
        <p:nvPicPr>
          <p:cNvPr id="15" name="Grafik 14" descr="Ein Bild, das Text, Logo, Grafiken, Schrift enthält.&#10;&#10;KI-generierte Inhalte können fehlerhaft sein.">
            <a:extLst>
              <a:ext uri="{FF2B5EF4-FFF2-40B4-BE49-F238E27FC236}">
                <a16:creationId xmlns:a16="http://schemas.microsoft.com/office/drawing/2014/main" id="{94E3A87E-55F5-BBBE-17B2-3A5DC2BF5C6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105" b="90820" l="9961" r="89844">
                        <a14:foregroundMark x1="40820" y1="28711" x2="40820" y2="28711"/>
                        <a14:foregroundMark x1="39258" y1="17285" x2="39258" y2="17285"/>
                        <a14:foregroundMark x1="53936" y1="8989" x2="58368" y2="8391"/>
                        <a14:foregroundMark x1="38965" y1="15332" x2="39160" y2="18652"/>
                        <a14:foregroundMark x1="30664" y1="19043" x2="33496" y2="21387"/>
                        <a14:foregroundMark x1="27441" y1="26953" x2="31250" y2="26855"/>
                        <a14:foregroundMark x1="39160" y1="34863" x2="39355" y2="37402"/>
                        <a14:foregroundMark x1="44824" y1="33203" x2="47144" y2="33821"/>
                        <a14:foregroundMark x1="47754" y1="26855" x2="50879" y2="26367"/>
                        <a14:foregroundMark x1="32715" y1="33789" x2="32129" y2="35059"/>
                        <a14:foregroundMark x1="44922" y1="20313" x2="46191" y2="19824"/>
                        <a14:foregroundMark x1="68066" y1="33594" x2="67578" y2="55469"/>
                        <a14:foregroundMark x1="26465" y1="52637" x2="26563" y2="60156"/>
                        <a14:foregroundMark x1="34082" y1="48438" x2="33984" y2="58887"/>
                        <a14:foregroundMark x1="42676" y1="55078" x2="42773" y2="61035"/>
                        <a14:foregroundMark x1="50195" y1="49609" x2="50195" y2="57227"/>
                        <a14:foregroundMark x1="59277" y1="56738" x2="60059" y2="63086"/>
                        <a14:foregroundMark x1="66016" y1="60449" x2="66797" y2="64160"/>
                        <a14:foregroundMark x1="15709" y1="79297" x2="15625" y2="80176"/>
                        <a14:foregroundMark x1="15820" y1="78125" x2="15709" y2="79297"/>
                        <a14:foregroundMark x1="23903" y1="79102" x2="24023" y2="80664"/>
                        <a14:foregroundMark x1="23828" y1="78125" x2="23903" y2="79102"/>
                        <a14:foregroundMark x1="32324" y1="78125" x2="31055" y2="80371"/>
                        <a14:foregroundMark x1="40540" y1="79980" x2="40332" y2="80566"/>
                        <a14:foregroundMark x1="41406" y1="77539" x2="40540" y2="79980"/>
                        <a14:foregroundMark x1="48828" y1="77246" x2="48828" y2="80566"/>
                        <a14:foregroundMark x1="57910" y1="77246" x2="57227" y2="78125"/>
                        <a14:foregroundMark x1="65723" y1="77344" x2="64258" y2="79590"/>
                        <a14:foregroundMark x1="73730" y1="79004" x2="74414" y2="82129"/>
                        <a14:foregroundMark x1="81641" y1="77148" x2="81934" y2="79883"/>
                        <a14:foregroundMark x1="20898" y1="88184" x2="20898" y2="88184"/>
                        <a14:foregroundMark x1="25586" y1="87793" x2="25586" y2="87793"/>
                        <a14:foregroundMark x1="29590" y1="87793" x2="29590" y2="87793"/>
                        <a14:foregroundMark x1="33301" y1="88086" x2="33301" y2="88086"/>
                        <a14:foregroundMark x1="37500" y1="88184" x2="37500" y2="88184"/>
                        <a14:foregroundMark x1="16895" y1="88477" x2="16895" y2="88477"/>
                        <a14:foregroundMark x1="18164" y1="90820" x2="18164" y2="90820"/>
                        <a14:foregroundMark x1="16699" y1="89063" x2="16699" y2="89063"/>
                        <a14:foregroundMark x1="18652" y1="87500" x2="18652" y2="87500"/>
                        <a14:foregroundMark x1="17285" y1="87793" x2="17285" y2="87793"/>
                        <a14:foregroundMark x1="40527" y1="87500" x2="40527" y2="87500"/>
                        <a14:foregroundMark x1="43164" y1="88086" x2="43164" y2="88086"/>
                        <a14:foregroundMark x1="45605" y1="88184" x2="45605" y2="88184"/>
                        <a14:foregroundMark x1="49512" y1="88965" x2="49512" y2="88965"/>
                        <a14:foregroundMark x1="55469" y1="88965" x2="55469" y2="88965"/>
                        <a14:foregroundMark x1="59863" y1="88770" x2="59863" y2="88770"/>
                        <a14:foregroundMark x1="64746" y1="87988" x2="64746" y2="87988"/>
                        <a14:foregroundMark x1="69531" y1="88574" x2="69531" y2="88574"/>
                        <a14:foregroundMark x1="73145" y1="88770" x2="73145" y2="88770"/>
                        <a14:foregroundMark x1="76855" y1="88379" x2="76855" y2="88379"/>
                        <a14:foregroundMark x1="81348" y1="88281" x2="81348" y2="88281"/>
                        <a14:foregroundMark x1="25391" y1="90332" x2="25391" y2="90332"/>
                        <a14:foregroundMark x1="81738" y1="88379" x2="81738" y2="88379"/>
                        <a14:foregroundMark x1="81543" y1="88184" x2="81543" y2="88184"/>
                        <a14:foregroundMark x1="81738" y1="89160" x2="81738" y2="89160"/>
                        <a14:backgroundMark x1="39551" y1="11230" x2="50293" y2="10059"/>
                        <a14:backgroundMark x1="51953" y1="9668" x2="51953" y2="9668"/>
                        <a14:backgroundMark x1="50684" y1="9375" x2="52441" y2="9668"/>
                        <a14:backgroundMark x1="38672" y1="11230" x2="40039" y2="10938"/>
                        <a14:backgroundMark x1="52344" y1="9570" x2="53711" y2="9375"/>
                        <a14:backgroundMark x1="58887" y1="7715" x2="63184" y2="8887"/>
                        <a14:backgroundMark x1="48438" y1="17285" x2="48242" y2="18164"/>
                        <a14:backgroundMark x1="47656" y1="17773" x2="48535" y2="19043"/>
                        <a14:backgroundMark x1="33691" y1="31738" x2="34570" y2="33008"/>
                        <a14:backgroundMark x1="47559" y1="33496" x2="48535" y2="34473"/>
                        <a14:backgroundMark x1="86230" y1="12695" x2="86621" y2="18066"/>
                        <a14:backgroundMark x1="86621" y1="18066" x2="86133" y2="17188"/>
                        <a14:backgroundMark x1="86035" y1="15332" x2="86523" y2="20508"/>
                        <a14:backgroundMark x1="86523" y1="20508" x2="86230" y2="22363"/>
                        <a14:backgroundMark x1="17676" y1="79297" x2="17676" y2="79297"/>
                        <a14:backgroundMark x1="18359" y1="81934" x2="18359" y2="81934"/>
                        <a14:backgroundMark x1="25098" y1="79102" x2="25098" y2="79102"/>
                        <a14:backgroundMark x1="42383" y1="79980" x2="42383" y2="79980"/>
                        <a14:backgroundMark x1="22656" y1="89746" x2="22656" y2="89746"/>
                        <a14:backgroundMark x1="41504" y1="86328" x2="40332" y2="86914"/>
                        <a14:backgroundMark x1="40137" y1="87012" x2="41602" y2="87305"/>
                        <a14:backgroundMark x1="17409" y1="89063" x2="17285" y2="89746"/>
                        <a14:backgroundMark x1="17480" y1="88672" x2="17409" y2="89063"/>
                        <a14:backgroundMark x1="60449" y1="89258" x2="60449" y2="89258"/>
                        <a14:backgroundMark x1="70605" y1="88672" x2="70605" y2="88672"/>
                        <a14:backgroundMark x1="73926" y1="89355" x2="73926" y2="89355"/>
                        <a14:backgroundMark x1="25879" y1="89551" x2="25879" y2="89551"/>
                        <a14:backgroundMark x1="25781" y1="89551" x2="25781" y2="89551"/>
                        <a14:backgroundMark x1="81445" y1="87988" x2="81445" y2="87988"/>
                        <a14:backgroundMark x1="81348" y1="88086" x2="81348" y2="88086"/>
                        <a14:backgroundMark x1="81836" y1="88281" x2="81836" y2="88281"/>
                        <a14:backgroundMark x1="81738" y1="88379" x2="81738" y2="88379"/>
                        <a14:backgroundMark x1="81445" y1="88184" x2="81445" y2="88184"/>
                        <a14:backgroundMark x1="81543" y1="88281" x2="81543" y2="88281"/>
                        <a14:backgroundMark x1="81641" y1="88184" x2="81641" y2="881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271" y="3187210"/>
            <a:ext cx="3874590" cy="38745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2F450-C63A-B0A9-3446-689203C0B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 descr="Ein Bild, das Text, Logo, Grafiken, Schrift enthält.&#10;&#10;KI-generierte Inhalte können fehlerhaft sein.">
            <a:extLst>
              <a:ext uri="{FF2B5EF4-FFF2-40B4-BE49-F238E27FC236}">
                <a16:creationId xmlns:a16="http://schemas.microsoft.com/office/drawing/2014/main" id="{F89FDE4C-5B99-D6CA-DD59-9D161DB803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105" b="90820" l="9961" r="89844">
                        <a14:foregroundMark x1="40820" y1="28711" x2="40820" y2="28711"/>
                        <a14:foregroundMark x1="39258" y1="17285" x2="39258" y2="17285"/>
                        <a14:foregroundMark x1="53936" y1="8989" x2="58368" y2="8391"/>
                        <a14:foregroundMark x1="38965" y1="15332" x2="39160" y2="18652"/>
                        <a14:foregroundMark x1="30664" y1="19043" x2="33496" y2="21387"/>
                        <a14:foregroundMark x1="27441" y1="26953" x2="31250" y2="26855"/>
                        <a14:foregroundMark x1="39160" y1="34863" x2="39355" y2="37402"/>
                        <a14:foregroundMark x1="44824" y1="33203" x2="47144" y2="33821"/>
                        <a14:foregroundMark x1="47754" y1="26855" x2="50879" y2="26367"/>
                        <a14:foregroundMark x1="32715" y1="33789" x2="32129" y2="35059"/>
                        <a14:foregroundMark x1="44922" y1="20313" x2="46191" y2="19824"/>
                        <a14:foregroundMark x1="68066" y1="33594" x2="67578" y2="55469"/>
                        <a14:foregroundMark x1="26465" y1="52637" x2="26563" y2="60156"/>
                        <a14:foregroundMark x1="34082" y1="48438" x2="33984" y2="58887"/>
                        <a14:foregroundMark x1="42676" y1="55078" x2="42773" y2="61035"/>
                        <a14:foregroundMark x1="50195" y1="49609" x2="50195" y2="57227"/>
                        <a14:foregroundMark x1="59277" y1="56738" x2="60059" y2="63086"/>
                        <a14:foregroundMark x1="66016" y1="60449" x2="66797" y2="64160"/>
                        <a14:foregroundMark x1="15709" y1="79297" x2="15625" y2="80176"/>
                        <a14:foregroundMark x1="15820" y1="78125" x2="15709" y2="79297"/>
                        <a14:foregroundMark x1="23903" y1="79102" x2="24023" y2="80664"/>
                        <a14:foregroundMark x1="23828" y1="78125" x2="23903" y2="79102"/>
                        <a14:foregroundMark x1="32324" y1="78125" x2="31055" y2="80371"/>
                        <a14:foregroundMark x1="40540" y1="79980" x2="40332" y2="80566"/>
                        <a14:foregroundMark x1="41406" y1="77539" x2="40540" y2="79980"/>
                        <a14:foregroundMark x1="48828" y1="77246" x2="48828" y2="80566"/>
                        <a14:foregroundMark x1="57910" y1="77246" x2="57227" y2="78125"/>
                        <a14:foregroundMark x1="65723" y1="77344" x2="64258" y2="79590"/>
                        <a14:foregroundMark x1="73730" y1="79004" x2="74414" y2="82129"/>
                        <a14:foregroundMark x1="81641" y1="77148" x2="81934" y2="79883"/>
                        <a14:foregroundMark x1="20898" y1="88184" x2="20898" y2="88184"/>
                        <a14:foregroundMark x1="25586" y1="87793" x2="25586" y2="87793"/>
                        <a14:foregroundMark x1="29590" y1="87793" x2="29590" y2="87793"/>
                        <a14:foregroundMark x1="33301" y1="88086" x2="33301" y2="88086"/>
                        <a14:foregroundMark x1="37500" y1="88184" x2="37500" y2="88184"/>
                        <a14:foregroundMark x1="16895" y1="88477" x2="16895" y2="88477"/>
                        <a14:foregroundMark x1="18164" y1="90820" x2="18164" y2="90820"/>
                        <a14:foregroundMark x1="16699" y1="89063" x2="16699" y2="89063"/>
                        <a14:foregroundMark x1="18652" y1="87500" x2="18652" y2="87500"/>
                        <a14:foregroundMark x1="17285" y1="87793" x2="17285" y2="87793"/>
                        <a14:foregroundMark x1="40527" y1="87500" x2="40527" y2="87500"/>
                        <a14:foregroundMark x1="43164" y1="88086" x2="43164" y2="88086"/>
                        <a14:foregroundMark x1="45605" y1="88184" x2="45605" y2="88184"/>
                        <a14:foregroundMark x1="49512" y1="88965" x2="49512" y2="88965"/>
                        <a14:foregroundMark x1="55469" y1="88965" x2="55469" y2="88965"/>
                        <a14:foregroundMark x1="59863" y1="88770" x2="59863" y2="88770"/>
                        <a14:foregroundMark x1="64746" y1="87988" x2="64746" y2="87988"/>
                        <a14:foregroundMark x1="69531" y1="88574" x2="69531" y2="88574"/>
                        <a14:foregroundMark x1="73145" y1="88770" x2="73145" y2="88770"/>
                        <a14:foregroundMark x1="76855" y1="88379" x2="76855" y2="88379"/>
                        <a14:foregroundMark x1="81348" y1="88281" x2="81348" y2="88281"/>
                        <a14:foregroundMark x1="25391" y1="90332" x2="25391" y2="90332"/>
                        <a14:foregroundMark x1="81738" y1="88379" x2="81738" y2="88379"/>
                        <a14:foregroundMark x1="81543" y1="88184" x2="81543" y2="88184"/>
                        <a14:foregroundMark x1="81738" y1="89160" x2="81738" y2="89160"/>
                        <a14:backgroundMark x1="39551" y1="11230" x2="50293" y2="10059"/>
                        <a14:backgroundMark x1="51953" y1="9668" x2="51953" y2="9668"/>
                        <a14:backgroundMark x1="50684" y1="9375" x2="52441" y2="9668"/>
                        <a14:backgroundMark x1="38672" y1="11230" x2="40039" y2="10938"/>
                        <a14:backgroundMark x1="52344" y1="9570" x2="53711" y2="9375"/>
                        <a14:backgroundMark x1="58887" y1="7715" x2="63184" y2="8887"/>
                        <a14:backgroundMark x1="48438" y1="17285" x2="48242" y2="18164"/>
                        <a14:backgroundMark x1="47656" y1="17773" x2="48535" y2="19043"/>
                        <a14:backgroundMark x1="33691" y1="31738" x2="34570" y2="33008"/>
                        <a14:backgroundMark x1="47559" y1="33496" x2="48535" y2="34473"/>
                        <a14:backgroundMark x1="86230" y1="12695" x2="86621" y2="18066"/>
                        <a14:backgroundMark x1="86621" y1="18066" x2="86133" y2="17188"/>
                        <a14:backgroundMark x1="86035" y1="15332" x2="86523" y2="20508"/>
                        <a14:backgroundMark x1="86523" y1="20508" x2="86230" y2="22363"/>
                        <a14:backgroundMark x1="17676" y1="79297" x2="17676" y2="79297"/>
                        <a14:backgroundMark x1="18359" y1="81934" x2="18359" y2="81934"/>
                        <a14:backgroundMark x1="25098" y1="79102" x2="25098" y2="79102"/>
                        <a14:backgroundMark x1="42383" y1="79980" x2="42383" y2="79980"/>
                        <a14:backgroundMark x1="22656" y1="89746" x2="22656" y2="89746"/>
                        <a14:backgroundMark x1="41504" y1="86328" x2="40332" y2="86914"/>
                        <a14:backgroundMark x1="40137" y1="87012" x2="41602" y2="87305"/>
                        <a14:backgroundMark x1="17409" y1="89063" x2="17285" y2="89746"/>
                        <a14:backgroundMark x1="17480" y1="88672" x2="17409" y2="89063"/>
                        <a14:backgroundMark x1="60449" y1="89258" x2="60449" y2="89258"/>
                        <a14:backgroundMark x1="70605" y1="88672" x2="70605" y2="88672"/>
                        <a14:backgroundMark x1="73926" y1="89355" x2="73926" y2="89355"/>
                        <a14:backgroundMark x1="25879" y1="89551" x2="25879" y2="89551"/>
                        <a14:backgroundMark x1="25781" y1="89551" x2="25781" y2="89551"/>
                        <a14:backgroundMark x1="81445" y1="87988" x2="81445" y2="87988"/>
                        <a14:backgroundMark x1="81348" y1="88086" x2="81348" y2="88086"/>
                        <a14:backgroundMark x1="81836" y1="88281" x2="81836" y2="88281"/>
                        <a14:backgroundMark x1="81738" y1="88379" x2="81738" y2="88379"/>
                        <a14:backgroundMark x1="81445" y1="88184" x2="81445" y2="88184"/>
                        <a14:backgroundMark x1="81543" y1="88281" x2="81543" y2="88281"/>
                        <a14:backgroundMark x1="81641" y1="88184" x2="81641" y2="881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2600" y="6167358"/>
            <a:ext cx="6807359" cy="6807359"/>
          </a:xfrm>
          <a:prstGeom prst="rect">
            <a:avLst/>
          </a:prstGeom>
        </p:spPr>
      </p:pic>
      <p:grpSp>
        <p:nvGrpSpPr>
          <p:cNvPr id="2" name="Group 2">
            <a:extLst>
              <a:ext uri="{FF2B5EF4-FFF2-40B4-BE49-F238E27FC236}">
                <a16:creationId xmlns:a16="http://schemas.microsoft.com/office/drawing/2014/main" id="{0C944BE0-EE23-A15C-1621-C936102A2BA5}"/>
              </a:ext>
            </a:extLst>
          </p:cNvPr>
          <p:cNvGrpSpPr/>
          <p:nvPr/>
        </p:nvGrpSpPr>
        <p:grpSpPr>
          <a:xfrm>
            <a:off x="2438400" y="3924300"/>
            <a:ext cx="3447216" cy="3941316"/>
            <a:chOff x="0" y="0"/>
            <a:chExt cx="1198766" cy="143376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3D195A-2C35-0BC6-92AB-AEF2CD5AE560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AAE50DD-6E2C-B65A-1522-4DC8B58F0B91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E273D1A-F5F7-A5C9-06D6-878E3F05D397}"/>
              </a:ext>
            </a:extLst>
          </p:cNvPr>
          <p:cNvGrpSpPr/>
          <p:nvPr/>
        </p:nvGrpSpPr>
        <p:grpSpPr>
          <a:xfrm>
            <a:off x="7486931" y="3924300"/>
            <a:ext cx="3447216" cy="3941316"/>
            <a:chOff x="0" y="0"/>
            <a:chExt cx="1198766" cy="143376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1A7C36F-7377-D949-CDF8-99C65F04119D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BBDF6EE-A4B6-5D7B-6B56-E622FB14E5DD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D785E31-B046-13C7-B933-BD93B8BBCEE0}"/>
              </a:ext>
            </a:extLst>
          </p:cNvPr>
          <p:cNvGrpSpPr/>
          <p:nvPr/>
        </p:nvGrpSpPr>
        <p:grpSpPr>
          <a:xfrm>
            <a:off x="1981200" y="3771900"/>
            <a:ext cx="3752016" cy="3941316"/>
            <a:chOff x="0" y="0"/>
            <a:chExt cx="1198766" cy="1433761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C3944A9-4AF0-DA6F-818C-8CEF94C51F5D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3B30C4F-20D5-71C4-2408-6C08EE8A3D76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957C4B5-1431-284E-96F1-4BBACB236B5B}"/>
              </a:ext>
            </a:extLst>
          </p:cNvPr>
          <p:cNvGrpSpPr/>
          <p:nvPr/>
        </p:nvGrpSpPr>
        <p:grpSpPr>
          <a:xfrm>
            <a:off x="7029902" y="3771900"/>
            <a:ext cx="3751845" cy="3941316"/>
            <a:chOff x="0" y="0"/>
            <a:chExt cx="1198766" cy="143376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4D14314-07BA-37D6-C2F2-14B7C7E65739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1283CC66-D86C-C361-DFCB-9F0D75A83B2B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D2453607-D092-0FBC-B431-30A904D0428F}"/>
              </a:ext>
            </a:extLst>
          </p:cNvPr>
          <p:cNvSpPr txBox="1"/>
          <p:nvPr/>
        </p:nvSpPr>
        <p:spPr>
          <a:xfrm>
            <a:off x="2471238" y="4950299"/>
            <a:ext cx="3166627" cy="1707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Preprocessing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Baseline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Models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Statistical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Models</a:t>
            </a:r>
          </a:p>
          <a:p>
            <a:pPr marL="342900" indent="-342900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Final doc 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file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8794ED4-C493-EF03-30EC-72C9AF25991A}"/>
              </a:ext>
            </a:extLst>
          </p:cNvPr>
          <p:cNvSpPr txBox="1"/>
          <p:nvPr/>
        </p:nvSpPr>
        <p:spPr>
          <a:xfrm>
            <a:off x="2705398" y="4128440"/>
            <a:ext cx="2323802" cy="564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Ms</a:t>
            </a: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Binder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A9A3E2A2-8009-2C04-2653-C1420A89666F}"/>
              </a:ext>
            </a:extLst>
          </p:cNvPr>
          <p:cNvSpPr txBox="1"/>
          <p:nvPr/>
        </p:nvSpPr>
        <p:spPr>
          <a:xfrm>
            <a:off x="7162800" y="4128440"/>
            <a:ext cx="3387619" cy="564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Ms</a:t>
            </a: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Salchegger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E07885C-AA56-794C-1F9A-B12FB90B6D32}"/>
              </a:ext>
            </a:extLst>
          </p:cNvPr>
          <p:cNvSpPr txBox="1"/>
          <p:nvPr/>
        </p:nvSpPr>
        <p:spPr>
          <a:xfrm>
            <a:off x="7277654" y="4950299"/>
            <a:ext cx="3272766" cy="2143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ML-Models</a:t>
            </a:r>
          </a:p>
          <a:p>
            <a:pPr marL="342900" indent="-342900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Final </a:t>
            </a: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best models 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Visualizations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Slides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6" name="Group 26">
            <a:extLst>
              <a:ext uri="{FF2B5EF4-FFF2-40B4-BE49-F238E27FC236}">
                <a16:creationId xmlns:a16="http://schemas.microsoft.com/office/drawing/2014/main" id="{6E34585A-7189-27DC-D655-85D27C99AC61}"/>
              </a:ext>
            </a:extLst>
          </p:cNvPr>
          <p:cNvGrpSpPr/>
          <p:nvPr/>
        </p:nvGrpSpPr>
        <p:grpSpPr>
          <a:xfrm>
            <a:off x="-762000" y="1363882"/>
            <a:ext cx="10729641" cy="990272"/>
            <a:chOff x="0" y="0"/>
            <a:chExt cx="5136921" cy="653141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E278D777-FD45-0E4D-7536-0880ED53FC84}"/>
                </a:ext>
              </a:extLst>
            </p:cNvPr>
            <p:cNvSpPr/>
            <p:nvPr/>
          </p:nvSpPr>
          <p:spPr>
            <a:xfrm>
              <a:off x="0" y="0"/>
              <a:ext cx="5136921" cy="653141"/>
            </a:xfrm>
            <a:custGeom>
              <a:avLst/>
              <a:gdLst/>
              <a:ahLst/>
              <a:cxnLst/>
              <a:rect l="l" t="t" r="r" b="b"/>
              <a:pathLst>
                <a:path w="5136921" h="653141">
                  <a:moveTo>
                    <a:pt x="4933721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4933721" y="653141"/>
                  </a:lnTo>
                  <a:lnTo>
                    <a:pt x="5136921" y="326570"/>
                  </a:lnTo>
                  <a:lnTo>
                    <a:pt x="4933721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112427FC-809B-819D-43CE-D67C62B82719}"/>
                </a:ext>
              </a:extLst>
            </p:cNvPr>
            <p:cNvSpPr txBox="1"/>
            <p:nvPr/>
          </p:nvSpPr>
          <p:spPr>
            <a:xfrm>
              <a:off x="0" y="-38100"/>
              <a:ext cx="5022621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>
            <a:extLst>
              <a:ext uri="{FF2B5EF4-FFF2-40B4-BE49-F238E27FC236}">
                <a16:creationId xmlns:a16="http://schemas.microsoft.com/office/drawing/2014/main" id="{0B6B530D-057C-1484-3353-039EE7EF466D}"/>
              </a:ext>
            </a:extLst>
          </p:cNvPr>
          <p:cNvSpPr txBox="1"/>
          <p:nvPr/>
        </p:nvSpPr>
        <p:spPr>
          <a:xfrm>
            <a:off x="-392105" y="1411014"/>
            <a:ext cx="10240375" cy="915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contribution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5B50E7F-D0A0-8560-020E-1269397AEB15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31" name="AutoShape 31">
            <a:extLst>
              <a:ext uri="{FF2B5EF4-FFF2-40B4-BE49-F238E27FC236}">
                <a16:creationId xmlns:a16="http://schemas.microsoft.com/office/drawing/2014/main" id="{E4EF0F9E-676F-04A2-1DE0-548809B26079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32" name="Group 8">
            <a:extLst>
              <a:ext uri="{FF2B5EF4-FFF2-40B4-BE49-F238E27FC236}">
                <a16:creationId xmlns:a16="http://schemas.microsoft.com/office/drawing/2014/main" id="{1152550C-0657-1307-8351-A845C6686CEE}"/>
              </a:ext>
            </a:extLst>
          </p:cNvPr>
          <p:cNvGrpSpPr/>
          <p:nvPr/>
        </p:nvGrpSpPr>
        <p:grpSpPr>
          <a:xfrm>
            <a:off x="12478584" y="3945384"/>
            <a:ext cx="3447216" cy="3941316"/>
            <a:chOff x="0" y="0"/>
            <a:chExt cx="1198766" cy="1433761"/>
          </a:xfrm>
        </p:grpSpPr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ECE752EE-0E07-062A-3248-A5DC7DD890A9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4" name="TextBox 10">
              <a:extLst>
                <a:ext uri="{FF2B5EF4-FFF2-40B4-BE49-F238E27FC236}">
                  <a16:creationId xmlns:a16="http://schemas.microsoft.com/office/drawing/2014/main" id="{0AAC13F1-47D6-2F44-E276-8AD6599F9FA1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17">
            <a:extLst>
              <a:ext uri="{FF2B5EF4-FFF2-40B4-BE49-F238E27FC236}">
                <a16:creationId xmlns:a16="http://schemas.microsoft.com/office/drawing/2014/main" id="{EBC6E30F-8373-7B6C-11B7-3C2B0C163707}"/>
              </a:ext>
            </a:extLst>
          </p:cNvPr>
          <p:cNvGrpSpPr/>
          <p:nvPr/>
        </p:nvGrpSpPr>
        <p:grpSpPr>
          <a:xfrm>
            <a:off x="12078433" y="3792984"/>
            <a:ext cx="3694967" cy="3941316"/>
            <a:chOff x="0" y="0"/>
            <a:chExt cx="1198766" cy="1433761"/>
          </a:xfrm>
        </p:grpSpPr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1FB54055-E9A9-244F-4CB1-15BB5A45E8EA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7" name="TextBox 19">
              <a:extLst>
                <a:ext uri="{FF2B5EF4-FFF2-40B4-BE49-F238E27FC236}">
                  <a16:creationId xmlns:a16="http://schemas.microsoft.com/office/drawing/2014/main" id="{5BFD26E8-9B97-9456-F633-E546600F67F7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24">
            <a:extLst>
              <a:ext uri="{FF2B5EF4-FFF2-40B4-BE49-F238E27FC236}">
                <a16:creationId xmlns:a16="http://schemas.microsoft.com/office/drawing/2014/main" id="{0D1800A4-549D-6978-9A47-BE959CFC1812}"/>
              </a:ext>
            </a:extLst>
          </p:cNvPr>
          <p:cNvSpPr txBox="1"/>
          <p:nvPr/>
        </p:nvSpPr>
        <p:spPr>
          <a:xfrm>
            <a:off x="12496800" y="4149524"/>
            <a:ext cx="2990016" cy="564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Ms</a:t>
            </a: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Kern</a:t>
            </a: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35CCB615-427E-8D59-558B-DD2B54FBB68D}"/>
              </a:ext>
            </a:extLst>
          </p:cNvPr>
          <p:cNvSpPr txBox="1"/>
          <p:nvPr/>
        </p:nvSpPr>
        <p:spPr>
          <a:xfrm>
            <a:off x="12326184" y="4950299"/>
            <a:ext cx="3256418" cy="1707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Github</a:t>
            </a: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repo 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setup</a:t>
            </a:r>
          </a:p>
          <a:p>
            <a:pPr marL="342900" indent="-342900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Helper functions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Neural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Models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Slides</a:t>
            </a:r>
          </a:p>
        </p:txBody>
      </p:sp>
    </p:spTree>
    <p:extLst>
      <p:ext uri="{BB962C8B-B14F-4D97-AF65-F5344CB8AC3E}">
        <p14:creationId xmlns:p14="http://schemas.microsoft.com/office/powerpoint/2010/main" val="121020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10791" y="4297972"/>
            <a:ext cx="10548509" cy="1185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Providing </a:t>
            </a:r>
            <a:r>
              <a:rPr lang="en-US" sz="36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temperature prediction </a:t>
            </a:r>
            <a:br>
              <a:rPr lang="en-US" sz="3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3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 </a:t>
            </a:r>
            <a:r>
              <a:rPr lang="en-US" sz="36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energy consumption estimate</a:t>
            </a:r>
            <a:endParaRPr lang="en-US" sz="3399" b="1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715230" y="6218733"/>
            <a:ext cx="10353936" cy="1179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Showcase </a:t>
            </a:r>
            <a:r>
              <a:rPr lang="en-US" sz="3399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current method 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used </a:t>
            </a:r>
            <a:b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and </a:t>
            </a:r>
            <a:r>
              <a:rPr lang="en-US" sz="3399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current success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1197824" y="1878992"/>
            <a:ext cx="5841871" cy="1577554"/>
            <a:chOff x="0" y="0"/>
            <a:chExt cx="2418659" cy="6531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4800" y="2214890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766747" y="4435931"/>
            <a:ext cx="4640821" cy="990272"/>
            <a:chOff x="0" y="0"/>
            <a:chExt cx="3060886" cy="6531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033330" y="4635792"/>
            <a:ext cx="379103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Company Overview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66747" y="6349821"/>
            <a:ext cx="4640821" cy="990272"/>
            <a:chOff x="0" y="0"/>
            <a:chExt cx="3060886" cy="65314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033330" y="6549683"/>
            <a:ext cx="422447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Purpose of the Report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23" name="Freeform 23"/>
          <p:cNvSpPr/>
          <p:nvPr/>
        </p:nvSpPr>
        <p:spPr>
          <a:xfrm rot="5400000">
            <a:off x="16429362" y="88843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pic>
        <p:nvPicPr>
          <p:cNvPr id="4" name="Grafik 3" descr="Ein Bild, das Text, Logo, Grafiken, Schrift enthält.&#10;&#10;KI-generierte Inhalte können fehlerhaft sein.">
            <a:extLst>
              <a:ext uri="{FF2B5EF4-FFF2-40B4-BE49-F238E27FC236}">
                <a16:creationId xmlns:a16="http://schemas.microsoft.com/office/drawing/2014/main" id="{C11C29E6-61C8-561B-D97B-7B47C9F2273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105" b="90820" l="9961" r="89844">
                        <a14:foregroundMark x1="40820" y1="28711" x2="40820" y2="28711"/>
                        <a14:foregroundMark x1="39258" y1="17285" x2="39258" y2="17285"/>
                        <a14:foregroundMark x1="53936" y1="8989" x2="58368" y2="8391"/>
                        <a14:foregroundMark x1="38965" y1="15332" x2="39160" y2="18652"/>
                        <a14:foregroundMark x1="30664" y1="19043" x2="33496" y2="21387"/>
                        <a14:foregroundMark x1="27441" y1="26953" x2="31250" y2="26855"/>
                        <a14:foregroundMark x1="39160" y1="34863" x2="39355" y2="37402"/>
                        <a14:foregroundMark x1="44824" y1="33203" x2="47144" y2="33821"/>
                        <a14:foregroundMark x1="47754" y1="26855" x2="50879" y2="26367"/>
                        <a14:foregroundMark x1="32715" y1="33789" x2="32129" y2="35059"/>
                        <a14:foregroundMark x1="44922" y1="20313" x2="46191" y2="19824"/>
                        <a14:foregroundMark x1="68066" y1="33594" x2="67578" y2="55469"/>
                        <a14:foregroundMark x1="26465" y1="52637" x2="26563" y2="60156"/>
                        <a14:foregroundMark x1="34082" y1="48438" x2="33984" y2="58887"/>
                        <a14:foregroundMark x1="42676" y1="55078" x2="42773" y2="61035"/>
                        <a14:foregroundMark x1="50195" y1="49609" x2="50195" y2="57227"/>
                        <a14:foregroundMark x1="59277" y1="56738" x2="60059" y2="63086"/>
                        <a14:foregroundMark x1="66016" y1="60449" x2="66797" y2="64160"/>
                        <a14:foregroundMark x1="15709" y1="79297" x2="15625" y2="80176"/>
                        <a14:foregroundMark x1="15820" y1="78125" x2="15709" y2="79297"/>
                        <a14:foregroundMark x1="23903" y1="79102" x2="24023" y2="80664"/>
                        <a14:foregroundMark x1="23828" y1="78125" x2="23903" y2="79102"/>
                        <a14:foregroundMark x1="32324" y1="78125" x2="31055" y2="80371"/>
                        <a14:foregroundMark x1="40540" y1="79980" x2="40332" y2="80566"/>
                        <a14:foregroundMark x1="41406" y1="77539" x2="40540" y2="79980"/>
                        <a14:foregroundMark x1="48828" y1="77246" x2="48828" y2="80566"/>
                        <a14:foregroundMark x1="57910" y1="77246" x2="57227" y2="78125"/>
                        <a14:foregroundMark x1="65723" y1="77344" x2="64258" y2="79590"/>
                        <a14:foregroundMark x1="73730" y1="79004" x2="74414" y2="82129"/>
                        <a14:foregroundMark x1="81641" y1="77148" x2="81934" y2="79883"/>
                        <a14:foregroundMark x1="20898" y1="88184" x2="20898" y2="88184"/>
                        <a14:foregroundMark x1="25586" y1="87793" x2="25586" y2="87793"/>
                        <a14:foregroundMark x1="29590" y1="87793" x2="29590" y2="87793"/>
                        <a14:foregroundMark x1="33301" y1="88086" x2="33301" y2="88086"/>
                        <a14:foregroundMark x1="37500" y1="88184" x2="37500" y2="88184"/>
                        <a14:foregroundMark x1="16895" y1="88477" x2="16895" y2="88477"/>
                        <a14:foregroundMark x1="18164" y1="90820" x2="18164" y2="90820"/>
                        <a14:foregroundMark x1="16699" y1="89063" x2="16699" y2="89063"/>
                        <a14:foregroundMark x1="18652" y1="87500" x2="18652" y2="87500"/>
                        <a14:foregroundMark x1="17285" y1="87793" x2="17285" y2="87793"/>
                        <a14:foregroundMark x1="40527" y1="87500" x2="40527" y2="87500"/>
                        <a14:foregroundMark x1="43164" y1="88086" x2="43164" y2="88086"/>
                        <a14:foregroundMark x1="45605" y1="88184" x2="45605" y2="88184"/>
                        <a14:foregroundMark x1="49512" y1="88965" x2="49512" y2="88965"/>
                        <a14:foregroundMark x1="55469" y1="88965" x2="55469" y2="88965"/>
                        <a14:foregroundMark x1="59863" y1="88770" x2="59863" y2="88770"/>
                        <a14:foregroundMark x1="64746" y1="87988" x2="64746" y2="87988"/>
                        <a14:foregroundMark x1="69531" y1="88574" x2="69531" y2="88574"/>
                        <a14:foregroundMark x1="73145" y1="88770" x2="73145" y2="88770"/>
                        <a14:foregroundMark x1="76855" y1="88379" x2="76855" y2="88379"/>
                        <a14:foregroundMark x1="81348" y1="88281" x2="81348" y2="88281"/>
                        <a14:foregroundMark x1="25391" y1="90332" x2="25391" y2="90332"/>
                        <a14:foregroundMark x1="81738" y1="88379" x2="81738" y2="88379"/>
                        <a14:foregroundMark x1="81543" y1="88184" x2="81543" y2="88184"/>
                        <a14:foregroundMark x1="81738" y1="89160" x2="81738" y2="89160"/>
                        <a14:backgroundMark x1="39551" y1="11230" x2="50293" y2="10059"/>
                        <a14:backgroundMark x1="51953" y1="9668" x2="51953" y2="9668"/>
                        <a14:backgroundMark x1="50684" y1="9375" x2="52441" y2="9668"/>
                        <a14:backgroundMark x1="38672" y1="11230" x2="40039" y2="10938"/>
                        <a14:backgroundMark x1="52344" y1="9570" x2="53711" y2="9375"/>
                        <a14:backgroundMark x1="58887" y1="7715" x2="63184" y2="8887"/>
                        <a14:backgroundMark x1="48438" y1="17285" x2="48242" y2="18164"/>
                        <a14:backgroundMark x1="47656" y1="17773" x2="48535" y2="19043"/>
                        <a14:backgroundMark x1="33691" y1="31738" x2="34570" y2="33008"/>
                        <a14:backgroundMark x1="47559" y1="33496" x2="48535" y2="34473"/>
                        <a14:backgroundMark x1="86230" y1="12695" x2="86621" y2="18066"/>
                        <a14:backgroundMark x1="86621" y1="18066" x2="86133" y2="17188"/>
                        <a14:backgroundMark x1="86035" y1="15332" x2="86523" y2="20508"/>
                        <a14:backgroundMark x1="86523" y1="20508" x2="86230" y2="22363"/>
                        <a14:backgroundMark x1="17676" y1="79297" x2="17676" y2="79297"/>
                        <a14:backgroundMark x1="18359" y1="81934" x2="18359" y2="81934"/>
                        <a14:backgroundMark x1="25098" y1="79102" x2="25098" y2="79102"/>
                        <a14:backgroundMark x1="42383" y1="79980" x2="42383" y2="79980"/>
                        <a14:backgroundMark x1="22656" y1="89746" x2="22656" y2="89746"/>
                        <a14:backgroundMark x1="41504" y1="86328" x2="40332" y2="86914"/>
                        <a14:backgroundMark x1="40137" y1="87012" x2="41602" y2="87305"/>
                        <a14:backgroundMark x1="17409" y1="89063" x2="17285" y2="89746"/>
                        <a14:backgroundMark x1="17480" y1="88672" x2="17409" y2="89063"/>
                        <a14:backgroundMark x1="60449" y1="89258" x2="60449" y2="89258"/>
                        <a14:backgroundMark x1="70605" y1="88672" x2="70605" y2="88672"/>
                        <a14:backgroundMark x1="73926" y1="89355" x2="73926" y2="89355"/>
                        <a14:backgroundMark x1="25879" y1="89551" x2="25879" y2="89551"/>
                        <a14:backgroundMark x1="25781" y1="89551" x2="25781" y2="89551"/>
                        <a14:backgroundMark x1="81445" y1="87988" x2="81445" y2="87988"/>
                        <a14:backgroundMark x1="81348" y1="88086" x2="81348" y2="88086"/>
                        <a14:backgroundMark x1="81836" y1="88281" x2="81836" y2="88281"/>
                        <a14:backgroundMark x1="81738" y1="88379" x2="81738" y2="88379"/>
                        <a14:backgroundMark x1="81445" y1="88184" x2="81445" y2="88184"/>
                        <a14:backgroundMark x1="81543" y1="88281" x2="81543" y2="88281"/>
                        <a14:backgroundMark x1="81641" y1="88184" x2="81641" y2="881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5486" y="6511583"/>
            <a:ext cx="6807359" cy="68073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83C60-03AD-19EB-721E-1DF13EECD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9DF550F-BDB5-4091-3284-C83FB48A2F85}"/>
              </a:ext>
            </a:extLst>
          </p:cNvPr>
          <p:cNvSpPr txBox="1"/>
          <p:nvPr/>
        </p:nvSpPr>
        <p:spPr>
          <a:xfrm>
            <a:off x="6468044" y="4610100"/>
            <a:ext cx="10548509" cy="1179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Best model has a </a:t>
            </a:r>
            <a:r>
              <a:rPr lang="en-US" sz="3399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MAE of 3 degrees </a:t>
            </a:r>
            <a:br>
              <a:rPr lang="en-US" sz="3399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over a </a:t>
            </a:r>
            <a:r>
              <a:rPr lang="en-US" sz="3399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span of 5 years prediction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449A4BD-94C4-0693-F74C-6799D09CC55F}"/>
              </a:ext>
            </a:extLst>
          </p:cNvPr>
          <p:cNvSpPr txBox="1"/>
          <p:nvPr/>
        </p:nvSpPr>
        <p:spPr>
          <a:xfrm>
            <a:off x="6468044" y="6630818"/>
            <a:ext cx="10353936" cy="1179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Able to </a:t>
            </a:r>
            <a:r>
              <a:rPr lang="en-US" sz="3399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look at typical weather </a:t>
            </a:r>
            <a:r>
              <a:rPr lang="en-US" sz="3399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behaviour</a:t>
            </a:r>
            <a:r>
              <a:rPr lang="en-US" sz="3399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3399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even </a:t>
            </a:r>
            <a:r>
              <a:rPr lang="en-US" sz="3399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years in advance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04D84E9-0B63-B012-83B5-AE42310A47CB}"/>
              </a:ext>
            </a:extLst>
          </p:cNvPr>
          <p:cNvGrpSpPr/>
          <p:nvPr/>
        </p:nvGrpSpPr>
        <p:grpSpPr>
          <a:xfrm>
            <a:off x="-1197824" y="1878992"/>
            <a:ext cx="5841871" cy="1577554"/>
            <a:chOff x="0" y="0"/>
            <a:chExt cx="2418659" cy="65314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85DF47D-00D0-F676-7C18-38152154EC18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D1D1AE1-5711-9D06-D188-814D774C5F17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867EFF78-B9CF-6DB4-2362-37C82BDF88A9}"/>
              </a:ext>
            </a:extLst>
          </p:cNvPr>
          <p:cNvSpPr txBox="1"/>
          <p:nvPr/>
        </p:nvSpPr>
        <p:spPr>
          <a:xfrm>
            <a:off x="304800" y="2214890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Solution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F4436A34-323C-F316-F357-1AFA89C4CCAC}"/>
              </a:ext>
            </a:extLst>
          </p:cNvPr>
          <p:cNvGrpSpPr/>
          <p:nvPr/>
        </p:nvGrpSpPr>
        <p:grpSpPr>
          <a:xfrm>
            <a:off x="1524000" y="4780249"/>
            <a:ext cx="4640821" cy="990272"/>
            <a:chOff x="0" y="0"/>
            <a:chExt cx="3060886" cy="65314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50FACA6-0BA4-5517-6592-203F15BD2E45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528C26A-3535-1EB2-641F-B009034D3B99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25B62BC5-82CD-8F65-6E50-9C411FCA02CD}"/>
              </a:ext>
            </a:extLst>
          </p:cNvPr>
          <p:cNvSpPr txBox="1"/>
          <p:nvPr/>
        </p:nvSpPr>
        <p:spPr>
          <a:xfrm>
            <a:off x="1790583" y="4980110"/>
            <a:ext cx="3791038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Good results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46858C0-C421-5DCC-6911-2EC9F0B751D6}"/>
              </a:ext>
            </a:extLst>
          </p:cNvPr>
          <p:cNvGrpSpPr/>
          <p:nvPr/>
        </p:nvGrpSpPr>
        <p:grpSpPr>
          <a:xfrm>
            <a:off x="1524000" y="6694139"/>
            <a:ext cx="4640821" cy="990272"/>
            <a:chOff x="0" y="0"/>
            <a:chExt cx="3060886" cy="653141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D6AF5B4-1A1E-E3C7-70E4-199E1C0A01EC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6A88057F-628B-EA4E-B4E8-047BAA8F2042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DC22BCA7-4FC9-0562-B641-EAF5A76B7219}"/>
              </a:ext>
            </a:extLst>
          </p:cNvPr>
          <p:cNvSpPr txBox="1"/>
          <p:nvPr/>
        </p:nvSpPr>
        <p:spPr>
          <a:xfrm>
            <a:off x="1790583" y="6894001"/>
            <a:ext cx="42244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Reliable delivery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3BBD04D-7B98-5FFC-788C-AD9D7C443DEA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5103ECF7-AC79-8FF7-A4F8-B296014055E4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3BD131F6-BEEE-030A-0E6F-046842263677}"/>
              </a:ext>
            </a:extLst>
          </p:cNvPr>
          <p:cNvSpPr/>
          <p:nvPr/>
        </p:nvSpPr>
        <p:spPr>
          <a:xfrm rot="5400000">
            <a:off x="16429362" y="88843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pic>
        <p:nvPicPr>
          <p:cNvPr id="17" name="Grafik 16" descr="Ein Bild, das Text, Logo, Grafiken, Schrift enthält.&#10;&#10;KI-generierte Inhalte können fehlerhaft sein.">
            <a:extLst>
              <a:ext uri="{FF2B5EF4-FFF2-40B4-BE49-F238E27FC236}">
                <a16:creationId xmlns:a16="http://schemas.microsoft.com/office/drawing/2014/main" id="{FED2944F-8C9B-A65E-911C-86461A987F2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alphaModFix amt="20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105" b="90820" l="9961" r="89844">
                        <a14:foregroundMark x1="40820" y1="28711" x2="40820" y2="28711"/>
                        <a14:foregroundMark x1="39258" y1="17285" x2="39258" y2="17285"/>
                        <a14:foregroundMark x1="53936" y1="8989" x2="58368" y2="8391"/>
                        <a14:foregroundMark x1="38965" y1="15332" x2="39160" y2="18652"/>
                        <a14:foregroundMark x1="30664" y1="19043" x2="33496" y2="21387"/>
                        <a14:foregroundMark x1="27441" y1="26953" x2="31250" y2="26855"/>
                        <a14:foregroundMark x1="39160" y1="34863" x2="39355" y2="37402"/>
                        <a14:foregroundMark x1="44824" y1="33203" x2="47144" y2="33821"/>
                        <a14:foregroundMark x1="47754" y1="26855" x2="50879" y2="26367"/>
                        <a14:foregroundMark x1="32715" y1="33789" x2="32129" y2="35059"/>
                        <a14:foregroundMark x1="44922" y1="20313" x2="46191" y2="19824"/>
                        <a14:foregroundMark x1="68066" y1="33594" x2="67578" y2="55469"/>
                        <a14:foregroundMark x1="26465" y1="52637" x2="26563" y2="60156"/>
                        <a14:foregroundMark x1="34082" y1="48438" x2="33984" y2="58887"/>
                        <a14:foregroundMark x1="42676" y1="55078" x2="42773" y2="61035"/>
                        <a14:foregroundMark x1="50195" y1="49609" x2="50195" y2="57227"/>
                        <a14:foregroundMark x1="59277" y1="56738" x2="60059" y2="63086"/>
                        <a14:foregroundMark x1="66016" y1="60449" x2="66797" y2="64160"/>
                        <a14:foregroundMark x1="15709" y1="79297" x2="15625" y2="80176"/>
                        <a14:foregroundMark x1="15820" y1="78125" x2="15709" y2="79297"/>
                        <a14:foregroundMark x1="23903" y1="79102" x2="24023" y2="80664"/>
                        <a14:foregroundMark x1="23828" y1="78125" x2="23903" y2="79102"/>
                        <a14:foregroundMark x1="32324" y1="78125" x2="31055" y2="80371"/>
                        <a14:foregroundMark x1="40540" y1="79980" x2="40332" y2="80566"/>
                        <a14:foregroundMark x1="41406" y1="77539" x2="40540" y2="79980"/>
                        <a14:foregroundMark x1="48828" y1="77246" x2="48828" y2="80566"/>
                        <a14:foregroundMark x1="57910" y1="77246" x2="57227" y2="78125"/>
                        <a14:foregroundMark x1="65723" y1="77344" x2="64258" y2="79590"/>
                        <a14:foregroundMark x1="73730" y1="79004" x2="74414" y2="82129"/>
                        <a14:foregroundMark x1="81641" y1="77148" x2="81934" y2="79883"/>
                        <a14:foregroundMark x1="20898" y1="88184" x2="20898" y2="88184"/>
                        <a14:foregroundMark x1="25586" y1="87793" x2="25586" y2="87793"/>
                        <a14:foregroundMark x1="29590" y1="87793" x2="29590" y2="87793"/>
                        <a14:foregroundMark x1="33301" y1="88086" x2="33301" y2="88086"/>
                        <a14:foregroundMark x1="37500" y1="88184" x2="37500" y2="88184"/>
                        <a14:foregroundMark x1="16895" y1="88477" x2="16895" y2="88477"/>
                        <a14:foregroundMark x1="18164" y1="90820" x2="18164" y2="90820"/>
                        <a14:foregroundMark x1="16699" y1="89063" x2="16699" y2="89063"/>
                        <a14:foregroundMark x1="18652" y1="87500" x2="18652" y2="87500"/>
                        <a14:foregroundMark x1="17285" y1="87793" x2="17285" y2="87793"/>
                        <a14:foregroundMark x1="40527" y1="87500" x2="40527" y2="87500"/>
                        <a14:foregroundMark x1="43164" y1="88086" x2="43164" y2="88086"/>
                        <a14:foregroundMark x1="45605" y1="88184" x2="45605" y2="88184"/>
                        <a14:foregroundMark x1="49512" y1="88965" x2="49512" y2="88965"/>
                        <a14:foregroundMark x1="55469" y1="88965" x2="55469" y2="88965"/>
                        <a14:foregroundMark x1="59863" y1="88770" x2="59863" y2="88770"/>
                        <a14:foregroundMark x1="64746" y1="87988" x2="64746" y2="87988"/>
                        <a14:foregroundMark x1="69531" y1="88574" x2="69531" y2="88574"/>
                        <a14:foregroundMark x1="73145" y1="88770" x2="73145" y2="88770"/>
                        <a14:foregroundMark x1="76855" y1="88379" x2="76855" y2="88379"/>
                        <a14:foregroundMark x1="81348" y1="88281" x2="81348" y2="88281"/>
                        <a14:foregroundMark x1="25391" y1="90332" x2="25391" y2="90332"/>
                        <a14:foregroundMark x1="81738" y1="88379" x2="81738" y2="88379"/>
                        <a14:foregroundMark x1="81543" y1="88184" x2="81543" y2="88184"/>
                        <a14:foregroundMark x1="81738" y1="89160" x2="81738" y2="89160"/>
                        <a14:backgroundMark x1="39551" y1="11230" x2="50293" y2="10059"/>
                        <a14:backgroundMark x1="51953" y1="9668" x2="51953" y2="9668"/>
                        <a14:backgroundMark x1="50684" y1="9375" x2="52441" y2="9668"/>
                        <a14:backgroundMark x1="38672" y1="11230" x2="40039" y2="10938"/>
                        <a14:backgroundMark x1="52344" y1="9570" x2="53711" y2="9375"/>
                        <a14:backgroundMark x1="58887" y1="7715" x2="63184" y2="8887"/>
                        <a14:backgroundMark x1="48438" y1="17285" x2="48242" y2="18164"/>
                        <a14:backgroundMark x1="47656" y1="17773" x2="48535" y2="19043"/>
                        <a14:backgroundMark x1="33691" y1="31738" x2="34570" y2="33008"/>
                        <a14:backgroundMark x1="47559" y1="33496" x2="48535" y2="34473"/>
                        <a14:backgroundMark x1="86230" y1="12695" x2="86621" y2="18066"/>
                        <a14:backgroundMark x1="86621" y1="18066" x2="86133" y2="17188"/>
                        <a14:backgroundMark x1="86035" y1="15332" x2="86523" y2="20508"/>
                        <a14:backgroundMark x1="86523" y1="20508" x2="86230" y2="22363"/>
                        <a14:backgroundMark x1="17676" y1="79297" x2="17676" y2="79297"/>
                        <a14:backgroundMark x1="18359" y1="81934" x2="18359" y2="81934"/>
                        <a14:backgroundMark x1="25098" y1="79102" x2="25098" y2="79102"/>
                        <a14:backgroundMark x1="42383" y1="79980" x2="42383" y2="79980"/>
                        <a14:backgroundMark x1="22656" y1="89746" x2="22656" y2="89746"/>
                        <a14:backgroundMark x1="41504" y1="86328" x2="40332" y2="86914"/>
                        <a14:backgroundMark x1="40137" y1="87012" x2="41602" y2="87305"/>
                        <a14:backgroundMark x1="17409" y1="89063" x2="17285" y2="89746"/>
                        <a14:backgroundMark x1="17480" y1="88672" x2="17409" y2="89063"/>
                        <a14:backgroundMark x1="60449" y1="89258" x2="60449" y2="89258"/>
                        <a14:backgroundMark x1="70605" y1="88672" x2="70605" y2="88672"/>
                        <a14:backgroundMark x1="73926" y1="89355" x2="73926" y2="89355"/>
                        <a14:backgroundMark x1="25879" y1="89551" x2="25879" y2="89551"/>
                        <a14:backgroundMark x1="25781" y1="89551" x2="25781" y2="89551"/>
                        <a14:backgroundMark x1="81445" y1="87988" x2="81445" y2="87988"/>
                        <a14:backgroundMark x1="81348" y1="88086" x2="81348" y2="88086"/>
                        <a14:backgroundMark x1="81836" y1="88281" x2="81836" y2="88281"/>
                        <a14:backgroundMark x1="81738" y1="88379" x2="81738" y2="88379"/>
                        <a14:backgroundMark x1="81445" y1="88184" x2="81445" y2="88184"/>
                        <a14:backgroundMark x1="81543" y1="88281" x2="81543" y2="88281"/>
                        <a14:backgroundMark x1="81641" y1="88184" x2="81641" y2="881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9579" y="7269357"/>
            <a:ext cx="6807359" cy="680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43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94310-5ED0-0DCA-AD5C-4D813109B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BBD0FC0-F7FC-9D4D-0531-F7EAB4DD347D}"/>
              </a:ext>
            </a:extLst>
          </p:cNvPr>
          <p:cNvSpPr txBox="1"/>
          <p:nvPr/>
        </p:nvSpPr>
        <p:spPr>
          <a:xfrm>
            <a:off x="6710791" y="4310968"/>
            <a:ext cx="10548509" cy="1795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  <a:hlinkClick r:id="rId2"/>
              </a:rPr>
              <a:t>https://dev.meteostat.net/bulk/daily.html</a:t>
            </a:r>
            <a:b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https://dev.meteostat.net/data</a:t>
            </a:r>
            <a:b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 lang="en-US" sz="3399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E1BF624-DFD5-3AB2-6C1B-3672ACBEDD2A}"/>
              </a:ext>
            </a:extLst>
          </p:cNvPr>
          <p:cNvSpPr txBox="1"/>
          <p:nvPr/>
        </p:nvSpPr>
        <p:spPr>
          <a:xfrm>
            <a:off x="6710791" y="6560571"/>
            <a:ext cx="10353936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daily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E478002-46EF-C05E-5978-98AC202AC5F7}"/>
              </a:ext>
            </a:extLst>
          </p:cNvPr>
          <p:cNvSpPr txBox="1"/>
          <p:nvPr/>
        </p:nvSpPr>
        <p:spPr>
          <a:xfrm>
            <a:off x="6710791" y="8430106"/>
            <a:ext cx="10353936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CSV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format from the get-go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FE254E69-5036-9FD8-C5A1-AA54AC03A58B}"/>
              </a:ext>
            </a:extLst>
          </p:cNvPr>
          <p:cNvGrpSpPr/>
          <p:nvPr/>
        </p:nvGrpSpPr>
        <p:grpSpPr>
          <a:xfrm>
            <a:off x="-1197824" y="1878992"/>
            <a:ext cx="6379424" cy="1577554"/>
            <a:chOff x="0" y="0"/>
            <a:chExt cx="2418659" cy="65314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9D25A2D-1CEB-912D-9970-6DFD5A6AAA2A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1A572B7-E250-0D34-91BB-06D2531597B2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7C7BA87A-12F1-4B34-5F49-C7F08DED022C}"/>
              </a:ext>
            </a:extLst>
          </p:cNvPr>
          <p:cNvSpPr txBox="1"/>
          <p:nvPr/>
        </p:nvSpPr>
        <p:spPr>
          <a:xfrm>
            <a:off x="304800" y="2214890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Source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BDD9D64C-7032-E29F-58D0-BC4793AE8B36}"/>
              </a:ext>
            </a:extLst>
          </p:cNvPr>
          <p:cNvGrpSpPr/>
          <p:nvPr/>
        </p:nvGrpSpPr>
        <p:grpSpPr>
          <a:xfrm>
            <a:off x="1766747" y="4435931"/>
            <a:ext cx="4640821" cy="990272"/>
            <a:chOff x="0" y="0"/>
            <a:chExt cx="3060886" cy="65314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D8C3F1C-B61E-4EEF-6B0A-1C7857BD52CC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B095CD3-9C64-9120-FB5A-66ABEC8F6708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8FD3AF9F-00BC-BDBE-BE2F-056017ACBF55}"/>
              </a:ext>
            </a:extLst>
          </p:cNvPr>
          <p:cNvSpPr txBox="1"/>
          <p:nvPr/>
        </p:nvSpPr>
        <p:spPr>
          <a:xfrm>
            <a:off x="2033330" y="4635792"/>
            <a:ext cx="3791038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Website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EFE0876-197E-56F1-C9F2-C49B8A46E312}"/>
              </a:ext>
            </a:extLst>
          </p:cNvPr>
          <p:cNvGrpSpPr/>
          <p:nvPr/>
        </p:nvGrpSpPr>
        <p:grpSpPr>
          <a:xfrm>
            <a:off x="1766747" y="6349821"/>
            <a:ext cx="4640821" cy="990272"/>
            <a:chOff x="0" y="0"/>
            <a:chExt cx="3060886" cy="653141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FC50CF4-DE0D-557C-05C4-C8CF87917C5B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F592610-CC37-439D-1B56-1B384423F6D7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D4EC9B19-E498-36C0-A95C-798EF6B7C806}"/>
              </a:ext>
            </a:extLst>
          </p:cNvPr>
          <p:cNvSpPr txBox="1"/>
          <p:nvPr/>
        </p:nvSpPr>
        <p:spPr>
          <a:xfrm>
            <a:off x="2033330" y="6549683"/>
            <a:ext cx="42244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Updates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A30FF26-6ABA-4CB0-A0BB-3FABC200FB59}"/>
              </a:ext>
            </a:extLst>
          </p:cNvPr>
          <p:cNvGrpSpPr/>
          <p:nvPr/>
        </p:nvGrpSpPr>
        <p:grpSpPr>
          <a:xfrm>
            <a:off x="1723111" y="8268028"/>
            <a:ext cx="4640821" cy="990272"/>
            <a:chOff x="0" y="0"/>
            <a:chExt cx="3060886" cy="653141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0C72B11-497E-92EF-402E-D4B174734FCB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65A810F-CD0F-B439-822B-706147CD36FA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CB70A2FF-42B6-D2BF-8102-F6010B33DF7D}"/>
              </a:ext>
            </a:extLst>
          </p:cNvPr>
          <p:cNvSpPr txBox="1"/>
          <p:nvPr/>
        </p:nvSpPr>
        <p:spPr>
          <a:xfrm>
            <a:off x="1989694" y="8467889"/>
            <a:ext cx="42244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Format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54D7C73-3F2C-0F73-3B17-B20787DA6E4F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358EC904-DF29-CF80-5CC4-37F3EFDE63B1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4AE69A20-6D0C-4BDB-9B0D-9CC37ED7968B}"/>
              </a:ext>
            </a:extLst>
          </p:cNvPr>
          <p:cNvSpPr/>
          <p:nvPr/>
        </p:nvSpPr>
        <p:spPr>
          <a:xfrm rot="5400000">
            <a:off x="16429362" y="88843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pic>
        <p:nvPicPr>
          <p:cNvPr id="26" name="Grafik 25" descr="Ein Bild, das Text, Logo, Grafiken, Schrift enthält.&#10;&#10;KI-generierte Inhalte können fehlerhaft sein.">
            <a:extLst>
              <a:ext uri="{FF2B5EF4-FFF2-40B4-BE49-F238E27FC236}">
                <a16:creationId xmlns:a16="http://schemas.microsoft.com/office/drawing/2014/main" id="{DBF0284F-6280-4866-813F-3B71F32DB46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alphaModFix amt="20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105" b="90820" l="9961" r="89844">
                        <a14:foregroundMark x1="40820" y1="28711" x2="40820" y2="28711"/>
                        <a14:foregroundMark x1="39258" y1="17285" x2="39258" y2="17285"/>
                        <a14:foregroundMark x1="53936" y1="8989" x2="58368" y2="8391"/>
                        <a14:foregroundMark x1="38965" y1="15332" x2="39160" y2="18652"/>
                        <a14:foregroundMark x1="30664" y1="19043" x2="33496" y2="21387"/>
                        <a14:foregroundMark x1="27441" y1="26953" x2="31250" y2="26855"/>
                        <a14:foregroundMark x1="39160" y1="34863" x2="39355" y2="37402"/>
                        <a14:foregroundMark x1="44824" y1="33203" x2="47144" y2="33821"/>
                        <a14:foregroundMark x1="47754" y1="26855" x2="50879" y2="26367"/>
                        <a14:foregroundMark x1="32715" y1="33789" x2="32129" y2="35059"/>
                        <a14:foregroundMark x1="44922" y1="20313" x2="46191" y2="19824"/>
                        <a14:foregroundMark x1="68066" y1="33594" x2="67578" y2="55469"/>
                        <a14:foregroundMark x1="26465" y1="52637" x2="26563" y2="60156"/>
                        <a14:foregroundMark x1="34082" y1="48438" x2="33984" y2="58887"/>
                        <a14:foregroundMark x1="42676" y1="55078" x2="42773" y2="61035"/>
                        <a14:foregroundMark x1="50195" y1="49609" x2="50195" y2="57227"/>
                        <a14:foregroundMark x1="59277" y1="56738" x2="60059" y2="63086"/>
                        <a14:foregroundMark x1="66016" y1="60449" x2="66797" y2="64160"/>
                        <a14:foregroundMark x1="15709" y1="79297" x2="15625" y2="80176"/>
                        <a14:foregroundMark x1="15820" y1="78125" x2="15709" y2="79297"/>
                        <a14:foregroundMark x1="23903" y1="79102" x2="24023" y2="80664"/>
                        <a14:foregroundMark x1="23828" y1="78125" x2="23903" y2="79102"/>
                        <a14:foregroundMark x1="32324" y1="78125" x2="31055" y2="80371"/>
                        <a14:foregroundMark x1="40540" y1="79980" x2="40332" y2="80566"/>
                        <a14:foregroundMark x1="41406" y1="77539" x2="40540" y2="79980"/>
                        <a14:foregroundMark x1="48828" y1="77246" x2="48828" y2="80566"/>
                        <a14:foregroundMark x1="57910" y1="77246" x2="57227" y2="78125"/>
                        <a14:foregroundMark x1="65723" y1="77344" x2="64258" y2="79590"/>
                        <a14:foregroundMark x1="73730" y1="79004" x2="74414" y2="82129"/>
                        <a14:foregroundMark x1="81641" y1="77148" x2="81934" y2="79883"/>
                        <a14:foregroundMark x1="20898" y1="88184" x2="20898" y2="88184"/>
                        <a14:foregroundMark x1="25586" y1="87793" x2="25586" y2="87793"/>
                        <a14:foregroundMark x1="29590" y1="87793" x2="29590" y2="87793"/>
                        <a14:foregroundMark x1="33301" y1="88086" x2="33301" y2="88086"/>
                        <a14:foregroundMark x1="37500" y1="88184" x2="37500" y2="88184"/>
                        <a14:foregroundMark x1="16895" y1="88477" x2="16895" y2="88477"/>
                        <a14:foregroundMark x1="18164" y1="90820" x2="18164" y2="90820"/>
                        <a14:foregroundMark x1="16699" y1="89063" x2="16699" y2="89063"/>
                        <a14:foregroundMark x1="18652" y1="87500" x2="18652" y2="87500"/>
                        <a14:foregroundMark x1="17285" y1="87793" x2="17285" y2="87793"/>
                        <a14:foregroundMark x1="40527" y1="87500" x2="40527" y2="87500"/>
                        <a14:foregroundMark x1="43164" y1="88086" x2="43164" y2="88086"/>
                        <a14:foregroundMark x1="45605" y1="88184" x2="45605" y2="88184"/>
                        <a14:foregroundMark x1="49512" y1="88965" x2="49512" y2="88965"/>
                        <a14:foregroundMark x1="55469" y1="88965" x2="55469" y2="88965"/>
                        <a14:foregroundMark x1="59863" y1="88770" x2="59863" y2="88770"/>
                        <a14:foregroundMark x1="64746" y1="87988" x2="64746" y2="87988"/>
                        <a14:foregroundMark x1="69531" y1="88574" x2="69531" y2="88574"/>
                        <a14:foregroundMark x1="73145" y1="88770" x2="73145" y2="88770"/>
                        <a14:foregroundMark x1="76855" y1="88379" x2="76855" y2="88379"/>
                        <a14:foregroundMark x1="81348" y1="88281" x2="81348" y2="88281"/>
                        <a14:foregroundMark x1="25391" y1="90332" x2="25391" y2="90332"/>
                        <a14:foregroundMark x1="81738" y1="88379" x2="81738" y2="88379"/>
                        <a14:foregroundMark x1="81543" y1="88184" x2="81543" y2="88184"/>
                        <a14:foregroundMark x1="81738" y1="89160" x2="81738" y2="89160"/>
                        <a14:backgroundMark x1="39551" y1="11230" x2="50293" y2="10059"/>
                        <a14:backgroundMark x1="51953" y1="9668" x2="51953" y2="9668"/>
                        <a14:backgroundMark x1="50684" y1="9375" x2="52441" y2="9668"/>
                        <a14:backgroundMark x1="38672" y1="11230" x2="40039" y2="10938"/>
                        <a14:backgroundMark x1="52344" y1="9570" x2="53711" y2="9375"/>
                        <a14:backgroundMark x1="58887" y1="7715" x2="63184" y2="8887"/>
                        <a14:backgroundMark x1="48438" y1="17285" x2="48242" y2="18164"/>
                        <a14:backgroundMark x1="47656" y1="17773" x2="48535" y2="19043"/>
                        <a14:backgroundMark x1="33691" y1="31738" x2="34570" y2="33008"/>
                        <a14:backgroundMark x1="47559" y1="33496" x2="48535" y2="34473"/>
                        <a14:backgroundMark x1="86230" y1="12695" x2="86621" y2="18066"/>
                        <a14:backgroundMark x1="86621" y1="18066" x2="86133" y2="17188"/>
                        <a14:backgroundMark x1="86035" y1="15332" x2="86523" y2="20508"/>
                        <a14:backgroundMark x1="86523" y1="20508" x2="86230" y2="22363"/>
                        <a14:backgroundMark x1="17676" y1="79297" x2="17676" y2="79297"/>
                        <a14:backgroundMark x1="18359" y1="81934" x2="18359" y2="81934"/>
                        <a14:backgroundMark x1="25098" y1="79102" x2="25098" y2="79102"/>
                        <a14:backgroundMark x1="42383" y1="79980" x2="42383" y2="79980"/>
                        <a14:backgroundMark x1="22656" y1="89746" x2="22656" y2="89746"/>
                        <a14:backgroundMark x1="41504" y1="86328" x2="40332" y2="86914"/>
                        <a14:backgroundMark x1="40137" y1="87012" x2="41602" y2="87305"/>
                        <a14:backgroundMark x1="17409" y1="89063" x2="17285" y2="89746"/>
                        <a14:backgroundMark x1="17480" y1="88672" x2="17409" y2="89063"/>
                        <a14:backgroundMark x1="60449" y1="89258" x2="60449" y2="89258"/>
                        <a14:backgroundMark x1="70605" y1="88672" x2="70605" y2="88672"/>
                        <a14:backgroundMark x1="73926" y1="89355" x2="73926" y2="89355"/>
                        <a14:backgroundMark x1="25879" y1="89551" x2="25879" y2="89551"/>
                        <a14:backgroundMark x1="25781" y1="89551" x2="25781" y2="89551"/>
                        <a14:backgroundMark x1="81445" y1="87988" x2="81445" y2="87988"/>
                        <a14:backgroundMark x1="81348" y1="88086" x2="81348" y2="88086"/>
                        <a14:backgroundMark x1="81836" y1="88281" x2="81836" y2="88281"/>
                        <a14:backgroundMark x1="81738" y1="88379" x2="81738" y2="88379"/>
                        <a14:backgroundMark x1="81445" y1="88184" x2="81445" y2="88184"/>
                        <a14:backgroundMark x1="81543" y1="88281" x2="81543" y2="88281"/>
                        <a14:backgroundMark x1="81641" y1="88184" x2="81641" y2="881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4200" y="7658100"/>
            <a:ext cx="6807359" cy="6807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286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6E2A4-9CB3-428A-D661-C780299A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5,900+ State Of Michigan Map Stock Photos, Pictures &amp; Royalty-Free Images -  iStock">
            <a:extLst>
              <a:ext uri="{FF2B5EF4-FFF2-40B4-BE49-F238E27FC236}">
                <a16:creationId xmlns:a16="http://schemas.microsoft.com/office/drawing/2014/main" id="{BD6554B8-AD28-677D-15C2-CD438FA25D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5479" y="961707"/>
            <a:ext cx="7868201" cy="9137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EF9149E0-E994-EDD4-E7B7-69B1CE7D60DB}"/>
              </a:ext>
            </a:extLst>
          </p:cNvPr>
          <p:cNvSpPr txBox="1"/>
          <p:nvPr/>
        </p:nvSpPr>
        <p:spPr>
          <a:xfrm>
            <a:off x="6708922" y="4610100"/>
            <a:ext cx="10548509" cy="55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8 Stations in </a:t>
            </a:r>
            <a:r>
              <a:rPr lang="en-US" sz="32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Michigan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62C4FA7-5D98-E7A3-EE7B-966B2D33E91F}"/>
              </a:ext>
            </a:extLst>
          </p:cNvPr>
          <p:cNvSpPr txBox="1"/>
          <p:nvPr/>
        </p:nvSpPr>
        <p:spPr>
          <a:xfrm>
            <a:off x="6710791" y="6285660"/>
            <a:ext cx="10353936" cy="1173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Start: </a:t>
            </a:r>
            <a:r>
              <a:rPr lang="en-US" sz="32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January 1</a:t>
            </a:r>
            <a:r>
              <a:rPr lang="en-US" sz="3200" b="1" baseline="30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</a:t>
            </a:r>
            <a:r>
              <a:rPr lang="en-US" sz="32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1980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b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End: </a:t>
            </a:r>
            <a:r>
              <a:rPr lang="en-US" sz="32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November 30</a:t>
            </a:r>
            <a:r>
              <a:rPr lang="en-US" sz="3200" b="1" baseline="30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</a:t>
            </a:r>
            <a:r>
              <a:rPr lang="en-US" sz="32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2025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D582A7D-FB98-0B57-63FD-B3E4EFDBF4DC}"/>
              </a:ext>
            </a:extLst>
          </p:cNvPr>
          <p:cNvSpPr txBox="1"/>
          <p:nvPr/>
        </p:nvSpPr>
        <p:spPr>
          <a:xfrm>
            <a:off x="6710791" y="8478657"/>
            <a:ext cx="10353936" cy="55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From </a:t>
            </a:r>
            <a:r>
              <a:rPr lang="en-US" sz="32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-25.5°C  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  </a:t>
            </a:r>
            <a:r>
              <a:rPr lang="en-US" sz="32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29.7°C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9092E83A-D03F-E21E-D11E-FB321D948328}"/>
              </a:ext>
            </a:extLst>
          </p:cNvPr>
          <p:cNvGrpSpPr/>
          <p:nvPr/>
        </p:nvGrpSpPr>
        <p:grpSpPr>
          <a:xfrm>
            <a:off x="-1197824" y="1878992"/>
            <a:ext cx="6912824" cy="1577554"/>
            <a:chOff x="0" y="0"/>
            <a:chExt cx="2418659" cy="65314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8110137-A1D1-726F-0804-8E61B5A64EEB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8238CBA-5AFA-19B5-A541-8A206122D822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915DB77C-CC0F-13E8-AD76-05692D565922}"/>
              </a:ext>
            </a:extLst>
          </p:cNvPr>
          <p:cNvSpPr txBox="1"/>
          <p:nvPr/>
        </p:nvSpPr>
        <p:spPr>
          <a:xfrm>
            <a:off x="304800" y="2214890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Insights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7411EDDF-BB64-9509-3F5C-8384B4213224}"/>
              </a:ext>
            </a:extLst>
          </p:cNvPr>
          <p:cNvGrpSpPr/>
          <p:nvPr/>
        </p:nvGrpSpPr>
        <p:grpSpPr>
          <a:xfrm>
            <a:off x="1766747" y="4435931"/>
            <a:ext cx="4640821" cy="990272"/>
            <a:chOff x="0" y="0"/>
            <a:chExt cx="3060886" cy="65314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39A1DE7-D2A4-982D-FAC7-F925BEE8C76F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E6B89C8-CA05-52C9-31D2-5E27B0B4C993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09CA7D61-8EE7-FF8B-574E-9903276EF2DD}"/>
              </a:ext>
            </a:extLst>
          </p:cNvPr>
          <p:cNvSpPr txBox="1"/>
          <p:nvPr/>
        </p:nvSpPr>
        <p:spPr>
          <a:xfrm>
            <a:off x="2033330" y="4635792"/>
            <a:ext cx="3791038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Location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A549CBCC-2615-238F-7AC3-3A8978884181}"/>
              </a:ext>
            </a:extLst>
          </p:cNvPr>
          <p:cNvGrpSpPr/>
          <p:nvPr/>
        </p:nvGrpSpPr>
        <p:grpSpPr>
          <a:xfrm>
            <a:off x="1766747" y="6349821"/>
            <a:ext cx="4640821" cy="990272"/>
            <a:chOff x="0" y="0"/>
            <a:chExt cx="3060886" cy="653141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34BE94D-EDD9-27A3-C872-AE1B05C90E2F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 dirty="0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FC608B9-241C-3411-1919-B02500C2E3F5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54C30BD9-79C9-0623-08C4-CC8CCBF2504E}"/>
              </a:ext>
            </a:extLst>
          </p:cNvPr>
          <p:cNvSpPr txBox="1"/>
          <p:nvPr/>
        </p:nvSpPr>
        <p:spPr>
          <a:xfrm>
            <a:off x="2033330" y="6549683"/>
            <a:ext cx="42244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Time Span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1887736-CD48-1BDC-9A62-5083920FC36E}"/>
              </a:ext>
            </a:extLst>
          </p:cNvPr>
          <p:cNvGrpSpPr/>
          <p:nvPr/>
        </p:nvGrpSpPr>
        <p:grpSpPr>
          <a:xfrm>
            <a:off x="1723111" y="8268028"/>
            <a:ext cx="4640821" cy="990272"/>
            <a:chOff x="0" y="0"/>
            <a:chExt cx="3060886" cy="653141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E87106E-DB62-9DD1-7E14-D22365A88DBE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2C19232-48A9-7F77-44FD-2AE1FCEE49BA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7A98C108-0C2D-36E5-5571-C480D474AE1E}"/>
              </a:ext>
            </a:extLst>
          </p:cNvPr>
          <p:cNvSpPr txBox="1"/>
          <p:nvPr/>
        </p:nvSpPr>
        <p:spPr>
          <a:xfrm>
            <a:off x="1989694" y="8467889"/>
            <a:ext cx="42244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Value range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93F1F01-D970-749D-C54B-34856653ED2D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CC7997D0-E686-ED45-062A-50EE0E25106A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8F8B2638-2245-CC3F-84DD-CAB411D45111}"/>
              </a:ext>
            </a:extLst>
          </p:cNvPr>
          <p:cNvSpPr/>
          <p:nvPr/>
        </p:nvSpPr>
        <p:spPr>
          <a:xfrm rot="5400000">
            <a:off x="16429362" y="88843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81406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64362-967A-DD41-F1A3-A86C7A1F2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CEB20B28-7A87-C3DD-7E87-9834DD004F05}"/>
              </a:ext>
            </a:extLst>
          </p:cNvPr>
          <p:cNvGrpSpPr/>
          <p:nvPr/>
        </p:nvGrpSpPr>
        <p:grpSpPr>
          <a:xfrm>
            <a:off x="-1197824" y="1878992"/>
            <a:ext cx="8208224" cy="1577554"/>
            <a:chOff x="0" y="0"/>
            <a:chExt cx="2418659" cy="65314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FCE4080-918E-C246-6A7C-8E4A87056633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4548718-E45A-710F-FBC7-CD144BD9D104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18494401-8314-29D0-C461-0B7FA60073C8}"/>
              </a:ext>
            </a:extLst>
          </p:cNvPr>
          <p:cNvSpPr txBox="1"/>
          <p:nvPr/>
        </p:nvSpPr>
        <p:spPr>
          <a:xfrm>
            <a:off x="304800" y="2214890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Engineering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CF94E7EC-540A-FB0B-B5E8-CF308882FB1B}"/>
              </a:ext>
            </a:extLst>
          </p:cNvPr>
          <p:cNvGrpSpPr/>
          <p:nvPr/>
        </p:nvGrpSpPr>
        <p:grpSpPr>
          <a:xfrm>
            <a:off x="1766747" y="4435931"/>
            <a:ext cx="4640821" cy="990272"/>
            <a:chOff x="0" y="0"/>
            <a:chExt cx="3060886" cy="65314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DE1F1CC-F04E-C050-356D-DF72AA1C4B80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9BE37A3-41CE-645B-774F-5691F85B62C3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E7B617C-8CD4-46CD-5059-928F8FDA9836}"/>
              </a:ext>
            </a:extLst>
          </p:cNvPr>
          <p:cNvSpPr txBox="1"/>
          <p:nvPr/>
        </p:nvSpPr>
        <p:spPr>
          <a:xfrm>
            <a:off x="2033330" y="4635792"/>
            <a:ext cx="3791038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Aggregation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1C1A907-5E48-1FF7-1B29-4DAAAB75D4A4}"/>
              </a:ext>
            </a:extLst>
          </p:cNvPr>
          <p:cNvGrpSpPr/>
          <p:nvPr/>
        </p:nvGrpSpPr>
        <p:grpSpPr>
          <a:xfrm>
            <a:off x="1766747" y="6349821"/>
            <a:ext cx="4640821" cy="990272"/>
            <a:chOff x="0" y="0"/>
            <a:chExt cx="3060886" cy="653141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F25A8E96-8FDC-148F-97D8-BDCB6A5D5FE0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6544BFD7-9017-FDA4-9A2A-A0B0345189CE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9FE8234F-C099-D02E-AF63-8822DE76EAFB}"/>
              </a:ext>
            </a:extLst>
          </p:cNvPr>
          <p:cNvSpPr txBox="1"/>
          <p:nvPr/>
        </p:nvSpPr>
        <p:spPr>
          <a:xfrm>
            <a:off x="2033330" y="6549683"/>
            <a:ext cx="42244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Removal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6ABCBAC-32DD-5901-3561-3C9996B53FFB}"/>
              </a:ext>
            </a:extLst>
          </p:cNvPr>
          <p:cNvGrpSpPr/>
          <p:nvPr/>
        </p:nvGrpSpPr>
        <p:grpSpPr>
          <a:xfrm>
            <a:off x="1723111" y="8268028"/>
            <a:ext cx="4640821" cy="990272"/>
            <a:chOff x="0" y="0"/>
            <a:chExt cx="3060886" cy="653141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DF29719-553D-4920-D3D9-18CBBB2D2E64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595958BE-B3E6-A695-ACA2-5C1E6CBE46BE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DE9F9B76-9A4D-160B-3A8A-77529CDB5575}"/>
              </a:ext>
            </a:extLst>
          </p:cNvPr>
          <p:cNvSpPr txBox="1"/>
          <p:nvPr/>
        </p:nvSpPr>
        <p:spPr>
          <a:xfrm>
            <a:off x="1989694" y="8467889"/>
            <a:ext cx="42244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Reconstructed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E320241-E5CB-0EBC-7352-F40F65724237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A1DCB918-EA02-51F6-0DFA-ABB343287C01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53DDC3FA-189D-19CC-827C-648A35872173}"/>
              </a:ext>
            </a:extLst>
          </p:cNvPr>
          <p:cNvSpPr/>
          <p:nvPr/>
        </p:nvSpPr>
        <p:spPr>
          <a:xfrm rot="5400000">
            <a:off x="16429362" y="88843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9CE41E1B-8017-5BEB-2815-89D74468E126}"/>
              </a:ext>
            </a:extLst>
          </p:cNvPr>
          <p:cNvSpPr txBox="1"/>
          <p:nvPr/>
        </p:nvSpPr>
        <p:spPr>
          <a:xfrm>
            <a:off x="6710791" y="4344818"/>
            <a:ext cx="10548509" cy="1179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observations from </a:t>
            </a:r>
            <a:r>
              <a:rPr lang="en-US" sz="32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nearby stations </a:t>
            </a:r>
            <a:b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 a </a:t>
            </a:r>
            <a:r>
              <a:rPr lang="en-US" sz="32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single daily time series</a:t>
            </a: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EB2F1CC8-70C6-DC43-3C2C-D45B804797FE}"/>
              </a:ext>
            </a:extLst>
          </p:cNvPr>
          <p:cNvSpPr txBox="1"/>
          <p:nvPr/>
        </p:nvSpPr>
        <p:spPr>
          <a:xfrm>
            <a:off x="6710791" y="6515100"/>
            <a:ext cx="10353936" cy="55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 </a:t>
            </a:r>
            <a:r>
              <a:rPr lang="en-US" sz="32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unusable variables</a:t>
            </a: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75CFFBA3-7656-3047-C1F0-F2A18412B894}"/>
              </a:ext>
            </a:extLst>
          </p:cNvPr>
          <p:cNvSpPr txBox="1"/>
          <p:nvPr/>
        </p:nvSpPr>
        <p:spPr>
          <a:xfrm>
            <a:off x="6710791" y="8471534"/>
            <a:ext cx="10353936" cy="55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average temperature 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using min/max values</a:t>
            </a:r>
          </a:p>
        </p:txBody>
      </p:sp>
      <p:pic>
        <p:nvPicPr>
          <p:cNvPr id="3" name="Grafik 2" descr="Ein Bild, das Text, Logo, Grafiken, Schrift enthält.&#10;&#10;KI-generierte Inhalte können fehlerhaft sein.">
            <a:extLst>
              <a:ext uri="{FF2B5EF4-FFF2-40B4-BE49-F238E27FC236}">
                <a16:creationId xmlns:a16="http://schemas.microsoft.com/office/drawing/2014/main" id="{DA53C43C-E9C2-681B-44E6-C2F053C982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alphaModFix amt="2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105" b="90820" l="9961" r="89844">
                        <a14:foregroundMark x1="40820" y1="28711" x2="40820" y2="28711"/>
                        <a14:foregroundMark x1="39258" y1="17285" x2="39258" y2="17285"/>
                        <a14:foregroundMark x1="53936" y1="8989" x2="58368" y2="8391"/>
                        <a14:foregroundMark x1="38965" y1="15332" x2="39160" y2="18652"/>
                        <a14:foregroundMark x1="30664" y1="19043" x2="33496" y2="21387"/>
                        <a14:foregroundMark x1="27441" y1="26953" x2="31250" y2="26855"/>
                        <a14:foregroundMark x1="39160" y1="34863" x2="39355" y2="37402"/>
                        <a14:foregroundMark x1="44824" y1="33203" x2="47144" y2="33821"/>
                        <a14:foregroundMark x1="47754" y1="26855" x2="50879" y2="26367"/>
                        <a14:foregroundMark x1="32715" y1="33789" x2="32129" y2="35059"/>
                        <a14:foregroundMark x1="44922" y1="20313" x2="46191" y2="19824"/>
                        <a14:foregroundMark x1="68066" y1="33594" x2="67578" y2="55469"/>
                        <a14:foregroundMark x1="26465" y1="52637" x2="26563" y2="60156"/>
                        <a14:foregroundMark x1="34082" y1="48438" x2="33984" y2="58887"/>
                        <a14:foregroundMark x1="42676" y1="55078" x2="42773" y2="61035"/>
                        <a14:foregroundMark x1="50195" y1="49609" x2="50195" y2="57227"/>
                        <a14:foregroundMark x1="59277" y1="56738" x2="60059" y2="63086"/>
                        <a14:foregroundMark x1="66016" y1="60449" x2="66797" y2="64160"/>
                        <a14:foregroundMark x1="15709" y1="79297" x2="15625" y2="80176"/>
                        <a14:foregroundMark x1="15820" y1="78125" x2="15709" y2="79297"/>
                        <a14:foregroundMark x1="23903" y1="79102" x2="24023" y2="80664"/>
                        <a14:foregroundMark x1="23828" y1="78125" x2="23903" y2="79102"/>
                        <a14:foregroundMark x1="32324" y1="78125" x2="31055" y2="80371"/>
                        <a14:foregroundMark x1="40540" y1="79980" x2="40332" y2="80566"/>
                        <a14:foregroundMark x1="41406" y1="77539" x2="40540" y2="79980"/>
                        <a14:foregroundMark x1="48828" y1="77246" x2="48828" y2="80566"/>
                        <a14:foregroundMark x1="57910" y1="77246" x2="57227" y2="78125"/>
                        <a14:foregroundMark x1="65723" y1="77344" x2="64258" y2="79590"/>
                        <a14:foregroundMark x1="73730" y1="79004" x2="74414" y2="82129"/>
                        <a14:foregroundMark x1="81641" y1="77148" x2="81934" y2="79883"/>
                        <a14:foregroundMark x1="20898" y1="88184" x2="20898" y2="88184"/>
                        <a14:foregroundMark x1="25586" y1="87793" x2="25586" y2="87793"/>
                        <a14:foregroundMark x1="29590" y1="87793" x2="29590" y2="87793"/>
                        <a14:foregroundMark x1="33301" y1="88086" x2="33301" y2="88086"/>
                        <a14:foregroundMark x1="37500" y1="88184" x2="37500" y2="88184"/>
                        <a14:foregroundMark x1="16895" y1="88477" x2="16895" y2="88477"/>
                        <a14:foregroundMark x1="18164" y1="90820" x2="18164" y2="90820"/>
                        <a14:foregroundMark x1="16699" y1="89063" x2="16699" y2="89063"/>
                        <a14:foregroundMark x1="18652" y1="87500" x2="18652" y2="87500"/>
                        <a14:foregroundMark x1="17285" y1="87793" x2="17285" y2="87793"/>
                        <a14:foregroundMark x1="40527" y1="87500" x2="40527" y2="87500"/>
                        <a14:foregroundMark x1="43164" y1="88086" x2="43164" y2="88086"/>
                        <a14:foregroundMark x1="45605" y1="88184" x2="45605" y2="88184"/>
                        <a14:foregroundMark x1="49512" y1="88965" x2="49512" y2="88965"/>
                        <a14:foregroundMark x1="55469" y1="88965" x2="55469" y2="88965"/>
                        <a14:foregroundMark x1="59863" y1="88770" x2="59863" y2="88770"/>
                        <a14:foregroundMark x1="64746" y1="87988" x2="64746" y2="87988"/>
                        <a14:foregroundMark x1="69531" y1="88574" x2="69531" y2="88574"/>
                        <a14:foregroundMark x1="73145" y1="88770" x2="73145" y2="88770"/>
                        <a14:foregroundMark x1="76855" y1="88379" x2="76855" y2="88379"/>
                        <a14:foregroundMark x1="81348" y1="88281" x2="81348" y2="88281"/>
                        <a14:foregroundMark x1="25391" y1="90332" x2="25391" y2="90332"/>
                        <a14:foregroundMark x1="81738" y1="88379" x2="81738" y2="88379"/>
                        <a14:foregroundMark x1="81543" y1="88184" x2="81543" y2="88184"/>
                        <a14:foregroundMark x1="81738" y1="89160" x2="81738" y2="89160"/>
                        <a14:backgroundMark x1="39551" y1="11230" x2="50293" y2="10059"/>
                        <a14:backgroundMark x1="51953" y1="9668" x2="51953" y2="9668"/>
                        <a14:backgroundMark x1="50684" y1="9375" x2="52441" y2="9668"/>
                        <a14:backgroundMark x1="38672" y1="11230" x2="40039" y2="10938"/>
                        <a14:backgroundMark x1="52344" y1="9570" x2="53711" y2="9375"/>
                        <a14:backgroundMark x1="58887" y1="7715" x2="63184" y2="8887"/>
                        <a14:backgroundMark x1="48438" y1="17285" x2="48242" y2="18164"/>
                        <a14:backgroundMark x1="47656" y1="17773" x2="48535" y2="19043"/>
                        <a14:backgroundMark x1="33691" y1="31738" x2="34570" y2="33008"/>
                        <a14:backgroundMark x1="47559" y1="33496" x2="48535" y2="34473"/>
                        <a14:backgroundMark x1="86230" y1="12695" x2="86621" y2="18066"/>
                        <a14:backgroundMark x1="86621" y1="18066" x2="86133" y2="17188"/>
                        <a14:backgroundMark x1="86035" y1="15332" x2="86523" y2="20508"/>
                        <a14:backgroundMark x1="86523" y1="20508" x2="86230" y2="22363"/>
                        <a14:backgroundMark x1="17676" y1="79297" x2="17676" y2="79297"/>
                        <a14:backgroundMark x1="18359" y1="81934" x2="18359" y2="81934"/>
                        <a14:backgroundMark x1="25098" y1="79102" x2="25098" y2="79102"/>
                        <a14:backgroundMark x1="42383" y1="79980" x2="42383" y2="79980"/>
                        <a14:backgroundMark x1="22656" y1="89746" x2="22656" y2="89746"/>
                        <a14:backgroundMark x1="41504" y1="86328" x2="40332" y2="86914"/>
                        <a14:backgroundMark x1="40137" y1="87012" x2="41602" y2="87305"/>
                        <a14:backgroundMark x1="17409" y1="89063" x2="17285" y2="89746"/>
                        <a14:backgroundMark x1="17480" y1="88672" x2="17409" y2="89063"/>
                        <a14:backgroundMark x1="60449" y1="89258" x2="60449" y2="89258"/>
                        <a14:backgroundMark x1="70605" y1="88672" x2="70605" y2="88672"/>
                        <a14:backgroundMark x1="73926" y1="89355" x2="73926" y2="89355"/>
                        <a14:backgroundMark x1="25879" y1="89551" x2="25879" y2="89551"/>
                        <a14:backgroundMark x1="25781" y1="89551" x2="25781" y2="89551"/>
                        <a14:backgroundMark x1="81445" y1="87988" x2="81445" y2="87988"/>
                        <a14:backgroundMark x1="81348" y1="88086" x2="81348" y2="88086"/>
                        <a14:backgroundMark x1="81836" y1="88281" x2="81836" y2="88281"/>
                        <a14:backgroundMark x1="81738" y1="88379" x2="81738" y2="88379"/>
                        <a14:backgroundMark x1="81445" y1="88184" x2="81445" y2="88184"/>
                        <a14:backgroundMark x1="81543" y1="88281" x2="81543" y2="88281"/>
                        <a14:backgroundMark x1="81641" y1="88184" x2="81641" y2="881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4190"/>
          <a:stretch>
            <a:fillRect/>
          </a:stretch>
        </p:blipFill>
        <p:spPr>
          <a:xfrm>
            <a:off x="12695334" y="3923595"/>
            <a:ext cx="6248400" cy="473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768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000" y="2781300"/>
            <a:ext cx="3447216" cy="7370316"/>
            <a:chOff x="0" y="0"/>
            <a:chExt cx="1198766" cy="14337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724400" y="2781300"/>
            <a:ext cx="3942422" cy="7370316"/>
            <a:chOff x="0" y="0"/>
            <a:chExt cx="1198766" cy="14337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0" y="2781300"/>
            <a:ext cx="4876800" cy="7370316"/>
            <a:chOff x="0" y="0"/>
            <a:chExt cx="1198766" cy="14337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2781300"/>
            <a:ext cx="3447216" cy="7217916"/>
            <a:chOff x="0" y="0"/>
            <a:chExt cx="1198766" cy="1433761"/>
          </a:xfrm>
          <a:solidFill>
            <a:srgbClr val="FFFFA7"/>
          </a:solidFill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grpFill/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>
                <a:lnSpc>
                  <a:spcPts val="2659"/>
                </a:lnSpc>
              </a:pPr>
              <a:endParaRPr dirty="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572000" y="2781300"/>
            <a:ext cx="3943070" cy="7217916"/>
            <a:chOff x="0" y="0"/>
            <a:chExt cx="1198766" cy="1433761"/>
          </a:xfrm>
          <a:solidFill>
            <a:srgbClr val="AFFFAF"/>
          </a:solidFill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grpFill/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991600" y="2781300"/>
            <a:ext cx="4876800" cy="7217916"/>
            <a:chOff x="0" y="0"/>
            <a:chExt cx="1198766" cy="1433761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grpFill/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94838" y="3807299"/>
            <a:ext cx="3166627" cy="4759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Naïve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Historic Average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Seasonal Naïve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Random Walk </a:t>
            </a:r>
            <a:b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with Drift</a:t>
            </a:r>
          </a:p>
          <a:p>
            <a:pPr marL="342900" indent="-342900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lnSpc>
                <a:spcPts val="336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Structural </a:t>
            </a:r>
            <a:b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(local trend)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47800" y="2985440"/>
            <a:ext cx="1905000" cy="564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Baseline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57800" y="2985440"/>
            <a:ext cx="2322635" cy="571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Statistical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822394" y="3807299"/>
            <a:ext cx="3522059" cy="51955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Simple Exponential Smoothing 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(SES)</a:t>
            </a:r>
            <a:b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Holt Linear Trend</a:t>
            </a:r>
            <a:b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Holt-Winters Seasonal</a:t>
            </a:r>
            <a:b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Autoregressive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(AR)</a:t>
            </a:r>
            <a:b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Moving Average 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(MA)</a:t>
            </a:r>
            <a:b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ARIMA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06136" y="2985440"/>
            <a:ext cx="2478753" cy="571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ML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-762000" y="1363882"/>
            <a:ext cx="10729641" cy="990272"/>
            <a:chOff x="0" y="0"/>
            <a:chExt cx="5136921" cy="65314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136921" cy="653141"/>
            </a:xfrm>
            <a:custGeom>
              <a:avLst/>
              <a:gdLst/>
              <a:ahLst/>
              <a:cxnLst/>
              <a:rect l="l" t="t" r="r" b="b"/>
              <a:pathLst>
                <a:path w="5136921" h="653141">
                  <a:moveTo>
                    <a:pt x="4933721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4933721" y="653141"/>
                  </a:lnTo>
                  <a:lnTo>
                    <a:pt x="5136921" y="326570"/>
                  </a:lnTo>
                  <a:lnTo>
                    <a:pt x="4933721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022621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-392105" y="1411014"/>
            <a:ext cx="10240375" cy="915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Summary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31" name="AutoShape 31"/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32" name="Group 8">
            <a:extLst>
              <a:ext uri="{FF2B5EF4-FFF2-40B4-BE49-F238E27FC236}">
                <a16:creationId xmlns:a16="http://schemas.microsoft.com/office/drawing/2014/main" id="{8EC7E53E-A7EF-BF25-3449-85AF5CC55CC5}"/>
              </a:ext>
            </a:extLst>
          </p:cNvPr>
          <p:cNvGrpSpPr/>
          <p:nvPr/>
        </p:nvGrpSpPr>
        <p:grpSpPr>
          <a:xfrm>
            <a:off x="14498182" y="2781300"/>
            <a:ext cx="3256418" cy="7370316"/>
            <a:chOff x="0" y="0"/>
            <a:chExt cx="1198766" cy="1433761"/>
          </a:xfrm>
        </p:grpSpPr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852403BE-FBE4-103B-6FA6-716D7713F2AD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4" name="TextBox 10">
              <a:extLst>
                <a:ext uri="{FF2B5EF4-FFF2-40B4-BE49-F238E27FC236}">
                  <a16:creationId xmlns:a16="http://schemas.microsoft.com/office/drawing/2014/main" id="{F14F5557-886F-AE6E-1FB1-CD654333263C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17">
            <a:extLst>
              <a:ext uri="{FF2B5EF4-FFF2-40B4-BE49-F238E27FC236}">
                <a16:creationId xmlns:a16="http://schemas.microsoft.com/office/drawing/2014/main" id="{4553821E-1036-36B6-6C42-73EB3B1C9729}"/>
              </a:ext>
            </a:extLst>
          </p:cNvPr>
          <p:cNvGrpSpPr/>
          <p:nvPr/>
        </p:nvGrpSpPr>
        <p:grpSpPr>
          <a:xfrm>
            <a:off x="14346430" y="2781300"/>
            <a:ext cx="3256418" cy="7200900"/>
            <a:chOff x="0" y="0"/>
            <a:chExt cx="1198766" cy="1433761"/>
          </a:xfrm>
          <a:solidFill>
            <a:srgbClr val="FFAFEA"/>
          </a:solidFill>
        </p:grpSpPr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0E430927-A099-F142-A149-4AFB01ADB84E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grpFill/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7" name="TextBox 19">
              <a:extLst>
                <a:ext uri="{FF2B5EF4-FFF2-40B4-BE49-F238E27FC236}">
                  <a16:creationId xmlns:a16="http://schemas.microsoft.com/office/drawing/2014/main" id="{2CD016C5-11CC-57D5-EAB1-6B83083CDB50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24">
            <a:extLst>
              <a:ext uri="{FF2B5EF4-FFF2-40B4-BE49-F238E27FC236}">
                <a16:creationId xmlns:a16="http://schemas.microsoft.com/office/drawing/2014/main" id="{179612B3-B05B-8AB3-DA14-17DAD5BD4C30}"/>
              </a:ext>
            </a:extLst>
          </p:cNvPr>
          <p:cNvSpPr txBox="1"/>
          <p:nvPr/>
        </p:nvSpPr>
        <p:spPr>
          <a:xfrm>
            <a:off x="15089567" y="3006524"/>
            <a:ext cx="1752132" cy="571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Neural</a:t>
            </a:r>
          </a:p>
        </p:txBody>
      </p:sp>
      <p:sp>
        <p:nvSpPr>
          <p:cNvPr id="40" name="TextBox 23">
            <a:extLst>
              <a:ext uri="{FF2B5EF4-FFF2-40B4-BE49-F238E27FC236}">
                <a16:creationId xmlns:a16="http://schemas.microsoft.com/office/drawing/2014/main" id="{55D1A72F-9476-8ADB-764A-C96DB44FA57D}"/>
              </a:ext>
            </a:extLst>
          </p:cNvPr>
          <p:cNvSpPr txBox="1"/>
          <p:nvPr/>
        </p:nvSpPr>
        <p:spPr>
          <a:xfrm>
            <a:off x="9162774" y="3807299"/>
            <a:ext cx="4400826" cy="5631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Linear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Ridge</a:t>
            </a:r>
          </a:p>
          <a:p>
            <a:pPr marL="342900" indent="-342900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Huber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Tweedie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KNN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Radius </a:t>
            </a:r>
            <a:r>
              <a:rPr lang="en-US" sz="240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Neighbours</a:t>
            </a:r>
            <a:endParaRPr lang="en-US" sz="2400" b="1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Decision Tree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HistGB</a:t>
            </a:r>
            <a:endParaRPr lang="en-US" sz="2400" b="1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LightGBM</a:t>
            </a:r>
            <a:endParaRPr lang="en-US" sz="2400" b="1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XGBoost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[+ Random Forest]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Support Vector Regression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MLP Regressor</a:t>
            </a: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BE20EF92-D807-3ED5-7FAD-5470C7794F8D}"/>
              </a:ext>
            </a:extLst>
          </p:cNvPr>
          <p:cNvSpPr txBox="1"/>
          <p:nvPr/>
        </p:nvSpPr>
        <p:spPr>
          <a:xfrm>
            <a:off x="14537228" y="3807299"/>
            <a:ext cx="3065620" cy="3887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LSTM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NBEATS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NHITS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GRU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RNN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0B583-5AFF-FD9D-B6BB-01738F955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B8125CD-01FA-5A2D-80B6-DAEB0D712F86}"/>
              </a:ext>
            </a:extLst>
          </p:cNvPr>
          <p:cNvGrpSpPr/>
          <p:nvPr/>
        </p:nvGrpSpPr>
        <p:grpSpPr>
          <a:xfrm>
            <a:off x="1371600" y="2760216"/>
            <a:ext cx="3447216" cy="7183884"/>
            <a:chOff x="0" y="0"/>
            <a:chExt cx="1198766" cy="143376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30A8478-C55D-584C-C8A3-6097A95F919C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0387C36-85BA-555F-6B88-4700A2EE4ACE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91A55A4-2174-E75B-FFF9-E88F3BA6C791}"/>
              </a:ext>
            </a:extLst>
          </p:cNvPr>
          <p:cNvGrpSpPr/>
          <p:nvPr/>
        </p:nvGrpSpPr>
        <p:grpSpPr>
          <a:xfrm>
            <a:off x="5447747" y="2760216"/>
            <a:ext cx="3447216" cy="7183884"/>
            <a:chOff x="0" y="0"/>
            <a:chExt cx="1198766" cy="143376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A0FB12C-8CE9-BE96-7D8B-EC00E597CB44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81ACA69-3B42-BB1D-5B05-0275BA97C63F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608EF05-4F1A-B5B5-7788-8DEAA7E0674F}"/>
              </a:ext>
            </a:extLst>
          </p:cNvPr>
          <p:cNvGrpSpPr/>
          <p:nvPr/>
        </p:nvGrpSpPr>
        <p:grpSpPr>
          <a:xfrm>
            <a:off x="9562547" y="2760216"/>
            <a:ext cx="3447216" cy="7183884"/>
            <a:chOff x="0" y="0"/>
            <a:chExt cx="1198766" cy="1433761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8165A93-C1DA-D5B8-53B4-789F2F54C137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A8AFCB8-DEF0-EA6C-B39C-5B7DB17C3469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15AF03-34F1-75BD-9FDF-871B77CF7458}"/>
              </a:ext>
            </a:extLst>
          </p:cNvPr>
          <p:cNvGrpSpPr/>
          <p:nvPr/>
        </p:nvGrpSpPr>
        <p:grpSpPr>
          <a:xfrm>
            <a:off x="1219200" y="2781300"/>
            <a:ext cx="3447216" cy="7010400"/>
            <a:chOff x="0" y="0"/>
            <a:chExt cx="1198766" cy="1433761"/>
          </a:xfrm>
          <a:solidFill>
            <a:srgbClr val="FFFFA7"/>
          </a:solidFill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FBA5130-359B-9A44-6E00-098CBFC774C2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grpFill/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61CBEF5-28A0-7E0F-CE50-064D9A12B8C3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6B7F0A28-2B04-671A-7ED9-04BF57E615E3}"/>
              </a:ext>
            </a:extLst>
          </p:cNvPr>
          <p:cNvGrpSpPr/>
          <p:nvPr/>
        </p:nvGrpSpPr>
        <p:grpSpPr>
          <a:xfrm>
            <a:off x="5295347" y="2760216"/>
            <a:ext cx="3447216" cy="7031484"/>
            <a:chOff x="0" y="0"/>
            <a:chExt cx="1198766" cy="1433761"/>
          </a:xfrm>
          <a:solidFill>
            <a:srgbClr val="AFFFAF"/>
          </a:solidFill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6E4E63F-7328-EF86-79E5-30E536FB7FD7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grpFill/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D756C7D-878C-ACE6-5BD3-859D23837AE1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D4210B1-03DE-8823-F3F7-D8D76FEF9431}"/>
              </a:ext>
            </a:extLst>
          </p:cNvPr>
          <p:cNvGrpSpPr/>
          <p:nvPr/>
        </p:nvGrpSpPr>
        <p:grpSpPr>
          <a:xfrm>
            <a:off x="9410147" y="2760216"/>
            <a:ext cx="3447216" cy="7031484"/>
            <a:chOff x="0" y="0"/>
            <a:chExt cx="1198766" cy="1433761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AFF260F-D41F-10CF-3AB3-B2FAC410D25B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grpFill/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7A6E9E1-614F-3D7B-9881-CF9C8EF9F7C8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47DFDC27-F18F-9B4F-343A-C15CFF8279C4}"/>
              </a:ext>
            </a:extLst>
          </p:cNvPr>
          <p:cNvSpPr txBox="1"/>
          <p:nvPr/>
        </p:nvSpPr>
        <p:spPr>
          <a:xfrm>
            <a:off x="1404438" y="3543300"/>
            <a:ext cx="3166627" cy="5458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Strong </a:t>
            </a:r>
            <a:b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Seasonal naïve</a:t>
            </a: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Well captured </a:t>
            </a: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seasonality</a:t>
            </a: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Serves as a </a:t>
            </a: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competitive lower bound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FC97156-24A5-6F79-89D7-B4E6D1C19321}"/>
              </a:ext>
            </a:extLst>
          </p:cNvPr>
          <p:cNvSpPr txBox="1"/>
          <p:nvPr/>
        </p:nvSpPr>
        <p:spPr>
          <a:xfrm>
            <a:off x="2057400" y="2781300"/>
            <a:ext cx="1905000" cy="564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Baseline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107C353-44D3-7582-07EA-A06649BFCF25}"/>
              </a:ext>
            </a:extLst>
          </p:cNvPr>
          <p:cNvSpPr txBox="1"/>
          <p:nvPr/>
        </p:nvSpPr>
        <p:spPr>
          <a:xfrm>
            <a:off x="5867400" y="2781300"/>
            <a:ext cx="2322635" cy="571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Statistical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EBE0122-AC6B-247A-2321-DDBA29B424AF}"/>
              </a:ext>
            </a:extLst>
          </p:cNvPr>
          <p:cNvSpPr txBox="1"/>
          <p:nvPr/>
        </p:nvSpPr>
        <p:spPr>
          <a:xfrm>
            <a:off x="5486400" y="3543300"/>
            <a:ext cx="3065620" cy="5458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Improvement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over baselines</a:t>
            </a: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Struggled with </a:t>
            </a: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long-term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variability</a:t>
            </a: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R²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often </a:t>
            </a: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negative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or </a:t>
            </a: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near-zero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CE30C97-35DA-6A25-1B84-7C603B5903F0}"/>
              </a:ext>
            </a:extLst>
          </p:cNvPr>
          <p:cNvSpPr txBox="1"/>
          <p:nvPr/>
        </p:nvSpPr>
        <p:spPr>
          <a:xfrm>
            <a:off x="10153284" y="2781300"/>
            <a:ext cx="1752132" cy="571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ML</a:t>
            </a:r>
          </a:p>
        </p:txBody>
      </p:sp>
      <p:grpSp>
        <p:nvGrpSpPr>
          <p:cNvPr id="26" name="Group 26">
            <a:extLst>
              <a:ext uri="{FF2B5EF4-FFF2-40B4-BE49-F238E27FC236}">
                <a16:creationId xmlns:a16="http://schemas.microsoft.com/office/drawing/2014/main" id="{0DD8BA98-BCF2-96FA-E733-56112F1BB3E5}"/>
              </a:ext>
            </a:extLst>
          </p:cNvPr>
          <p:cNvGrpSpPr/>
          <p:nvPr/>
        </p:nvGrpSpPr>
        <p:grpSpPr>
          <a:xfrm>
            <a:off x="-762000" y="1363882"/>
            <a:ext cx="10729641" cy="990272"/>
            <a:chOff x="0" y="0"/>
            <a:chExt cx="5136921" cy="653141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0F68A5A0-D4F8-A8D2-8A8A-AE866F3F2FD8}"/>
                </a:ext>
              </a:extLst>
            </p:cNvPr>
            <p:cNvSpPr/>
            <p:nvPr/>
          </p:nvSpPr>
          <p:spPr>
            <a:xfrm>
              <a:off x="0" y="0"/>
              <a:ext cx="5136921" cy="653141"/>
            </a:xfrm>
            <a:custGeom>
              <a:avLst/>
              <a:gdLst/>
              <a:ahLst/>
              <a:cxnLst/>
              <a:rect l="l" t="t" r="r" b="b"/>
              <a:pathLst>
                <a:path w="5136921" h="653141">
                  <a:moveTo>
                    <a:pt x="4933721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4933721" y="653141"/>
                  </a:lnTo>
                  <a:lnTo>
                    <a:pt x="5136921" y="326570"/>
                  </a:lnTo>
                  <a:lnTo>
                    <a:pt x="4933721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12403A54-DFC0-A694-7018-E289CD04962F}"/>
                </a:ext>
              </a:extLst>
            </p:cNvPr>
            <p:cNvSpPr txBox="1"/>
            <p:nvPr/>
          </p:nvSpPr>
          <p:spPr>
            <a:xfrm>
              <a:off x="0" y="-38100"/>
              <a:ext cx="5022621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>
            <a:extLst>
              <a:ext uri="{FF2B5EF4-FFF2-40B4-BE49-F238E27FC236}">
                <a16:creationId xmlns:a16="http://schemas.microsoft.com/office/drawing/2014/main" id="{A72DB091-2803-3D41-74C6-780D0D572296}"/>
              </a:ext>
            </a:extLst>
          </p:cNvPr>
          <p:cNvSpPr txBox="1"/>
          <p:nvPr/>
        </p:nvSpPr>
        <p:spPr>
          <a:xfrm>
            <a:off x="-392105" y="1411014"/>
            <a:ext cx="10240375" cy="915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Evaluations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879039C0-0B68-91E3-944C-1FA677C8F390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31" name="AutoShape 31">
            <a:extLst>
              <a:ext uri="{FF2B5EF4-FFF2-40B4-BE49-F238E27FC236}">
                <a16:creationId xmlns:a16="http://schemas.microsoft.com/office/drawing/2014/main" id="{2226ECE4-0762-98C3-7BC2-4E226843FBA1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32" name="Group 8">
            <a:extLst>
              <a:ext uri="{FF2B5EF4-FFF2-40B4-BE49-F238E27FC236}">
                <a16:creationId xmlns:a16="http://schemas.microsoft.com/office/drawing/2014/main" id="{01781487-0329-4AA5-3B2F-284FA525E255}"/>
              </a:ext>
            </a:extLst>
          </p:cNvPr>
          <p:cNvGrpSpPr/>
          <p:nvPr/>
        </p:nvGrpSpPr>
        <p:grpSpPr>
          <a:xfrm>
            <a:off x="13659131" y="2781300"/>
            <a:ext cx="3447216" cy="7183884"/>
            <a:chOff x="0" y="0"/>
            <a:chExt cx="1198766" cy="1433761"/>
          </a:xfrm>
        </p:grpSpPr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F9CE1DE3-38AA-A23A-0B4D-C65A2B0B50C3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4" name="TextBox 10">
              <a:extLst>
                <a:ext uri="{FF2B5EF4-FFF2-40B4-BE49-F238E27FC236}">
                  <a16:creationId xmlns:a16="http://schemas.microsoft.com/office/drawing/2014/main" id="{11BF896F-9DB5-65D2-17B6-E62686F2270D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17">
            <a:extLst>
              <a:ext uri="{FF2B5EF4-FFF2-40B4-BE49-F238E27FC236}">
                <a16:creationId xmlns:a16="http://schemas.microsoft.com/office/drawing/2014/main" id="{FF27E7D8-4064-89BF-5650-D4EDEAF7BD82}"/>
              </a:ext>
            </a:extLst>
          </p:cNvPr>
          <p:cNvGrpSpPr/>
          <p:nvPr/>
        </p:nvGrpSpPr>
        <p:grpSpPr>
          <a:xfrm>
            <a:off x="13506731" y="2760216"/>
            <a:ext cx="3447216" cy="7052568"/>
            <a:chOff x="0" y="0"/>
            <a:chExt cx="1198766" cy="1433761"/>
          </a:xfrm>
          <a:solidFill>
            <a:srgbClr val="FFAFEA"/>
          </a:solidFill>
        </p:grpSpPr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98B6B682-9A39-5D78-096C-D4B5DE9BA20B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grpFill/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 dirty="0"/>
            </a:p>
          </p:txBody>
        </p:sp>
        <p:sp>
          <p:nvSpPr>
            <p:cNvPr id="37" name="TextBox 19">
              <a:extLst>
                <a:ext uri="{FF2B5EF4-FFF2-40B4-BE49-F238E27FC236}">
                  <a16:creationId xmlns:a16="http://schemas.microsoft.com/office/drawing/2014/main" id="{FC678AD9-0E19-1469-038C-BF9BB7231915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24">
            <a:extLst>
              <a:ext uri="{FF2B5EF4-FFF2-40B4-BE49-F238E27FC236}">
                <a16:creationId xmlns:a16="http://schemas.microsoft.com/office/drawing/2014/main" id="{7DAE03B2-329F-3694-7446-9BE4D7B99416}"/>
              </a:ext>
            </a:extLst>
          </p:cNvPr>
          <p:cNvSpPr txBox="1"/>
          <p:nvPr/>
        </p:nvSpPr>
        <p:spPr>
          <a:xfrm>
            <a:off x="14249868" y="2802384"/>
            <a:ext cx="1752132" cy="571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Neural</a:t>
            </a:r>
          </a:p>
        </p:txBody>
      </p:sp>
      <p:sp>
        <p:nvSpPr>
          <p:cNvPr id="40" name="TextBox 23">
            <a:extLst>
              <a:ext uri="{FF2B5EF4-FFF2-40B4-BE49-F238E27FC236}">
                <a16:creationId xmlns:a16="http://schemas.microsoft.com/office/drawing/2014/main" id="{2D854885-6BCD-FB0F-6CBD-1C92C7ECD7FF}"/>
              </a:ext>
            </a:extLst>
          </p:cNvPr>
          <p:cNvSpPr txBox="1"/>
          <p:nvPr/>
        </p:nvSpPr>
        <p:spPr>
          <a:xfrm>
            <a:off x="9581321" y="3543300"/>
            <a:ext cx="3065620" cy="5458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Better accuracy</a:t>
            </a:r>
            <a:b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</a:b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captures </a:t>
            </a: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nonlinear relationships</a:t>
            </a: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More </a:t>
            </a: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stable error metrics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across </a:t>
            </a: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validation and test sets</a:t>
            </a: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47F4C3D2-784D-17FF-51B9-60181D34FAC5}"/>
              </a:ext>
            </a:extLst>
          </p:cNvPr>
          <p:cNvSpPr txBox="1"/>
          <p:nvPr/>
        </p:nvSpPr>
        <p:spPr>
          <a:xfrm>
            <a:off x="13697529" y="3543300"/>
            <a:ext cx="3065620" cy="4842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Best overall 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performance on test data</a:t>
            </a: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Captures both, </a:t>
            </a: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seasonality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24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complex temporal patterns</a:t>
            </a:r>
          </a:p>
        </p:txBody>
      </p:sp>
    </p:spTree>
    <p:extLst>
      <p:ext uri="{BB962C8B-B14F-4D97-AF65-F5344CB8AC3E}">
        <p14:creationId xmlns:p14="http://schemas.microsoft.com/office/powerpoint/2010/main" val="873527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B3DC0-5BEE-6ADD-2930-97994FB19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309C0AD-6E5B-6329-43D9-F3EDC353E771}"/>
              </a:ext>
            </a:extLst>
          </p:cNvPr>
          <p:cNvSpPr/>
          <p:nvPr/>
        </p:nvSpPr>
        <p:spPr>
          <a:xfrm rot="5400000">
            <a:off x="6627029" y="147089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1E14A5D-EF7E-9653-2780-02BE5386B722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CA5A1A2-E3BF-7A0B-59AD-066C038ABD98}"/>
              </a:ext>
            </a:extLst>
          </p:cNvPr>
          <p:cNvGrpSpPr/>
          <p:nvPr/>
        </p:nvGrpSpPr>
        <p:grpSpPr>
          <a:xfrm>
            <a:off x="-1197824" y="495300"/>
            <a:ext cx="7484172" cy="1577554"/>
            <a:chOff x="0" y="0"/>
            <a:chExt cx="2418659" cy="65314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5674BDB-F442-EC9F-FE88-2C9769AF0539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B664878-5896-6FCD-7DCC-EFFF7FE924A9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8D5B72AA-FB3F-9976-AA9C-33B32E1760AC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45E3880-08C8-0B8E-A4A8-19233A6CF423}"/>
              </a:ext>
            </a:extLst>
          </p:cNvPr>
          <p:cNvSpPr txBox="1"/>
          <p:nvPr/>
        </p:nvSpPr>
        <p:spPr>
          <a:xfrm>
            <a:off x="685800" y="826259"/>
            <a:ext cx="748417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Raw data</a:t>
            </a:r>
          </a:p>
        </p:txBody>
      </p:sp>
      <p:pic>
        <p:nvPicPr>
          <p:cNvPr id="4" name="Grafik 3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5EBCBC4C-496D-9771-B30C-862427E560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47" y="3009900"/>
            <a:ext cx="16838886" cy="624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27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6627029" y="147089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5" name="AutoShape 5"/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6" name="Group 6"/>
          <p:cNvGrpSpPr/>
          <p:nvPr/>
        </p:nvGrpSpPr>
        <p:grpSpPr>
          <a:xfrm>
            <a:off x="-1197824" y="495300"/>
            <a:ext cx="7484172" cy="1577554"/>
            <a:chOff x="0" y="0"/>
            <a:chExt cx="2418659" cy="6531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00" y="826259"/>
            <a:ext cx="748417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</a:t>
            </a:r>
          </a:p>
        </p:txBody>
      </p:sp>
      <p:pic>
        <p:nvPicPr>
          <p:cNvPr id="9" name="Grafik 8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BC6962F-3BCD-9548-17B4-9B786CC736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7" y="3008100"/>
            <a:ext cx="14535062" cy="6174000"/>
          </a:xfrm>
          <a:prstGeom prst="rect">
            <a:avLst/>
          </a:prstGeom>
        </p:spPr>
      </p:pic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2B24E1B5-AC9B-EE2D-FE80-DE1205954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722614"/>
              </p:ext>
            </p:extLst>
          </p:nvPr>
        </p:nvGraphicFramePr>
        <p:xfrm>
          <a:off x="12344400" y="6286500"/>
          <a:ext cx="4677928" cy="2082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338964">
                  <a:extLst>
                    <a:ext uri="{9D8B030D-6E8A-4147-A177-3AD203B41FA5}">
                      <a16:colId xmlns:a16="http://schemas.microsoft.com/office/drawing/2014/main" val="2197298121"/>
                    </a:ext>
                  </a:extLst>
                </a:gridCol>
                <a:gridCol w="2338964">
                  <a:extLst>
                    <a:ext uri="{9D8B030D-6E8A-4147-A177-3AD203B41FA5}">
                      <a16:colId xmlns:a16="http://schemas.microsoft.com/office/drawing/2014/main" val="4140210806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r>
                        <a:rPr lang="de-AT" dirty="0"/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MAE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929237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de-AT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5.1999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994937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de-AT" dirty="0"/>
                        <a:t>Statistical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8.5890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751916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de-AT" dirty="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4.2710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528991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de-AT" dirty="0" err="1"/>
                        <a:t>Neural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3.6032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0400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F1CA-7D96-B99D-46BA-3D7D778CA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AC1C53-5EDA-C458-1DE2-CD08F59678DC}"/>
              </a:ext>
            </a:extLst>
          </p:cNvPr>
          <p:cNvSpPr/>
          <p:nvPr/>
        </p:nvSpPr>
        <p:spPr>
          <a:xfrm rot="5400000">
            <a:off x="6627029" y="147089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F20818D-75D2-936C-5CA1-4CD497EB63E0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A083354-D235-C7B7-AD3D-4D102E624D4F}"/>
              </a:ext>
            </a:extLst>
          </p:cNvPr>
          <p:cNvGrpSpPr/>
          <p:nvPr/>
        </p:nvGrpSpPr>
        <p:grpSpPr>
          <a:xfrm>
            <a:off x="-1197824" y="495300"/>
            <a:ext cx="7484172" cy="1577554"/>
            <a:chOff x="0" y="0"/>
            <a:chExt cx="2418659" cy="65314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4238282-1169-9865-F2C7-F82624CC75B8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49A7780-7B07-BEDF-E607-B810ACA9060B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7D1B59DE-3196-B12F-C37A-A1911C02A59D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56FF63B-BE14-DF99-3177-F28A80B43569}"/>
              </a:ext>
            </a:extLst>
          </p:cNvPr>
          <p:cNvSpPr txBox="1"/>
          <p:nvPr/>
        </p:nvSpPr>
        <p:spPr>
          <a:xfrm>
            <a:off x="685800" y="826259"/>
            <a:ext cx="748417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</a:t>
            </a:r>
          </a:p>
        </p:txBody>
      </p:sp>
      <p:pic>
        <p:nvPicPr>
          <p:cNvPr id="4" name="Grafik 3" descr="Ein Bild, das Tex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755E24C6-DBBD-7806-8745-CDC06C2CCD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23" y="3009900"/>
            <a:ext cx="14530823" cy="6172200"/>
          </a:xfrm>
          <a:prstGeom prst="rect">
            <a:avLst/>
          </a:prstGeom>
        </p:spPr>
      </p:pic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6DDABF4A-541B-854E-79FB-6E2CC4092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5379786"/>
              </p:ext>
            </p:extLst>
          </p:nvPr>
        </p:nvGraphicFramePr>
        <p:xfrm>
          <a:off x="12344400" y="6286500"/>
          <a:ext cx="4677928" cy="2082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338964">
                  <a:extLst>
                    <a:ext uri="{9D8B030D-6E8A-4147-A177-3AD203B41FA5}">
                      <a16:colId xmlns:a16="http://schemas.microsoft.com/office/drawing/2014/main" val="2197298121"/>
                    </a:ext>
                  </a:extLst>
                </a:gridCol>
                <a:gridCol w="2338964">
                  <a:extLst>
                    <a:ext uri="{9D8B030D-6E8A-4147-A177-3AD203B41FA5}">
                      <a16:colId xmlns:a16="http://schemas.microsoft.com/office/drawing/2014/main" val="4140210806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r>
                        <a:rPr lang="de-AT" dirty="0">
                          <a:solidFill>
                            <a:schemeClr val="tx1"/>
                          </a:solidFill>
                        </a:rPr>
                        <a:t>Family</a:t>
                      </a:r>
                    </a:p>
                  </a:txBody>
                  <a:tcPr>
                    <a:solidFill>
                      <a:srgbClr val="FF9F9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>
                          <a:solidFill>
                            <a:schemeClr val="tx1"/>
                          </a:solidFill>
                        </a:rPr>
                        <a:t>MAE</a:t>
                      </a:r>
                    </a:p>
                  </a:txBody>
                  <a:tcPr>
                    <a:solidFill>
                      <a:srgbClr val="FF9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5929237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de-AT" dirty="0"/>
                        <a:t>Baseline</a:t>
                      </a:r>
                    </a:p>
                  </a:txBody>
                  <a:tcPr>
                    <a:solidFill>
                      <a:srgbClr val="FFD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sz="1800" b="0" kern="1200" dirty="0">
                          <a:solidFill>
                            <a:schemeClr val="dk1"/>
                          </a:solidFill>
                          <a:effectLst/>
                        </a:rPr>
                        <a:t>4.8010</a:t>
                      </a:r>
                      <a:endParaRPr lang="de-AT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994937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de-AT" dirty="0"/>
                        <a:t>Statistical</a:t>
                      </a:r>
                    </a:p>
                  </a:txBody>
                  <a:tcPr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12.4058</a:t>
                      </a:r>
                    </a:p>
                  </a:txBody>
                  <a:tcPr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751916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A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ML</a:t>
                      </a:r>
                    </a:p>
                  </a:txBody>
                  <a:tcPr>
                    <a:solidFill>
                      <a:srgbClr val="FFD5D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de-AT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3.9845</a:t>
                      </a:r>
                    </a:p>
                  </a:txBody>
                  <a:tcPr>
                    <a:solidFill>
                      <a:srgbClr val="FF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528991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de-AT" dirty="0" err="1"/>
                        <a:t>Neural</a:t>
                      </a:r>
                      <a:endParaRPr lang="de-AT" dirty="0"/>
                    </a:p>
                  </a:txBody>
                  <a:tcPr>
                    <a:solidFill>
                      <a:srgbClr val="FF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3.5033</a:t>
                      </a:r>
                    </a:p>
                  </a:txBody>
                  <a:tcPr>
                    <a:solidFill>
                      <a:srgbClr val="FF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3040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117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7BB56-EA64-3908-75A3-F7E32F598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31F2A69-71B2-3C1E-8730-5C84E085427A}"/>
              </a:ext>
            </a:extLst>
          </p:cNvPr>
          <p:cNvSpPr/>
          <p:nvPr/>
        </p:nvSpPr>
        <p:spPr>
          <a:xfrm rot="5400000">
            <a:off x="6627029" y="147089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43CB6D50-BC4D-2038-9AD7-EEE9EA84D747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33472B5-5F3D-2E43-5FFF-29FAE0C4E59B}"/>
              </a:ext>
            </a:extLst>
          </p:cNvPr>
          <p:cNvGrpSpPr/>
          <p:nvPr/>
        </p:nvGrpSpPr>
        <p:grpSpPr>
          <a:xfrm>
            <a:off x="-1197824" y="495300"/>
            <a:ext cx="7484172" cy="1577554"/>
            <a:chOff x="0" y="0"/>
            <a:chExt cx="2418659" cy="65314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4BFAB59-41BA-4F49-A5F2-1B6FF4018622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6EE206E-4458-4349-DD45-B2DC16E5D740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2FFDB9A7-EAD4-9FF8-D925-05546DF2C1F5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F27B0B2-1ED3-C0B6-2AAB-D85F0311DC5E}"/>
              </a:ext>
            </a:extLst>
          </p:cNvPr>
          <p:cNvSpPr txBox="1"/>
          <p:nvPr/>
        </p:nvSpPr>
        <p:spPr>
          <a:xfrm>
            <a:off x="685800" y="826259"/>
            <a:ext cx="748417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Forecast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5F8D6CF-5D4D-A4D4-E7AE-40DCEE5CB084}"/>
              </a:ext>
            </a:extLst>
          </p:cNvPr>
          <p:cNvSpPr txBox="1"/>
          <p:nvPr/>
        </p:nvSpPr>
        <p:spPr>
          <a:xfrm>
            <a:off x="9448800" y="3019688"/>
            <a:ext cx="228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AT" dirty="0"/>
          </a:p>
        </p:txBody>
      </p:sp>
      <p:pic>
        <p:nvPicPr>
          <p:cNvPr id="13" name="Grafik 12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5F7EA64A-E3BB-1ACC-B85D-7AB09411C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552" y="3135774"/>
            <a:ext cx="15438895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870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97824" y="1878992"/>
            <a:ext cx="5841871" cy="1577554"/>
            <a:chOff x="0" y="0"/>
            <a:chExt cx="2418659" cy="6531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13" name="TextBox 13"/>
          <p:cNvSpPr txBox="1"/>
          <p:nvPr/>
        </p:nvSpPr>
        <p:spPr>
          <a:xfrm>
            <a:off x="738662" y="2233530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Value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5" name="Freeform 15"/>
          <p:cNvSpPr/>
          <p:nvPr/>
        </p:nvSpPr>
        <p:spPr>
          <a:xfrm rot="5400000">
            <a:off x="1495128" y="8428362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grpSp>
        <p:nvGrpSpPr>
          <p:cNvPr id="17" name="Group 9">
            <a:extLst>
              <a:ext uri="{FF2B5EF4-FFF2-40B4-BE49-F238E27FC236}">
                <a16:creationId xmlns:a16="http://schemas.microsoft.com/office/drawing/2014/main" id="{C3627C43-0F6B-B162-071F-26801DB8DCC8}"/>
              </a:ext>
            </a:extLst>
          </p:cNvPr>
          <p:cNvGrpSpPr/>
          <p:nvPr/>
        </p:nvGrpSpPr>
        <p:grpSpPr>
          <a:xfrm>
            <a:off x="457201" y="4752729"/>
            <a:ext cx="3352800" cy="990272"/>
            <a:chOff x="0" y="0"/>
            <a:chExt cx="3060886" cy="653141"/>
          </a:xfrm>
        </p:grpSpPr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28499936-E464-0F8F-F951-B989E1CEA161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1">
              <a:extLst>
                <a:ext uri="{FF2B5EF4-FFF2-40B4-BE49-F238E27FC236}">
                  <a16:creationId xmlns:a16="http://schemas.microsoft.com/office/drawing/2014/main" id="{66A66150-8C80-15CD-A4EB-0850DF8C3BD9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12">
            <a:extLst>
              <a:ext uri="{FF2B5EF4-FFF2-40B4-BE49-F238E27FC236}">
                <a16:creationId xmlns:a16="http://schemas.microsoft.com/office/drawing/2014/main" id="{19040C90-99F1-953F-A8CF-C0B27D52268C}"/>
              </a:ext>
            </a:extLst>
          </p:cNvPr>
          <p:cNvSpPr txBox="1"/>
          <p:nvPr/>
        </p:nvSpPr>
        <p:spPr>
          <a:xfrm>
            <a:off x="723783" y="4952590"/>
            <a:ext cx="2738867" cy="494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Case 1</a:t>
            </a:r>
          </a:p>
        </p:txBody>
      </p:sp>
      <p:grpSp>
        <p:nvGrpSpPr>
          <p:cNvPr id="21" name="Group 13">
            <a:extLst>
              <a:ext uri="{FF2B5EF4-FFF2-40B4-BE49-F238E27FC236}">
                <a16:creationId xmlns:a16="http://schemas.microsoft.com/office/drawing/2014/main" id="{16F766E3-F564-7E10-72DA-7ADFA1C12A9E}"/>
              </a:ext>
            </a:extLst>
          </p:cNvPr>
          <p:cNvGrpSpPr/>
          <p:nvPr/>
        </p:nvGrpSpPr>
        <p:grpSpPr>
          <a:xfrm>
            <a:off x="457201" y="6666619"/>
            <a:ext cx="3352800" cy="990272"/>
            <a:chOff x="0" y="0"/>
            <a:chExt cx="3060886" cy="653141"/>
          </a:xfrm>
        </p:grpSpPr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2DD97F9B-5D9D-EEA1-47B7-764DEEF3BF99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23" name="TextBox 15">
              <a:extLst>
                <a:ext uri="{FF2B5EF4-FFF2-40B4-BE49-F238E27FC236}">
                  <a16:creationId xmlns:a16="http://schemas.microsoft.com/office/drawing/2014/main" id="{443B19FD-5DA6-8026-BDB1-71108CCD3EC1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16">
            <a:extLst>
              <a:ext uri="{FF2B5EF4-FFF2-40B4-BE49-F238E27FC236}">
                <a16:creationId xmlns:a16="http://schemas.microsoft.com/office/drawing/2014/main" id="{2FF8C18B-1110-534E-4829-B1030D27FA9C}"/>
              </a:ext>
            </a:extLst>
          </p:cNvPr>
          <p:cNvSpPr txBox="1"/>
          <p:nvPr/>
        </p:nvSpPr>
        <p:spPr>
          <a:xfrm>
            <a:off x="723783" y="6866481"/>
            <a:ext cx="3052007" cy="494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Case 2</a:t>
            </a:r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F725DBF7-EDB3-431E-9E03-72CF552E0163}"/>
              </a:ext>
            </a:extLst>
          </p:cNvPr>
          <p:cNvSpPr txBox="1"/>
          <p:nvPr/>
        </p:nvSpPr>
        <p:spPr>
          <a:xfrm>
            <a:off x="4120062" y="4920722"/>
            <a:ext cx="6558001" cy="558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More </a:t>
            </a:r>
            <a:r>
              <a:rPr lang="en-US" sz="32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reliable energy prediction</a:t>
            </a: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D84425E3-228B-D6FE-1628-1EB4BBE0D181}"/>
              </a:ext>
            </a:extLst>
          </p:cNvPr>
          <p:cNvSpPr txBox="1"/>
          <p:nvPr/>
        </p:nvSpPr>
        <p:spPr>
          <a:xfrm>
            <a:off x="4114800" y="6831898"/>
            <a:ext cx="5863370" cy="558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Potential </a:t>
            </a:r>
            <a:r>
              <a:rPr lang="en-US" sz="3200" b="1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B2C use case</a:t>
            </a:r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3A481135-571D-6F5B-5DE9-33BF888FBD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pic>
        <p:nvPicPr>
          <p:cNvPr id="28" name="Grafik 27" descr="Ein Bild, das Text, Logo, Grafiken, Schrift enthält.&#10;&#10;KI-generierte Inhalte können fehlerhaft sein.">
            <a:extLst>
              <a:ext uri="{FF2B5EF4-FFF2-40B4-BE49-F238E27FC236}">
                <a16:creationId xmlns:a16="http://schemas.microsoft.com/office/drawing/2014/main" id="{8FADF2D4-9FC6-B4EF-96FE-04F36F9CCD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105" b="90820" l="9961" r="89844">
                        <a14:foregroundMark x1="40820" y1="28711" x2="40820" y2="28711"/>
                        <a14:foregroundMark x1="39258" y1="17285" x2="39258" y2="17285"/>
                        <a14:foregroundMark x1="53936" y1="8989" x2="58368" y2="8391"/>
                        <a14:foregroundMark x1="38965" y1="15332" x2="39160" y2="18652"/>
                        <a14:foregroundMark x1="30664" y1="19043" x2="33496" y2="21387"/>
                        <a14:foregroundMark x1="27441" y1="26953" x2="31250" y2="26855"/>
                        <a14:foregroundMark x1="39160" y1="34863" x2="39355" y2="37402"/>
                        <a14:foregroundMark x1="44824" y1="33203" x2="47144" y2="33821"/>
                        <a14:foregroundMark x1="47754" y1="26855" x2="50879" y2="26367"/>
                        <a14:foregroundMark x1="32715" y1="33789" x2="32129" y2="35059"/>
                        <a14:foregroundMark x1="44922" y1="20313" x2="46191" y2="19824"/>
                        <a14:foregroundMark x1="68066" y1="33594" x2="67578" y2="55469"/>
                        <a14:foregroundMark x1="26465" y1="52637" x2="26563" y2="60156"/>
                        <a14:foregroundMark x1="34082" y1="48438" x2="33984" y2="58887"/>
                        <a14:foregroundMark x1="42676" y1="55078" x2="42773" y2="61035"/>
                        <a14:foregroundMark x1="50195" y1="49609" x2="50195" y2="57227"/>
                        <a14:foregroundMark x1="59277" y1="56738" x2="60059" y2="63086"/>
                        <a14:foregroundMark x1="66016" y1="60449" x2="66797" y2="64160"/>
                        <a14:foregroundMark x1="15709" y1="79297" x2="15625" y2="80176"/>
                        <a14:foregroundMark x1="15820" y1="78125" x2="15709" y2="79297"/>
                        <a14:foregroundMark x1="23903" y1="79102" x2="24023" y2="80664"/>
                        <a14:foregroundMark x1="23828" y1="78125" x2="23903" y2="79102"/>
                        <a14:foregroundMark x1="32324" y1="78125" x2="31055" y2="80371"/>
                        <a14:foregroundMark x1="40540" y1="79980" x2="40332" y2="80566"/>
                        <a14:foregroundMark x1="41406" y1="77539" x2="40540" y2="79980"/>
                        <a14:foregroundMark x1="48828" y1="77246" x2="48828" y2="80566"/>
                        <a14:foregroundMark x1="57910" y1="77246" x2="57227" y2="78125"/>
                        <a14:foregroundMark x1="65723" y1="77344" x2="64258" y2="79590"/>
                        <a14:foregroundMark x1="73730" y1="79004" x2="74414" y2="82129"/>
                        <a14:foregroundMark x1="81641" y1="77148" x2="81934" y2="79883"/>
                        <a14:foregroundMark x1="20898" y1="88184" x2="20898" y2="88184"/>
                        <a14:foregroundMark x1="25586" y1="87793" x2="25586" y2="87793"/>
                        <a14:foregroundMark x1="29590" y1="87793" x2="29590" y2="87793"/>
                        <a14:foregroundMark x1="33301" y1="88086" x2="33301" y2="88086"/>
                        <a14:foregroundMark x1="37500" y1="88184" x2="37500" y2="88184"/>
                        <a14:foregroundMark x1="16895" y1="88477" x2="16895" y2="88477"/>
                        <a14:foregroundMark x1="18164" y1="90820" x2="18164" y2="90820"/>
                        <a14:foregroundMark x1="16699" y1="89063" x2="16699" y2="89063"/>
                        <a14:foregroundMark x1="18652" y1="87500" x2="18652" y2="87500"/>
                        <a14:foregroundMark x1="17285" y1="87793" x2="17285" y2="87793"/>
                        <a14:foregroundMark x1="40527" y1="87500" x2="40527" y2="87500"/>
                        <a14:foregroundMark x1="43164" y1="88086" x2="43164" y2="88086"/>
                        <a14:foregroundMark x1="45605" y1="88184" x2="45605" y2="88184"/>
                        <a14:foregroundMark x1="49512" y1="88965" x2="49512" y2="88965"/>
                        <a14:foregroundMark x1="55469" y1="88965" x2="55469" y2="88965"/>
                        <a14:foregroundMark x1="59863" y1="88770" x2="59863" y2="88770"/>
                        <a14:foregroundMark x1="64746" y1="87988" x2="64746" y2="87988"/>
                        <a14:foregroundMark x1="69531" y1="88574" x2="69531" y2="88574"/>
                        <a14:foregroundMark x1="73145" y1="88770" x2="73145" y2="88770"/>
                        <a14:foregroundMark x1="76855" y1="88379" x2="76855" y2="88379"/>
                        <a14:foregroundMark x1="81348" y1="88281" x2="81348" y2="88281"/>
                        <a14:foregroundMark x1="25391" y1="90332" x2="25391" y2="90332"/>
                        <a14:foregroundMark x1="81738" y1="88379" x2="81738" y2="88379"/>
                        <a14:foregroundMark x1="81543" y1="88184" x2="81543" y2="88184"/>
                        <a14:foregroundMark x1="81738" y1="89160" x2="81738" y2="89160"/>
                        <a14:backgroundMark x1="39551" y1="11230" x2="50293" y2="10059"/>
                        <a14:backgroundMark x1="51953" y1="9668" x2="51953" y2="9668"/>
                        <a14:backgroundMark x1="50684" y1="9375" x2="52441" y2="9668"/>
                        <a14:backgroundMark x1="38672" y1="11230" x2="40039" y2="10938"/>
                        <a14:backgroundMark x1="52344" y1="9570" x2="53711" y2="9375"/>
                        <a14:backgroundMark x1="58887" y1="7715" x2="63184" y2="8887"/>
                        <a14:backgroundMark x1="48438" y1="17285" x2="48242" y2="18164"/>
                        <a14:backgroundMark x1="47656" y1="17773" x2="48535" y2="19043"/>
                        <a14:backgroundMark x1="33691" y1="31738" x2="34570" y2="33008"/>
                        <a14:backgroundMark x1="47559" y1="33496" x2="48535" y2="34473"/>
                        <a14:backgroundMark x1="86230" y1="12695" x2="86621" y2="18066"/>
                        <a14:backgroundMark x1="86621" y1="18066" x2="86133" y2="17188"/>
                        <a14:backgroundMark x1="86035" y1="15332" x2="86523" y2="20508"/>
                        <a14:backgroundMark x1="86523" y1="20508" x2="86230" y2="22363"/>
                        <a14:backgroundMark x1="17676" y1="79297" x2="17676" y2="79297"/>
                        <a14:backgroundMark x1="18359" y1="81934" x2="18359" y2="81934"/>
                        <a14:backgroundMark x1="25098" y1="79102" x2="25098" y2="79102"/>
                        <a14:backgroundMark x1="42383" y1="79980" x2="42383" y2="79980"/>
                        <a14:backgroundMark x1="22656" y1="89746" x2="22656" y2="89746"/>
                        <a14:backgroundMark x1="41504" y1="86328" x2="40332" y2="86914"/>
                        <a14:backgroundMark x1="40137" y1="87012" x2="41602" y2="87305"/>
                        <a14:backgroundMark x1="17409" y1="89063" x2="17285" y2="89746"/>
                        <a14:backgroundMark x1="17480" y1="88672" x2="17409" y2="89063"/>
                        <a14:backgroundMark x1="60449" y1="89258" x2="60449" y2="89258"/>
                        <a14:backgroundMark x1="70605" y1="88672" x2="70605" y2="88672"/>
                        <a14:backgroundMark x1="73926" y1="89355" x2="73926" y2="89355"/>
                        <a14:backgroundMark x1="25879" y1="89551" x2="25879" y2="89551"/>
                        <a14:backgroundMark x1="25781" y1="89551" x2="25781" y2="89551"/>
                        <a14:backgroundMark x1="81445" y1="87988" x2="81445" y2="87988"/>
                        <a14:backgroundMark x1="81348" y1="88086" x2="81348" y2="88086"/>
                        <a14:backgroundMark x1="81836" y1="88281" x2="81836" y2="88281"/>
                        <a14:backgroundMark x1="81738" y1="88379" x2="81738" y2="88379"/>
                        <a14:backgroundMark x1="81445" y1="88184" x2="81445" y2="88184"/>
                        <a14:backgroundMark x1="81543" y1="88281" x2="81543" y2="88281"/>
                        <a14:backgroundMark x1="81641" y1="88184" x2="81641" y2="881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2446" y="2691347"/>
            <a:ext cx="7238353" cy="72383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9980" y="1688841"/>
            <a:ext cx="6909318" cy="69093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>
                <a:alphaModFix amt="35000"/>
              </a:blip>
              <a:stretch>
                <a:fillRect l="-16666" r="-16666"/>
              </a:stretch>
            </a:blipFill>
          </p:spPr>
          <p:txBody>
            <a:bodyPr/>
            <a:lstStyle/>
            <a:p>
              <a:endParaRPr lang="de-A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985938" y="3600450"/>
            <a:ext cx="11015853" cy="3086100"/>
            <a:chOff x="0" y="0"/>
            <a:chExt cx="2901295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01295" cy="812800"/>
            </a:xfrm>
            <a:custGeom>
              <a:avLst/>
              <a:gdLst/>
              <a:ahLst/>
              <a:cxnLst/>
              <a:rect l="l" t="t" r="r" b="b"/>
              <a:pathLst>
                <a:path w="2901295" h="812800">
                  <a:moveTo>
                    <a:pt x="0" y="0"/>
                  </a:moveTo>
                  <a:lnTo>
                    <a:pt x="2901295" y="0"/>
                  </a:lnTo>
                  <a:lnTo>
                    <a:pt x="29012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01295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425645" y="3600450"/>
            <a:ext cx="3257995" cy="3045824"/>
            <a:chOff x="0" y="0"/>
            <a:chExt cx="812800" cy="7598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759868"/>
            </a:xfrm>
            <a:custGeom>
              <a:avLst/>
              <a:gdLst/>
              <a:ahLst/>
              <a:cxnLst/>
              <a:rect l="l" t="t" r="r" b="b"/>
              <a:pathLst>
                <a:path w="812800" h="759868">
                  <a:moveTo>
                    <a:pt x="609600" y="0"/>
                  </a:moveTo>
                  <a:lnTo>
                    <a:pt x="0" y="0"/>
                  </a:lnTo>
                  <a:lnTo>
                    <a:pt x="0" y="759868"/>
                  </a:lnTo>
                  <a:lnTo>
                    <a:pt x="609600" y="759868"/>
                  </a:lnTo>
                  <a:lnTo>
                    <a:pt x="812800" y="379934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98500" cy="797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7089597" y="3600450"/>
            <a:ext cx="1183468" cy="3086100"/>
            <a:chOff x="0" y="0"/>
            <a:chExt cx="291397" cy="7598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1397" cy="759868"/>
            </a:xfrm>
            <a:custGeom>
              <a:avLst/>
              <a:gdLst/>
              <a:ahLst/>
              <a:cxnLst/>
              <a:rect l="l" t="t" r="r" b="b"/>
              <a:pathLst>
                <a:path w="291397" h="759868">
                  <a:moveTo>
                    <a:pt x="88197" y="0"/>
                  </a:moveTo>
                  <a:lnTo>
                    <a:pt x="0" y="0"/>
                  </a:lnTo>
                  <a:lnTo>
                    <a:pt x="0" y="759868"/>
                  </a:lnTo>
                  <a:lnTo>
                    <a:pt x="88197" y="759868"/>
                  </a:lnTo>
                  <a:lnTo>
                    <a:pt x="291397" y="379934"/>
                  </a:lnTo>
                  <a:lnTo>
                    <a:pt x="88197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7097" cy="797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751814" y="7810477"/>
            <a:ext cx="7628855" cy="576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899"/>
              </a:lnSpc>
              <a:spcBef>
                <a:spcPct val="0"/>
              </a:spcBef>
            </a:pPr>
            <a:r>
              <a:rPr lang="en-US" sz="34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34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81331" y="4239187"/>
            <a:ext cx="8454806" cy="1450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899"/>
              </a:lnSpc>
              <a:spcBef>
                <a:spcPct val="0"/>
              </a:spcBef>
            </a:pPr>
            <a:r>
              <a:rPr lang="en-US" sz="8499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413614" y="5799781"/>
            <a:ext cx="9322353" cy="564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759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We’re looking forward to collaborating with you!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0" y="8349344"/>
            <a:ext cx="8591967" cy="1137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759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  <a:hlinkClick r:id="rId3"/>
              </a:rPr>
              <a:t>https://github.com/smn-krn/TIS3IL-WS25-Project/tree/main</a:t>
            </a:r>
            <a:endParaRPr lang="en-US" sz="2000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  <a:p>
            <a:pPr algn="r">
              <a:lnSpc>
                <a:spcPts val="4759"/>
              </a:lnSpc>
              <a:spcBef>
                <a:spcPct val="0"/>
              </a:spcBef>
            </a:pPr>
            <a:endParaRPr lang="en-US" sz="2000" dirty="0">
              <a:solidFill>
                <a:srgbClr val="000000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7" name="Freeform 17"/>
          <p:cNvSpPr/>
          <p:nvPr/>
        </p:nvSpPr>
        <p:spPr>
          <a:xfrm rot="5400000">
            <a:off x="198762" y="7504437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pic>
        <p:nvPicPr>
          <p:cNvPr id="19" name="Grafik 18" descr="Ein Bild, das Text, Logo, Grafiken, Schrift enthält.&#10;&#10;KI-generierte Inhalte können fehlerhaft sein.">
            <a:extLst>
              <a:ext uri="{FF2B5EF4-FFF2-40B4-BE49-F238E27FC236}">
                <a16:creationId xmlns:a16="http://schemas.microsoft.com/office/drawing/2014/main" id="{344CAD8F-5F78-59A3-2BD4-8233B7C1B03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105" b="90820" l="9961" r="89844">
                        <a14:foregroundMark x1="40820" y1="28711" x2="40820" y2="28711"/>
                        <a14:foregroundMark x1="39258" y1="17285" x2="39258" y2="17285"/>
                        <a14:foregroundMark x1="53936" y1="8989" x2="58368" y2="8391"/>
                        <a14:foregroundMark x1="38965" y1="15332" x2="39160" y2="18652"/>
                        <a14:foregroundMark x1="30664" y1="19043" x2="33496" y2="21387"/>
                        <a14:foregroundMark x1="27441" y1="26953" x2="31250" y2="26855"/>
                        <a14:foregroundMark x1="39160" y1="34863" x2="39355" y2="37402"/>
                        <a14:foregroundMark x1="44824" y1="33203" x2="47144" y2="33821"/>
                        <a14:foregroundMark x1="47754" y1="26855" x2="50879" y2="26367"/>
                        <a14:foregroundMark x1="32715" y1="33789" x2="32129" y2="35059"/>
                        <a14:foregroundMark x1="44922" y1="20313" x2="46191" y2="19824"/>
                        <a14:foregroundMark x1="68066" y1="33594" x2="67578" y2="55469"/>
                        <a14:foregroundMark x1="26465" y1="52637" x2="26563" y2="60156"/>
                        <a14:foregroundMark x1="34082" y1="48438" x2="33984" y2="58887"/>
                        <a14:foregroundMark x1="42676" y1="55078" x2="42773" y2="61035"/>
                        <a14:foregroundMark x1="50195" y1="49609" x2="50195" y2="57227"/>
                        <a14:foregroundMark x1="59277" y1="56738" x2="60059" y2="63086"/>
                        <a14:foregroundMark x1="66016" y1="60449" x2="66797" y2="64160"/>
                        <a14:foregroundMark x1="15709" y1="79297" x2="15625" y2="80176"/>
                        <a14:foregroundMark x1="15820" y1="78125" x2="15709" y2="79297"/>
                        <a14:foregroundMark x1="23903" y1="79102" x2="24023" y2="80664"/>
                        <a14:foregroundMark x1="23828" y1="78125" x2="23903" y2="79102"/>
                        <a14:foregroundMark x1="32324" y1="78125" x2="31055" y2="80371"/>
                        <a14:foregroundMark x1="40540" y1="79980" x2="40332" y2="80566"/>
                        <a14:foregroundMark x1="41406" y1="77539" x2="40540" y2="79980"/>
                        <a14:foregroundMark x1="48828" y1="77246" x2="48828" y2="80566"/>
                        <a14:foregroundMark x1="57910" y1="77246" x2="57227" y2="78125"/>
                        <a14:foregroundMark x1="65723" y1="77344" x2="64258" y2="79590"/>
                        <a14:foregroundMark x1="73730" y1="79004" x2="74414" y2="82129"/>
                        <a14:foregroundMark x1="81641" y1="77148" x2="81934" y2="79883"/>
                        <a14:foregroundMark x1="20898" y1="88184" x2="20898" y2="88184"/>
                        <a14:foregroundMark x1="25586" y1="87793" x2="25586" y2="87793"/>
                        <a14:foregroundMark x1="29590" y1="87793" x2="29590" y2="87793"/>
                        <a14:foregroundMark x1="33301" y1="88086" x2="33301" y2="88086"/>
                        <a14:foregroundMark x1="37500" y1="88184" x2="37500" y2="88184"/>
                        <a14:foregroundMark x1="16895" y1="88477" x2="16895" y2="88477"/>
                        <a14:foregroundMark x1="18164" y1="90820" x2="18164" y2="90820"/>
                        <a14:foregroundMark x1="16699" y1="89063" x2="16699" y2="89063"/>
                        <a14:foregroundMark x1="18652" y1="87500" x2="18652" y2="87500"/>
                        <a14:foregroundMark x1="17285" y1="87793" x2="17285" y2="87793"/>
                        <a14:foregroundMark x1="40527" y1="87500" x2="40527" y2="87500"/>
                        <a14:foregroundMark x1="43164" y1="88086" x2="43164" y2="88086"/>
                        <a14:foregroundMark x1="45605" y1="88184" x2="45605" y2="88184"/>
                        <a14:foregroundMark x1="49512" y1="88965" x2="49512" y2="88965"/>
                        <a14:foregroundMark x1="55469" y1="88965" x2="55469" y2="88965"/>
                        <a14:foregroundMark x1="59863" y1="88770" x2="59863" y2="88770"/>
                        <a14:foregroundMark x1="64746" y1="87988" x2="64746" y2="87988"/>
                        <a14:foregroundMark x1="69531" y1="88574" x2="69531" y2="88574"/>
                        <a14:foregroundMark x1="73145" y1="88770" x2="73145" y2="88770"/>
                        <a14:foregroundMark x1="76855" y1="88379" x2="76855" y2="88379"/>
                        <a14:foregroundMark x1="81348" y1="88281" x2="81348" y2="88281"/>
                        <a14:foregroundMark x1="25391" y1="90332" x2="25391" y2="90332"/>
                        <a14:foregroundMark x1="81738" y1="88379" x2="81738" y2="88379"/>
                        <a14:foregroundMark x1="81543" y1="88184" x2="81543" y2="88184"/>
                        <a14:foregroundMark x1="81738" y1="89160" x2="81738" y2="89160"/>
                        <a14:backgroundMark x1="39551" y1="11230" x2="50293" y2="10059"/>
                        <a14:backgroundMark x1="51953" y1="9668" x2="51953" y2="9668"/>
                        <a14:backgroundMark x1="50684" y1="9375" x2="52441" y2="9668"/>
                        <a14:backgroundMark x1="38672" y1="11230" x2="40039" y2="10938"/>
                        <a14:backgroundMark x1="52344" y1="9570" x2="53711" y2="9375"/>
                        <a14:backgroundMark x1="58887" y1="7715" x2="63184" y2="8887"/>
                        <a14:backgroundMark x1="48438" y1="17285" x2="48242" y2="18164"/>
                        <a14:backgroundMark x1="47656" y1="17773" x2="48535" y2="19043"/>
                        <a14:backgroundMark x1="33691" y1="31738" x2="34570" y2="33008"/>
                        <a14:backgroundMark x1="47559" y1="33496" x2="48535" y2="34473"/>
                        <a14:backgroundMark x1="86230" y1="12695" x2="86621" y2="18066"/>
                        <a14:backgroundMark x1="86621" y1="18066" x2="86133" y2="17188"/>
                        <a14:backgroundMark x1="86035" y1="15332" x2="86523" y2="20508"/>
                        <a14:backgroundMark x1="86523" y1="20508" x2="86230" y2="22363"/>
                        <a14:backgroundMark x1="17676" y1="79297" x2="17676" y2="79297"/>
                        <a14:backgroundMark x1="18359" y1="81934" x2="18359" y2="81934"/>
                        <a14:backgroundMark x1="25098" y1="79102" x2="25098" y2="79102"/>
                        <a14:backgroundMark x1="42383" y1="79980" x2="42383" y2="79980"/>
                        <a14:backgroundMark x1="22656" y1="89746" x2="22656" y2="89746"/>
                        <a14:backgroundMark x1="41504" y1="86328" x2="40332" y2="86914"/>
                        <a14:backgroundMark x1="40137" y1="87012" x2="41602" y2="87305"/>
                        <a14:backgroundMark x1="17409" y1="89063" x2="17285" y2="89746"/>
                        <a14:backgroundMark x1="17480" y1="88672" x2="17409" y2="89063"/>
                        <a14:backgroundMark x1="60449" y1="89258" x2="60449" y2="89258"/>
                        <a14:backgroundMark x1="70605" y1="88672" x2="70605" y2="88672"/>
                        <a14:backgroundMark x1="73926" y1="89355" x2="73926" y2="89355"/>
                        <a14:backgroundMark x1="25879" y1="89551" x2="25879" y2="89551"/>
                        <a14:backgroundMark x1="25781" y1="89551" x2="25781" y2="89551"/>
                        <a14:backgroundMark x1="81445" y1="87988" x2="81445" y2="87988"/>
                        <a14:backgroundMark x1="81348" y1="88086" x2="81348" y2="88086"/>
                        <a14:backgroundMark x1="81836" y1="88281" x2="81836" y2="88281"/>
                        <a14:backgroundMark x1="81738" y1="88379" x2="81738" y2="88379"/>
                        <a14:backgroundMark x1="81445" y1="88184" x2="81445" y2="88184"/>
                        <a14:backgroundMark x1="81543" y1="88281" x2="81543" y2="88281"/>
                        <a14:backgroundMark x1="81641" y1="88184" x2="81641" y2="881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539" y="3164744"/>
            <a:ext cx="4648200" cy="4648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</Words>
  <Application>Microsoft Office PowerPoint</Application>
  <PresentationFormat>Benutzerdefiniert</PresentationFormat>
  <Paragraphs>206</Paragraphs>
  <Slides>16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3" baseType="lpstr">
      <vt:lpstr>Calibri</vt:lpstr>
      <vt:lpstr>League Spartan</vt:lpstr>
      <vt:lpstr>Aptos</vt:lpstr>
      <vt:lpstr>Arial</vt:lpstr>
      <vt:lpstr>Inter</vt:lpstr>
      <vt:lpstr>Inter Bold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Minimalist Financial Report Presentation</dc:title>
  <dc:creator>Annalena</dc:creator>
  <cp:lastModifiedBy>Simone Kern</cp:lastModifiedBy>
  <cp:revision>76</cp:revision>
  <dcterms:created xsi:type="dcterms:W3CDTF">2006-08-16T00:00:00Z</dcterms:created>
  <dcterms:modified xsi:type="dcterms:W3CDTF">2026-01-23T10:15:07Z</dcterms:modified>
  <dc:identifier>DAG7mWnch2A</dc:identifier>
</cp:coreProperties>
</file>