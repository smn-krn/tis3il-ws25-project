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69" r:id="rId4"/>
    <p:sldId id="258" r:id="rId5"/>
    <p:sldId id="270" r:id="rId6"/>
    <p:sldId id="271" r:id="rId7"/>
    <p:sldId id="272" r:id="rId8"/>
    <p:sldId id="273" r:id="rId9"/>
    <p:sldId id="260" r:id="rId10"/>
    <p:sldId id="274" r:id="rId11"/>
    <p:sldId id="263" r:id="rId12"/>
    <p:sldId id="266" r:id="rId13"/>
    <p:sldId id="268" r:id="rId14"/>
  </p:sldIdLst>
  <p:sldSz cx="18288000" cy="10287000"/>
  <p:notesSz cx="6858000" cy="9144000"/>
  <p:embeddedFontLst>
    <p:embeddedFont>
      <p:font typeface="Inter" panose="020B0604020202020204" charset="0"/>
      <p:regular r:id="rId15"/>
    </p:embeddedFont>
    <p:embeddedFont>
      <p:font typeface="Inter Bold" panose="020B0604020202020204" charset="0"/>
      <p:regular r:id="rId16"/>
    </p:embeddedFont>
    <p:embeddedFont>
      <p:font typeface="League Spartan" panose="020B0604020202020204" charset="0"/>
      <p:regular r:id="rId17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54" d="100"/>
          <a:sy n="54" d="100"/>
        </p:scale>
        <p:origin x="276" y="54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3.fntdata"/><Relationship Id="rId2" Type="http://schemas.openxmlformats.org/officeDocument/2006/relationships/slide" Target="slides/slide1.xml"/><Relationship Id="rId16" Type="http://schemas.openxmlformats.org/officeDocument/2006/relationships/font" Target="fonts/font2.fntdata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font" Target="fonts/font1.fntdata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12/18/2025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‹Nr.›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12/18/2025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‹Nr.›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12/18/2025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‹Nr.›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12/18/2025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‹Nr.›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12/18/2025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‹Nr.›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12/18/2025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‹Nr.›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12/18/2025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‹Nr.›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12/18/2025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‹Nr.›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12/18/2025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‹Nr.›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12/18/2025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‹Nr.›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12/18/2025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‹Nr.›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12/18/2025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‹Nr.›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sv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sv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jpe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.jpe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589980" y="1688841"/>
            <a:ext cx="6909318" cy="6909318"/>
            <a:chOff x="0" y="0"/>
            <a:chExt cx="812800" cy="8128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blipFill>
              <a:blip r:embed="rId2"/>
              <a:stretch>
                <a:fillRect l="-16666" r="-16666"/>
              </a:stretch>
            </a:blipFill>
          </p:spPr>
          <p:txBody>
            <a:bodyPr/>
            <a:lstStyle/>
            <a:p>
              <a:endParaRPr lang="de-AT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7985938" y="3600450"/>
            <a:ext cx="11015853" cy="3086100"/>
            <a:chOff x="0" y="0"/>
            <a:chExt cx="2901295" cy="8128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901295" cy="812800"/>
            </a:xfrm>
            <a:custGeom>
              <a:avLst/>
              <a:gdLst/>
              <a:ahLst/>
              <a:cxnLst/>
              <a:rect l="l" t="t" r="r" b="b"/>
              <a:pathLst>
                <a:path w="2901295" h="812800">
                  <a:moveTo>
                    <a:pt x="0" y="0"/>
                  </a:moveTo>
                  <a:lnTo>
                    <a:pt x="2901295" y="0"/>
                  </a:lnTo>
                  <a:lnTo>
                    <a:pt x="2901295" y="812800"/>
                  </a:lnTo>
                  <a:lnTo>
                    <a:pt x="0" y="812800"/>
                  </a:lnTo>
                  <a:close/>
                </a:path>
              </a:pathLst>
            </a:custGeom>
            <a:solidFill>
              <a:srgbClr val="2B485F"/>
            </a:solidFill>
          </p:spPr>
          <p:txBody>
            <a:bodyPr/>
            <a:lstStyle/>
            <a:p>
              <a:endParaRPr lang="de-AT"/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0" y="-38100"/>
              <a:ext cx="2901295" cy="8509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-425645" y="3600450"/>
            <a:ext cx="3257995" cy="3045824"/>
            <a:chOff x="0" y="0"/>
            <a:chExt cx="812800" cy="759868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812800" cy="759868"/>
            </a:xfrm>
            <a:custGeom>
              <a:avLst/>
              <a:gdLst/>
              <a:ahLst/>
              <a:cxnLst/>
              <a:rect l="l" t="t" r="r" b="b"/>
              <a:pathLst>
                <a:path w="812800" h="759868">
                  <a:moveTo>
                    <a:pt x="609600" y="0"/>
                  </a:moveTo>
                  <a:lnTo>
                    <a:pt x="0" y="0"/>
                  </a:lnTo>
                  <a:lnTo>
                    <a:pt x="0" y="759868"/>
                  </a:lnTo>
                  <a:lnTo>
                    <a:pt x="609600" y="759868"/>
                  </a:lnTo>
                  <a:lnTo>
                    <a:pt x="812800" y="379934"/>
                  </a:lnTo>
                  <a:lnTo>
                    <a:pt x="609600" y="0"/>
                  </a:lnTo>
                  <a:close/>
                </a:path>
              </a:pathLst>
            </a:custGeom>
            <a:solidFill>
              <a:srgbClr val="2B485F"/>
            </a:solidFill>
          </p:spPr>
          <p:txBody>
            <a:bodyPr/>
            <a:lstStyle/>
            <a:p>
              <a:endParaRPr lang="de-AT"/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0" y="-38100"/>
              <a:ext cx="698500" cy="79796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0" name="Group 10"/>
          <p:cNvGrpSpPr/>
          <p:nvPr/>
        </p:nvGrpSpPr>
        <p:grpSpPr>
          <a:xfrm rot="-10800000">
            <a:off x="7089597" y="3600450"/>
            <a:ext cx="1183468" cy="3086100"/>
            <a:chOff x="0" y="0"/>
            <a:chExt cx="291397" cy="759868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291397" cy="759868"/>
            </a:xfrm>
            <a:custGeom>
              <a:avLst/>
              <a:gdLst/>
              <a:ahLst/>
              <a:cxnLst/>
              <a:rect l="l" t="t" r="r" b="b"/>
              <a:pathLst>
                <a:path w="291397" h="759868">
                  <a:moveTo>
                    <a:pt x="88197" y="0"/>
                  </a:moveTo>
                  <a:lnTo>
                    <a:pt x="0" y="0"/>
                  </a:lnTo>
                  <a:lnTo>
                    <a:pt x="0" y="759868"/>
                  </a:lnTo>
                  <a:lnTo>
                    <a:pt x="88197" y="759868"/>
                  </a:lnTo>
                  <a:lnTo>
                    <a:pt x="291397" y="379934"/>
                  </a:lnTo>
                  <a:lnTo>
                    <a:pt x="88197" y="0"/>
                  </a:lnTo>
                  <a:close/>
                </a:path>
              </a:pathLst>
            </a:custGeom>
            <a:solidFill>
              <a:srgbClr val="2B485F"/>
            </a:solidFill>
          </p:spPr>
          <p:txBody>
            <a:bodyPr/>
            <a:lstStyle/>
            <a:p>
              <a:endParaRPr lang="de-AT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-38100"/>
              <a:ext cx="177097" cy="79796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3" name="Freeform 13"/>
          <p:cNvSpPr/>
          <p:nvPr/>
        </p:nvSpPr>
        <p:spPr>
          <a:xfrm rot="5400000">
            <a:off x="1402672" y="654728"/>
            <a:ext cx="455966" cy="1203911"/>
          </a:xfrm>
          <a:custGeom>
            <a:avLst/>
            <a:gdLst/>
            <a:ahLst/>
            <a:cxnLst/>
            <a:rect l="l" t="t" r="r" b="b"/>
            <a:pathLst>
              <a:path w="455966" h="1203911">
                <a:moveTo>
                  <a:pt x="0" y="0"/>
                </a:moveTo>
                <a:lnTo>
                  <a:pt x="455966" y="0"/>
                </a:lnTo>
                <a:lnTo>
                  <a:pt x="455966" y="1203910"/>
                </a:lnTo>
                <a:lnTo>
                  <a:pt x="0" y="120391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de-AT"/>
          </a:p>
        </p:txBody>
      </p:sp>
      <p:sp>
        <p:nvSpPr>
          <p:cNvPr id="14" name="TextBox 14"/>
          <p:cNvSpPr txBox="1"/>
          <p:nvPr/>
        </p:nvSpPr>
        <p:spPr>
          <a:xfrm>
            <a:off x="8382000" y="1357053"/>
            <a:ext cx="7754136" cy="57676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>
              <a:lnSpc>
                <a:spcPts val="4899"/>
              </a:lnSpc>
              <a:spcBef>
                <a:spcPct val="0"/>
              </a:spcBef>
            </a:pPr>
            <a:r>
              <a:rPr lang="en-US" sz="3499" b="1" dirty="0" err="1">
                <a:solidFill>
                  <a:srgbClr val="000000"/>
                </a:solidFill>
                <a:latin typeface="Inter Bold"/>
                <a:ea typeface="Inter Bold"/>
                <a:cs typeface="Inter Bold"/>
                <a:sym typeface="Inter Bold"/>
              </a:rPr>
              <a:t>Broadsoft</a:t>
            </a:r>
            <a:r>
              <a:rPr lang="en-US" sz="3499" b="1" dirty="0">
                <a:solidFill>
                  <a:srgbClr val="000000"/>
                </a:solidFill>
                <a:latin typeface="Inter Bold"/>
                <a:ea typeface="Inter Bold"/>
                <a:cs typeface="Inter Bold"/>
                <a:sym typeface="Inter Bold"/>
              </a:rPr>
              <a:t> Consulting Company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7239000" y="3816156"/>
            <a:ext cx="9956990" cy="186461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>
              <a:lnSpc>
                <a:spcPts val="7419"/>
              </a:lnSpc>
              <a:spcBef>
                <a:spcPct val="0"/>
              </a:spcBef>
            </a:pPr>
            <a:r>
              <a:rPr lang="en-US" sz="5299" dirty="0">
                <a:solidFill>
                  <a:srgbClr val="FFFFFF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Weather forecasting to boost sales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7543800" y="5848985"/>
            <a:ext cx="7345135" cy="5641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4759"/>
              </a:lnSpc>
              <a:spcBef>
                <a:spcPct val="0"/>
              </a:spcBef>
            </a:pPr>
            <a:r>
              <a:rPr lang="en-US" sz="3399" b="1" dirty="0">
                <a:solidFill>
                  <a:srgbClr val="FFFFFF"/>
                </a:solidFill>
                <a:latin typeface="Inter Bold"/>
                <a:ea typeface="Inter Bold"/>
                <a:cs typeface="Inter Bold"/>
                <a:sym typeface="Inter Bold"/>
              </a:rPr>
              <a:t>Presentation by the Data Team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0694108" y="8258175"/>
            <a:ext cx="5442029" cy="5641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4759"/>
              </a:lnSpc>
              <a:spcBef>
                <a:spcPct val="0"/>
              </a:spcBef>
            </a:pPr>
            <a:r>
              <a:rPr lang="en-US" sz="3399" b="1" dirty="0" err="1">
                <a:solidFill>
                  <a:srgbClr val="000000"/>
                </a:solidFill>
                <a:latin typeface="Inter Bold"/>
                <a:ea typeface="Inter Bold"/>
                <a:cs typeface="Inter Bold"/>
                <a:sym typeface="Inter Bold"/>
              </a:rPr>
              <a:t>xth</a:t>
            </a:r>
            <a:r>
              <a:rPr lang="en-US" sz="3399" b="1" dirty="0">
                <a:solidFill>
                  <a:srgbClr val="000000"/>
                </a:solidFill>
                <a:latin typeface="Inter Bold"/>
                <a:ea typeface="Inter Bold"/>
                <a:cs typeface="Inter Bold"/>
                <a:sym typeface="Inter Bold"/>
              </a:rPr>
              <a:t> January,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-10800000">
            <a:off x="17259300" y="5438878"/>
            <a:ext cx="2821508" cy="2618024"/>
            <a:chOff x="0" y="0"/>
            <a:chExt cx="703906" cy="653141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03906" cy="653141"/>
            </a:xfrm>
            <a:custGeom>
              <a:avLst/>
              <a:gdLst/>
              <a:ahLst/>
              <a:cxnLst/>
              <a:rect l="l" t="t" r="r" b="b"/>
              <a:pathLst>
                <a:path w="703906" h="653141">
                  <a:moveTo>
                    <a:pt x="500706" y="0"/>
                  </a:moveTo>
                  <a:lnTo>
                    <a:pt x="0" y="0"/>
                  </a:lnTo>
                  <a:lnTo>
                    <a:pt x="0" y="653141"/>
                  </a:lnTo>
                  <a:lnTo>
                    <a:pt x="500706" y="653141"/>
                  </a:lnTo>
                  <a:lnTo>
                    <a:pt x="703906" y="326570"/>
                  </a:lnTo>
                  <a:lnTo>
                    <a:pt x="500706" y="0"/>
                  </a:lnTo>
                  <a:close/>
                </a:path>
              </a:pathLst>
            </a:custGeom>
            <a:solidFill>
              <a:srgbClr val="598196"/>
            </a:solidFill>
          </p:spPr>
          <p:txBody>
            <a:bodyPr/>
            <a:lstStyle/>
            <a:p>
              <a:endParaRPr lang="de-AT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589606" cy="69124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1028700" y="2767366"/>
            <a:ext cx="6784598" cy="6784598"/>
            <a:chOff x="0" y="0"/>
            <a:chExt cx="812800" cy="8128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blipFill>
              <a:blip r:embed="rId2"/>
              <a:stretch>
                <a:fillRect l="-25046" r="-25046"/>
              </a:stretch>
            </a:blipFill>
          </p:spPr>
          <p:txBody>
            <a:bodyPr/>
            <a:lstStyle/>
            <a:p>
              <a:endParaRPr lang="de-AT"/>
            </a:p>
          </p:txBody>
        </p:sp>
      </p:grpSp>
      <p:grpSp>
        <p:nvGrpSpPr>
          <p:cNvPr id="7" name="Group 7"/>
          <p:cNvGrpSpPr/>
          <p:nvPr/>
        </p:nvGrpSpPr>
        <p:grpSpPr>
          <a:xfrm rot="5400000">
            <a:off x="519037" y="641748"/>
            <a:ext cx="5518901" cy="3601352"/>
            <a:chOff x="0" y="0"/>
            <a:chExt cx="1000907" cy="653141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1000907" cy="653141"/>
            </a:xfrm>
            <a:custGeom>
              <a:avLst/>
              <a:gdLst/>
              <a:ahLst/>
              <a:cxnLst/>
              <a:rect l="l" t="t" r="r" b="b"/>
              <a:pathLst>
                <a:path w="1000907" h="653141">
                  <a:moveTo>
                    <a:pt x="797707" y="0"/>
                  </a:moveTo>
                  <a:lnTo>
                    <a:pt x="0" y="0"/>
                  </a:lnTo>
                  <a:lnTo>
                    <a:pt x="0" y="653141"/>
                  </a:lnTo>
                  <a:lnTo>
                    <a:pt x="797707" y="653141"/>
                  </a:lnTo>
                  <a:lnTo>
                    <a:pt x="1000907" y="326570"/>
                  </a:lnTo>
                  <a:lnTo>
                    <a:pt x="797707" y="0"/>
                  </a:lnTo>
                  <a:close/>
                </a:path>
              </a:pathLst>
            </a:custGeom>
            <a:solidFill>
              <a:srgbClr val="2B485F"/>
            </a:solidFill>
          </p:spPr>
          <p:txBody>
            <a:bodyPr/>
            <a:lstStyle/>
            <a:p>
              <a:endParaRPr lang="de-AT"/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0" y="-38100"/>
              <a:ext cx="886607" cy="69124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0" name="TextBox 10"/>
          <p:cNvSpPr txBox="1"/>
          <p:nvPr/>
        </p:nvSpPr>
        <p:spPr>
          <a:xfrm>
            <a:off x="1734768" y="1194997"/>
            <a:ext cx="3199165" cy="186461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7420"/>
              </a:lnSpc>
              <a:spcBef>
                <a:spcPct val="0"/>
              </a:spcBef>
            </a:pPr>
            <a:r>
              <a:rPr lang="en-US" sz="5300" dirty="0">
                <a:solidFill>
                  <a:srgbClr val="FFFFFF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Table of Contents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9144000" y="2206285"/>
            <a:ext cx="7840733" cy="64792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734059" lvl="1" indent="-367030" algn="l">
              <a:lnSpc>
                <a:spcPts val="5099"/>
              </a:lnSpc>
              <a:buFont typeface="Arial"/>
              <a:buChar char="•"/>
            </a:pPr>
            <a:r>
              <a:rPr lang="en-US" sz="3399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Team Slide</a:t>
            </a:r>
          </a:p>
          <a:p>
            <a:pPr marL="734059" lvl="1" indent="-367030" algn="l">
              <a:lnSpc>
                <a:spcPts val="5099"/>
              </a:lnSpc>
              <a:buFont typeface="Arial"/>
              <a:buChar char="•"/>
            </a:pPr>
            <a:r>
              <a:rPr lang="en-US" sz="3399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Problem</a:t>
            </a:r>
          </a:p>
          <a:p>
            <a:pPr marL="734059" lvl="1" indent="-367030" algn="l">
              <a:lnSpc>
                <a:spcPts val="5099"/>
              </a:lnSpc>
              <a:buFont typeface="Arial"/>
              <a:buChar char="•"/>
            </a:pPr>
            <a:r>
              <a:rPr lang="en-US" sz="3399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Solution</a:t>
            </a:r>
          </a:p>
          <a:p>
            <a:pPr marL="734059" lvl="1" indent="-367030" algn="l">
              <a:lnSpc>
                <a:spcPts val="5099"/>
              </a:lnSpc>
              <a:buFont typeface="Arial"/>
              <a:buChar char="•"/>
            </a:pPr>
            <a:r>
              <a:rPr lang="en-US" sz="3399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Data Source</a:t>
            </a:r>
          </a:p>
          <a:p>
            <a:pPr marL="734059" lvl="1" indent="-367030" algn="l">
              <a:lnSpc>
                <a:spcPts val="5099"/>
              </a:lnSpc>
              <a:buFont typeface="Arial"/>
              <a:buChar char="•"/>
            </a:pPr>
            <a:r>
              <a:rPr lang="en-US" sz="3399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Insights from Data</a:t>
            </a:r>
          </a:p>
          <a:p>
            <a:pPr marL="734059" lvl="1" indent="-367030" algn="l">
              <a:lnSpc>
                <a:spcPts val="5099"/>
              </a:lnSpc>
              <a:buFont typeface="Arial"/>
              <a:buChar char="•"/>
            </a:pPr>
            <a:r>
              <a:rPr lang="en-US" sz="3399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Data Engineering</a:t>
            </a:r>
          </a:p>
          <a:p>
            <a:pPr marL="734059" lvl="1" indent="-367030" algn="l">
              <a:lnSpc>
                <a:spcPts val="5099"/>
              </a:lnSpc>
              <a:buFont typeface="Arial"/>
              <a:buChar char="•"/>
            </a:pPr>
            <a:r>
              <a:rPr lang="en-US" sz="3399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Models</a:t>
            </a:r>
          </a:p>
          <a:p>
            <a:pPr marL="734059" lvl="1" indent="-367030" algn="l">
              <a:lnSpc>
                <a:spcPts val="5099"/>
              </a:lnSpc>
              <a:buFont typeface="Arial"/>
              <a:buChar char="•"/>
            </a:pPr>
            <a:r>
              <a:rPr lang="en-US" sz="3399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Evaluation</a:t>
            </a:r>
          </a:p>
          <a:p>
            <a:pPr marL="734059" lvl="1" indent="-367030">
              <a:lnSpc>
                <a:spcPts val="5099"/>
              </a:lnSpc>
              <a:buFont typeface="Arial"/>
              <a:buChar char="•"/>
            </a:pPr>
            <a:r>
              <a:rPr lang="en-US" sz="3399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Forecast</a:t>
            </a:r>
          </a:p>
          <a:p>
            <a:pPr marL="734059" lvl="1" indent="-367030" algn="l">
              <a:lnSpc>
                <a:spcPts val="5099"/>
              </a:lnSpc>
              <a:buFont typeface="Arial"/>
              <a:buChar char="•"/>
            </a:pPr>
            <a:r>
              <a:rPr lang="en-US" sz="3399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Value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2695334" y="715962"/>
            <a:ext cx="4563966" cy="83542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3360"/>
              </a:lnSpc>
              <a:spcBef>
                <a:spcPct val="0"/>
              </a:spcBef>
            </a:pPr>
            <a:r>
              <a:rPr lang="en-US" sz="2400" b="1" dirty="0" err="1">
                <a:solidFill>
                  <a:srgbClr val="2B485F"/>
                </a:solidFill>
                <a:latin typeface="Inter Bold"/>
                <a:ea typeface="Inter Bold"/>
                <a:cs typeface="Inter Bold"/>
                <a:sym typeface="Inter Bold"/>
              </a:rPr>
              <a:t>Broadsoft</a:t>
            </a:r>
            <a:r>
              <a:rPr lang="en-US" sz="2400" b="1" dirty="0">
                <a:solidFill>
                  <a:srgbClr val="2B485F"/>
                </a:solidFill>
                <a:latin typeface="Inter Bold"/>
                <a:ea typeface="Inter Bold"/>
                <a:cs typeface="Inter Bold"/>
                <a:sym typeface="Inter Bold"/>
              </a:rPr>
              <a:t> Consulting Company</a:t>
            </a:r>
          </a:p>
        </p:txBody>
      </p:sp>
      <p:sp>
        <p:nvSpPr>
          <p:cNvPr id="13" name="AutoShape 13"/>
          <p:cNvSpPr/>
          <p:nvPr/>
        </p:nvSpPr>
        <p:spPr>
          <a:xfrm>
            <a:off x="17675977" y="961707"/>
            <a:ext cx="3956611" cy="0"/>
          </a:xfrm>
          <a:prstGeom prst="line">
            <a:avLst/>
          </a:prstGeom>
          <a:ln w="38100" cap="flat">
            <a:solidFill>
              <a:srgbClr val="2B485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de-AT"/>
          </a:p>
        </p:txBody>
      </p:sp>
      <p:sp>
        <p:nvSpPr>
          <p:cNvPr id="14" name="Freeform 14"/>
          <p:cNvSpPr/>
          <p:nvPr/>
        </p:nvSpPr>
        <p:spPr>
          <a:xfrm rot="5400000">
            <a:off x="16429362" y="8428362"/>
            <a:ext cx="455966" cy="1203911"/>
          </a:xfrm>
          <a:custGeom>
            <a:avLst/>
            <a:gdLst/>
            <a:ahLst/>
            <a:cxnLst/>
            <a:rect l="l" t="t" r="r" b="b"/>
            <a:pathLst>
              <a:path w="455966" h="1203911">
                <a:moveTo>
                  <a:pt x="0" y="0"/>
                </a:moveTo>
                <a:lnTo>
                  <a:pt x="455966" y="0"/>
                </a:lnTo>
                <a:lnTo>
                  <a:pt x="455966" y="1203910"/>
                </a:lnTo>
                <a:lnTo>
                  <a:pt x="0" y="120391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de-AT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92F450-C63A-B0A9-3446-689203C0BC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0C944BE0-EE23-A15C-1621-C936102A2BA5}"/>
              </a:ext>
            </a:extLst>
          </p:cNvPr>
          <p:cNvGrpSpPr/>
          <p:nvPr/>
        </p:nvGrpSpPr>
        <p:grpSpPr>
          <a:xfrm>
            <a:off x="2438400" y="3924300"/>
            <a:ext cx="3447216" cy="3941316"/>
            <a:chOff x="0" y="0"/>
            <a:chExt cx="1198766" cy="1433761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7B3D195A-2C35-0BC6-92AB-AEF2CD5AE560}"/>
                </a:ext>
              </a:extLst>
            </p:cNvPr>
            <p:cNvSpPr/>
            <p:nvPr/>
          </p:nvSpPr>
          <p:spPr>
            <a:xfrm>
              <a:off x="0" y="0"/>
              <a:ext cx="1198766" cy="1433761"/>
            </a:xfrm>
            <a:custGeom>
              <a:avLst/>
              <a:gdLst/>
              <a:ahLst/>
              <a:cxnLst/>
              <a:rect l="l" t="t" r="r" b="b"/>
              <a:pathLst>
                <a:path w="1198766" h="1433761">
                  <a:moveTo>
                    <a:pt x="0" y="0"/>
                  </a:moveTo>
                  <a:lnTo>
                    <a:pt x="1198766" y="0"/>
                  </a:lnTo>
                  <a:lnTo>
                    <a:pt x="1198766" y="1433761"/>
                  </a:lnTo>
                  <a:lnTo>
                    <a:pt x="0" y="1433761"/>
                  </a:lnTo>
                  <a:close/>
                </a:path>
              </a:pathLst>
            </a:custGeom>
            <a:solidFill>
              <a:srgbClr val="598196"/>
            </a:solidFill>
            <a:ln w="66675" cap="sq">
              <a:solidFill>
                <a:srgbClr val="2B485F"/>
              </a:solidFill>
              <a:prstDash val="solid"/>
              <a:miter/>
            </a:ln>
          </p:spPr>
          <p:txBody>
            <a:bodyPr/>
            <a:lstStyle/>
            <a:p>
              <a:endParaRPr lang="de-AT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CAAE50DD-6E2C-B65A-1522-4DC8B58F0B91}"/>
                </a:ext>
              </a:extLst>
            </p:cNvPr>
            <p:cNvSpPr txBox="1"/>
            <p:nvPr/>
          </p:nvSpPr>
          <p:spPr>
            <a:xfrm>
              <a:off x="0" y="-38100"/>
              <a:ext cx="1198766" cy="147186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BE273D1A-F5F7-A5C9-06D6-878E3F05D397}"/>
              </a:ext>
            </a:extLst>
          </p:cNvPr>
          <p:cNvGrpSpPr/>
          <p:nvPr/>
        </p:nvGrpSpPr>
        <p:grpSpPr>
          <a:xfrm>
            <a:off x="7486931" y="3924300"/>
            <a:ext cx="3447216" cy="3941316"/>
            <a:chOff x="0" y="0"/>
            <a:chExt cx="1198766" cy="1433761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C1A7C36F-7377-D949-CDF8-99C65F04119D}"/>
                </a:ext>
              </a:extLst>
            </p:cNvPr>
            <p:cNvSpPr/>
            <p:nvPr/>
          </p:nvSpPr>
          <p:spPr>
            <a:xfrm>
              <a:off x="0" y="0"/>
              <a:ext cx="1198766" cy="1433761"/>
            </a:xfrm>
            <a:custGeom>
              <a:avLst/>
              <a:gdLst/>
              <a:ahLst/>
              <a:cxnLst/>
              <a:rect l="l" t="t" r="r" b="b"/>
              <a:pathLst>
                <a:path w="1198766" h="1433761">
                  <a:moveTo>
                    <a:pt x="0" y="0"/>
                  </a:moveTo>
                  <a:lnTo>
                    <a:pt x="1198766" y="0"/>
                  </a:lnTo>
                  <a:lnTo>
                    <a:pt x="1198766" y="1433761"/>
                  </a:lnTo>
                  <a:lnTo>
                    <a:pt x="0" y="1433761"/>
                  </a:lnTo>
                  <a:close/>
                </a:path>
              </a:pathLst>
            </a:custGeom>
            <a:solidFill>
              <a:srgbClr val="598196"/>
            </a:solidFill>
            <a:ln w="66675" cap="sq">
              <a:solidFill>
                <a:srgbClr val="2B485F"/>
              </a:solidFill>
              <a:prstDash val="solid"/>
              <a:miter/>
            </a:ln>
          </p:spPr>
          <p:txBody>
            <a:bodyPr/>
            <a:lstStyle/>
            <a:p>
              <a:endParaRPr lang="de-AT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0BBDF6EE-A4B6-5D7B-6B56-E622FB14E5DD}"/>
                </a:ext>
              </a:extLst>
            </p:cNvPr>
            <p:cNvSpPr txBox="1"/>
            <p:nvPr/>
          </p:nvSpPr>
          <p:spPr>
            <a:xfrm>
              <a:off x="0" y="-38100"/>
              <a:ext cx="1198766" cy="147186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1" name="Group 11">
            <a:extLst>
              <a:ext uri="{FF2B5EF4-FFF2-40B4-BE49-F238E27FC236}">
                <a16:creationId xmlns:a16="http://schemas.microsoft.com/office/drawing/2014/main" id="{ED785E31-B046-13C7-B933-BD93B8BBCEE0}"/>
              </a:ext>
            </a:extLst>
          </p:cNvPr>
          <p:cNvGrpSpPr/>
          <p:nvPr/>
        </p:nvGrpSpPr>
        <p:grpSpPr>
          <a:xfrm>
            <a:off x="1981200" y="3771900"/>
            <a:ext cx="3752016" cy="3941316"/>
            <a:chOff x="0" y="0"/>
            <a:chExt cx="1198766" cy="1433761"/>
          </a:xfrm>
        </p:grpSpPr>
        <p:sp>
          <p:nvSpPr>
            <p:cNvPr id="12" name="Freeform 12">
              <a:extLst>
                <a:ext uri="{FF2B5EF4-FFF2-40B4-BE49-F238E27FC236}">
                  <a16:creationId xmlns:a16="http://schemas.microsoft.com/office/drawing/2014/main" id="{8C3944A9-4AF0-DA6F-818C-8CEF94C51F5D}"/>
                </a:ext>
              </a:extLst>
            </p:cNvPr>
            <p:cNvSpPr/>
            <p:nvPr/>
          </p:nvSpPr>
          <p:spPr>
            <a:xfrm>
              <a:off x="0" y="0"/>
              <a:ext cx="1198766" cy="1433761"/>
            </a:xfrm>
            <a:custGeom>
              <a:avLst/>
              <a:gdLst/>
              <a:ahLst/>
              <a:cxnLst/>
              <a:rect l="l" t="t" r="r" b="b"/>
              <a:pathLst>
                <a:path w="1198766" h="1433761">
                  <a:moveTo>
                    <a:pt x="0" y="0"/>
                  </a:moveTo>
                  <a:lnTo>
                    <a:pt x="1198766" y="0"/>
                  </a:lnTo>
                  <a:lnTo>
                    <a:pt x="1198766" y="1433761"/>
                  </a:lnTo>
                  <a:lnTo>
                    <a:pt x="0" y="1433761"/>
                  </a:lnTo>
                  <a:close/>
                </a:path>
              </a:pathLst>
            </a:custGeom>
            <a:solidFill>
              <a:srgbClr val="FFFFFF"/>
            </a:solidFill>
            <a:ln w="66675" cap="sq">
              <a:solidFill>
                <a:srgbClr val="2B485F"/>
              </a:solidFill>
              <a:prstDash val="solid"/>
              <a:miter/>
            </a:ln>
          </p:spPr>
          <p:txBody>
            <a:bodyPr/>
            <a:lstStyle/>
            <a:p>
              <a:endParaRPr lang="de-AT"/>
            </a:p>
          </p:txBody>
        </p:sp>
        <p:sp>
          <p:nvSpPr>
            <p:cNvPr id="13" name="TextBox 13">
              <a:extLst>
                <a:ext uri="{FF2B5EF4-FFF2-40B4-BE49-F238E27FC236}">
                  <a16:creationId xmlns:a16="http://schemas.microsoft.com/office/drawing/2014/main" id="{A3B30C4F-20D5-71C4-2408-6C08EE8A3D76}"/>
                </a:ext>
              </a:extLst>
            </p:cNvPr>
            <p:cNvSpPr txBox="1"/>
            <p:nvPr/>
          </p:nvSpPr>
          <p:spPr>
            <a:xfrm>
              <a:off x="0" y="-38100"/>
              <a:ext cx="1198766" cy="147186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4" name="Group 14">
            <a:extLst>
              <a:ext uri="{FF2B5EF4-FFF2-40B4-BE49-F238E27FC236}">
                <a16:creationId xmlns:a16="http://schemas.microsoft.com/office/drawing/2014/main" id="{3957C4B5-1431-284E-96F1-4BBACB236B5B}"/>
              </a:ext>
            </a:extLst>
          </p:cNvPr>
          <p:cNvGrpSpPr/>
          <p:nvPr/>
        </p:nvGrpSpPr>
        <p:grpSpPr>
          <a:xfrm>
            <a:off x="7029902" y="3771900"/>
            <a:ext cx="3751845" cy="3941316"/>
            <a:chOff x="0" y="0"/>
            <a:chExt cx="1198766" cy="1433761"/>
          </a:xfrm>
        </p:grpSpPr>
        <p:sp>
          <p:nvSpPr>
            <p:cNvPr id="15" name="Freeform 15">
              <a:extLst>
                <a:ext uri="{FF2B5EF4-FFF2-40B4-BE49-F238E27FC236}">
                  <a16:creationId xmlns:a16="http://schemas.microsoft.com/office/drawing/2014/main" id="{B4D14314-07BA-37D6-C2F2-14B7C7E65739}"/>
                </a:ext>
              </a:extLst>
            </p:cNvPr>
            <p:cNvSpPr/>
            <p:nvPr/>
          </p:nvSpPr>
          <p:spPr>
            <a:xfrm>
              <a:off x="0" y="0"/>
              <a:ext cx="1198766" cy="1433761"/>
            </a:xfrm>
            <a:custGeom>
              <a:avLst/>
              <a:gdLst/>
              <a:ahLst/>
              <a:cxnLst/>
              <a:rect l="l" t="t" r="r" b="b"/>
              <a:pathLst>
                <a:path w="1198766" h="1433761">
                  <a:moveTo>
                    <a:pt x="0" y="0"/>
                  </a:moveTo>
                  <a:lnTo>
                    <a:pt x="1198766" y="0"/>
                  </a:lnTo>
                  <a:lnTo>
                    <a:pt x="1198766" y="1433761"/>
                  </a:lnTo>
                  <a:lnTo>
                    <a:pt x="0" y="1433761"/>
                  </a:lnTo>
                  <a:close/>
                </a:path>
              </a:pathLst>
            </a:custGeom>
            <a:solidFill>
              <a:srgbClr val="FFFFFF"/>
            </a:solidFill>
            <a:ln w="66675" cap="sq">
              <a:solidFill>
                <a:srgbClr val="2B485F"/>
              </a:solidFill>
              <a:prstDash val="solid"/>
              <a:miter/>
            </a:ln>
          </p:spPr>
          <p:txBody>
            <a:bodyPr/>
            <a:lstStyle/>
            <a:p>
              <a:endParaRPr lang="de-AT"/>
            </a:p>
          </p:txBody>
        </p:sp>
        <p:sp>
          <p:nvSpPr>
            <p:cNvPr id="16" name="TextBox 16">
              <a:extLst>
                <a:ext uri="{FF2B5EF4-FFF2-40B4-BE49-F238E27FC236}">
                  <a16:creationId xmlns:a16="http://schemas.microsoft.com/office/drawing/2014/main" id="{1283CC66-D86C-C361-DFCB-9F0D75A83B2B}"/>
                </a:ext>
              </a:extLst>
            </p:cNvPr>
            <p:cNvSpPr txBox="1"/>
            <p:nvPr/>
          </p:nvSpPr>
          <p:spPr>
            <a:xfrm>
              <a:off x="0" y="-38100"/>
              <a:ext cx="1198766" cy="147186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20" name="TextBox 20">
            <a:extLst>
              <a:ext uri="{FF2B5EF4-FFF2-40B4-BE49-F238E27FC236}">
                <a16:creationId xmlns:a16="http://schemas.microsoft.com/office/drawing/2014/main" id="{D2453607-D092-0FBC-B431-30A904D0428F}"/>
              </a:ext>
            </a:extLst>
          </p:cNvPr>
          <p:cNvSpPr txBox="1"/>
          <p:nvPr/>
        </p:nvSpPr>
        <p:spPr>
          <a:xfrm>
            <a:off x="2471238" y="4950299"/>
            <a:ext cx="3166627" cy="170745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342900" indent="-342900" algn="just">
              <a:lnSpc>
                <a:spcPts val="3360"/>
              </a:lnSpc>
              <a:spcBef>
                <a:spcPct val="0"/>
              </a:spcBef>
              <a:buFontTx/>
              <a:buChar char="-"/>
            </a:pPr>
            <a:r>
              <a:rPr lang="en-US" sz="2400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Preprocessing</a:t>
            </a:r>
          </a:p>
          <a:p>
            <a:pPr marL="342900" indent="-342900" algn="just">
              <a:lnSpc>
                <a:spcPts val="3360"/>
              </a:lnSpc>
              <a:spcBef>
                <a:spcPct val="0"/>
              </a:spcBef>
              <a:buFontTx/>
              <a:buChar char="-"/>
            </a:pPr>
            <a:r>
              <a:rPr lang="en-US" sz="2400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Baseline Models</a:t>
            </a:r>
          </a:p>
          <a:p>
            <a:pPr marL="342900" indent="-342900" algn="just">
              <a:lnSpc>
                <a:spcPts val="3360"/>
              </a:lnSpc>
              <a:spcBef>
                <a:spcPct val="0"/>
              </a:spcBef>
              <a:buFontTx/>
              <a:buChar char="-"/>
            </a:pPr>
            <a:r>
              <a:rPr lang="en-US" sz="2400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Statistical Models</a:t>
            </a:r>
          </a:p>
          <a:p>
            <a:pPr marL="342900" indent="-342900" algn="just">
              <a:lnSpc>
                <a:spcPts val="3360"/>
              </a:lnSpc>
              <a:spcBef>
                <a:spcPct val="0"/>
              </a:spcBef>
              <a:buFontTx/>
              <a:buChar char="-"/>
            </a:pPr>
            <a:r>
              <a:rPr lang="en-US" sz="2400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Final doc file</a:t>
            </a:r>
          </a:p>
        </p:txBody>
      </p:sp>
      <p:sp>
        <p:nvSpPr>
          <p:cNvPr id="21" name="TextBox 21">
            <a:extLst>
              <a:ext uri="{FF2B5EF4-FFF2-40B4-BE49-F238E27FC236}">
                <a16:creationId xmlns:a16="http://schemas.microsoft.com/office/drawing/2014/main" id="{58794ED4-C493-EF03-30EC-72C9AF25991A}"/>
              </a:ext>
            </a:extLst>
          </p:cNvPr>
          <p:cNvSpPr txBox="1"/>
          <p:nvPr/>
        </p:nvSpPr>
        <p:spPr>
          <a:xfrm>
            <a:off x="2705398" y="4128440"/>
            <a:ext cx="2323802" cy="56412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4759"/>
              </a:lnSpc>
              <a:spcBef>
                <a:spcPct val="0"/>
              </a:spcBef>
            </a:pPr>
            <a:r>
              <a:rPr lang="en-US" sz="3399" b="1" dirty="0" err="1">
                <a:solidFill>
                  <a:srgbClr val="000000"/>
                </a:solidFill>
                <a:latin typeface="Inter Bold"/>
                <a:ea typeface="Inter Bold"/>
                <a:cs typeface="Inter Bold"/>
                <a:sym typeface="Inter Bold"/>
              </a:rPr>
              <a:t>Ms</a:t>
            </a:r>
            <a:r>
              <a:rPr lang="en-US" sz="3399" b="1" dirty="0">
                <a:solidFill>
                  <a:srgbClr val="000000"/>
                </a:solidFill>
                <a:latin typeface="Inter Bold"/>
                <a:ea typeface="Inter Bold"/>
                <a:cs typeface="Inter Bold"/>
                <a:sym typeface="Inter Bold"/>
              </a:rPr>
              <a:t> Binder</a:t>
            </a:r>
          </a:p>
        </p:txBody>
      </p:sp>
      <p:sp>
        <p:nvSpPr>
          <p:cNvPr id="22" name="TextBox 22">
            <a:extLst>
              <a:ext uri="{FF2B5EF4-FFF2-40B4-BE49-F238E27FC236}">
                <a16:creationId xmlns:a16="http://schemas.microsoft.com/office/drawing/2014/main" id="{A9A3E2A2-8009-2C04-2653-C1420A89666F}"/>
              </a:ext>
            </a:extLst>
          </p:cNvPr>
          <p:cNvSpPr txBox="1"/>
          <p:nvPr/>
        </p:nvSpPr>
        <p:spPr>
          <a:xfrm>
            <a:off x="7162800" y="4128440"/>
            <a:ext cx="3387619" cy="56412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4759"/>
              </a:lnSpc>
              <a:spcBef>
                <a:spcPct val="0"/>
              </a:spcBef>
            </a:pPr>
            <a:r>
              <a:rPr lang="en-US" sz="3399" b="1" dirty="0" err="1">
                <a:solidFill>
                  <a:srgbClr val="000000"/>
                </a:solidFill>
                <a:latin typeface="Inter Bold"/>
                <a:ea typeface="Inter Bold"/>
                <a:cs typeface="Inter Bold"/>
                <a:sym typeface="Inter Bold"/>
              </a:rPr>
              <a:t>Ms</a:t>
            </a:r>
            <a:r>
              <a:rPr lang="en-US" sz="3399" b="1" dirty="0">
                <a:solidFill>
                  <a:srgbClr val="000000"/>
                </a:solidFill>
                <a:latin typeface="Inter Bold"/>
                <a:ea typeface="Inter Bold"/>
                <a:cs typeface="Inter Bold"/>
                <a:sym typeface="Inter Bold"/>
              </a:rPr>
              <a:t> Salchegger</a:t>
            </a:r>
          </a:p>
        </p:txBody>
      </p:sp>
      <p:sp>
        <p:nvSpPr>
          <p:cNvPr id="23" name="TextBox 23">
            <a:extLst>
              <a:ext uri="{FF2B5EF4-FFF2-40B4-BE49-F238E27FC236}">
                <a16:creationId xmlns:a16="http://schemas.microsoft.com/office/drawing/2014/main" id="{BE07885C-AA56-794C-1F9A-B12FB90B6D32}"/>
              </a:ext>
            </a:extLst>
          </p:cNvPr>
          <p:cNvSpPr txBox="1"/>
          <p:nvPr/>
        </p:nvSpPr>
        <p:spPr>
          <a:xfrm>
            <a:off x="7277654" y="4950299"/>
            <a:ext cx="3272766" cy="214347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342900" indent="-342900" algn="just">
              <a:lnSpc>
                <a:spcPts val="3359"/>
              </a:lnSpc>
              <a:spcBef>
                <a:spcPct val="0"/>
              </a:spcBef>
              <a:buFontTx/>
              <a:buChar char="-"/>
            </a:pPr>
            <a:r>
              <a:rPr lang="en-US" sz="2400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ML-Models</a:t>
            </a:r>
          </a:p>
          <a:p>
            <a:pPr marL="342900" indent="-342900" algn="just">
              <a:lnSpc>
                <a:spcPts val="3359"/>
              </a:lnSpc>
              <a:spcBef>
                <a:spcPct val="0"/>
              </a:spcBef>
              <a:buFontTx/>
              <a:buChar char="-"/>
            </a:pPr>
            <a:r>
              <a:rPr lang="en-US" sz="2400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Final best models file</a:t>
            </a:r>
          </a:p>
          <a:p>
            <a:pPr marL="342900" indent="-342900" algn="just">
              <a:lnSpc>
                <a:spcPts val="3359"/>
              </a:lnSpc>
              <a:spcBef>
                <a:spcPct val="0"/>
              </a:spcBef>
              <a:buFontTx/>
              <a:buChar char="-"/>
            </a:pPr>
            <a:r>
              <a:rPr lang="en-US" sz="2400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Visualizations</a:t>
            </a:r>
          </a:p>
          <a:p>
            <a:pPr marL="342900" indent="-342900" algn="just">
              <a:lnSpc>
                <a:spcPts val="3359"/>
              </a:lnSpc>
              <a:spcBef>
                <a:spcPct val="0"/>
              </a:spcBef>
              <a:buFontTx/>
              <a:buChar char="-"/>
            </a:pPr>
            <a:endParaRPr lang="en-US" sz="2400" dirty="0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grpSp>
        <p:nvGrpSpPr>
          <p:cNvPr id="26" name="Group 26">
            <a:extLst>
              <a:ext uri="{FF2B5EF4-FFF2-40B4-BE49-F238E27FC236}">
                <a16:creationId xmlns:a16="http://schemas.microsoft.com/office/drawing/2014/main" id="{6E34585A-7189-27DC-D655-85D27C99AC61}"/>
              </a:ext>
            </a:extLst>
          </p:cNvPr>
          <p:cNvGrpSpPr/>
          <p:nvPr/>
        </p:nvGrpSpPr>
        <p:grpSpPr>
          <a:xfrm>
            <a:off x="-762000" y="1363882"/>
            <a:ext cx="10729641" cy="990272"/>
            <a:chOff x="0" y="0"/>
            <a:chExt cx="5136921" cy="653141"/>
          </a:xfrm>
        </p:grpSpPr>
        <p:sp>
          <p:nvSpPr>
            <p:cNvPr id="27" name="Freeform 27">
              <a:extLst>
                <a:ext uri="{FF2B5EF4-FFF2-40B4-BE49-F238E27FC236}">
                  <a16:creationId xmlns:a16="http://schemas.microsoft.com/office/drawing/2014/main" id="{E278D777-FD45-0E4D-7536-0880ED53FC84}"/>
                </a:ext>
              </a:extLst>
            </p:cNvPr>
            <p:cNvSpPr/>
            <p:nvPr/>
          </p:nvSpPr>
          <p:spPr>
            <a:xfrm>
              <a:off x="0" y="0"/>
              <a:ext cx="5136921" cy="653141"/>
            </a:xfrm>
            <a:custGeom>
              <a:avLst/>
              <a:gdLst/>
              <a:ahLst/>
              <a:cxnLst/>
              <a:rect l="l" t="t" r="r" b="b"/>
              <a:pathLst>
                <a:path w="5136921" h="653141">
                  <a:moveTo>
                    <a:pt x="4933721" y="0"/>
                  </a:moveTo>
                  <a:lnTo>
                    <a:pt x="0" y="0"/>
                  </a:lnTo>
                  <a:lnTo>
                    <a:pt x="0" y="653141"/>
                  </a:lnTo>
                  <a:lnTo>
                    <a:pt x="4933721" y="653141"/>
                  </a:lnTo>
                  <a:lnTo>
                    <a:pt x="5136921" y="326570"/>
                  </a:lnTo>
                  <a:lnTo>
                    <a:pt x="4933721" y="0"/>
                  </a:lnTo>
                  <a:close/>
                </a:path>
              </a:pathLst>
            </a:custGeom>
            <a:solidFill>
              <a:srgbClr val="2B485F"/>
            </a:solidFill>
          </p:spPr>
          <p:txBody>
            <a:bodyPr/>
            <a:lstStyle/>
            <a:p>
              <a:endParaRPr lang="de-AT"/>
            </a:p>
          </p:txBody>
        </p:sp>
        <p:sp>
          <p:nvSpPr>
            <p:cNvPr id="28" name="TextBox 28">
              <a:extLst>
                <a:ext uri="{FF2B5EF4-FFF2-40B4-BE49-F238E27FC236}">
                  <a16:creationId xmlns:a16="http://schemas.microsoft.com/office/drawing/2014/main" id="{112427FC-809B-819D-43CE-D67C62B82719}"/>
                </a:ext>
              </a:extLst>
            </p:cNvPr>
            <p:cNvSpPr txBox="1"/>
            <p:nvPr/>
          </p:nvSpPr>
          <p:spPr>
            <a:xfrm>
              <a:off x="0" y="-38100"/>
              <a:ext cx="5022621" cy="69124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29" name="TextBox 29">
            <a:extLst>
              <a:ext uri="{FF2B5EF4-FFF2-40B4-BE49-F238E27FC236}">
                <a16:creationId xmlns:a16="http://schemas.microsoft.com/office/drawing/2014/main" id="{0B6B530D-057C-1484-3353-039EE7EF466D}"/>
              </a:ext>
            </a:extLst>
          </p:cNvPr>
          <p:cNvSpPr txBox="1"/>
          <p:nvPr/>
        </p:nvSpPr>
        <p:spPr>
          <a:xfrm>
            <a:off x="-392105" y="1411014"/>
            <a:ext cx="10240375" cy="91563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7420"/>
              </a:lnSpc>
              <a:spcBef>
                <a:spcPct val="0"/>
              </a:spcBef>
            </a:pPr>
            <a:r>
              <a:rPr lang="en-US" sz="5300" dirty="0">
                <a:solidFill>
                  <a:srgbClr val="FFFFFF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Team contribution</a:t>
            </a:r>
          </a:p>
        </p:txBody>
      </p:sp>
      <p:sp>
        <p:nvSpPr>
          <p:cNvPr id="30" name="TextBox 30">
            <a:extLst>
              <a:ext uri="{FF2B5EF4-FFF2-40B4-BE49-F238E27FC236}">
                <a16:creationId xmlns:a16="http://schemas.microsoft.com/office/drawing/2014/main" id="{35B50E7F-D0A0-8560-020E-1269397AEB15}"/>
              </a:ext>
            </a:extLst>
          </p:cNvPr>
          <p:cNvSpPr txBox="1"/>
          <p:nvPr/>
        </p:nvSpPr>
        <p:spPr>
          <a:xfrm>
            <a:off x="12695334" y="715962"/>
            <a:ext cx="4563966" cy="83542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3360"/>
              </a:lnSpc>
              <a:spcBef>
                <a:spcPct val="0"/>
              </a:spcBef>
            </a:pPr>
            <a:r>
              <a:rPr lang="en-US" sz="2400" b="1" dirty="0" err="1">
                <a:solidFill>
                  <a:srgbClr val="2B485F"/>
                </a:solidFill>
                <a:latin typeface="Inter Bold"/>
                <a:ea typeface="Inter Bold"/>
                <a:cs typeface="Inter Bold"/>
                <a:sym typeface="Inter Bold"/>
              </a:rPr>
              <a:t>Broadsoft</a:t>
            </a:r>
            <a:r>
              <a:rPr lang="en-US" sz="2400" b="1" dirty="0">
                <a:solidFill>
                  <a:srgbClr val="2B485F"/>
                </a:solidFill>
                <a:latin typeface="Inter Bold"/>
                <a:ea typeface="Inter Bold"/>
                <a:cs typeface="Inter Bold"/>
                <a:sym typeface="Inter Bold"/>
              </a:rPr>
              <a:t> Consulting Company</a:t>
            </a:r>
          </a:p>
        </p:txBody>
      </p:sp>
      <p:sp>
        <p:nvSpPr>
          <p:cNvPr id="31" name="AutoShape 31">
            <a:extLst>
              <a:ext uri="{FF2B5EF4-FFF2-40B4-BE49-F238E27FC236}">
                <a16:creationId xmlns:a16="http://schemas.microsoft.com/office/drawing/2014/main" id="{E4EF0F9E-676F-04A2-1DE0-548809B26079}"/>
              </a:ext>
            </a:extLst>
          </p:cNvPr>
          <p:cNvSpPr/>
          <p:nvPr/>
        </p:nvSpPr>
        <p:spPr>
          <a:xfrm>
            <a:off x="17675977" y="961707"/>
            <a:ext cx="3956611" cy="0"/>
          </a:xfrm>
          <a:prstGeom prst="line">
            <a:avLst/>
          </a:prstGeom>
          <a:ln w="38100" cap="flat">
            <a:solidFill>
              <a:srgbClr val="2B485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de-AT"/>
          </a:p>
        </p:txBody>
      </p:sp>
      <p:grpSp>
        <p:nvGrpSpPr>
          <p:cNvPr id="32" name="Group 8">
            <a:extLst>
              <a:ext uri="{FF2B5EF4-FFF2-40B4-BE49-F238E27FC236}">
                <a16:creationId xmlns:a16="http://schemas.microsoft.com/office/drawing/2014/main" id="{1152550C-0657-1307-8351-A845C6686CEE}"/>
              </a:ext>
            </a:extLst>
          </p:cNvPr>
          <p:cNvGrpSpPr/>
          <p:nvPr/>
        </p:nvGrpSpPr>
        <p:grpSpPr>
          <a:xfrm>
            <a:off x="12478584" y="3945384"/>
            <a:ext cx="3447216" cy="3941316"/>
            <a:chOff x="0" y="0"/>
            <a:chExt cx="1198766" cy="1433761"/>
          </a:xfrm>
        </p:grpSpPr>
        <p:sp>
          <p:nvSpPr>
            <p:cNvPr id="33" name="Freeform 9">
              <a:extLst>
                <a:ext uri="{FF2B5EF4-FFF2-40B4-BE49-F238E27FC236}">
                  <a16:creationId xmlns:a16="http://schemas.microsoft.com/office/drawing/2014/main" id="{ECE752EE-0E07-062A-3248-A5DC7DD890A9}"/>
                </a:ext>
              </a:extLst>
            </p:cNvPr>
            <p:cNvSpPr/>
            <p:nvPr/>
          </p:nvSpPr>
          <p:spPr>
            <a:xfrm>
              <a:off x="0" y="0"/>
              <a:ext cx="1198766" cy="1433761"/>
            </a:xfrm>
            <a:custGeom>
              <a:avLst/>
              <a:gdLst/>
              <a:ahLst/>
              <a:cxnLst/>
              <a:rect l="l" t="t" r="r" b="b"/>
              <a:pathLst>
                <a:path w="1198766" h="1433761">
                  <a:moveTo>
                    <a:pt x="0" y="0"/>
                  </a:moveTo>
                  <a:lnTo>
                    <a:pt x="1198766" y="0"/>
                  </a:lnTo>
                  <a:lnTo>
                    <a:pt x="1198766" y="1433761"/>
                  </a:lnTo>
                  <a:lnTo>
                    <a:pt x="0" y="1433761"/>
                  </a:lnTo>
                  <a:close/>
                </a:path>
              </a:pathLst>
            </a:custGeom>
            <a:solidFill>
              <a:srgbClr val="598196"/>
            </a:solidFill>
            <a:ln w="66675" cap="sq">
              <a:solidFill>
                <a:srgbClr val="2B485F"/>
              </a:solidFill>
              <a:prstDash val="solid"/>
              <a:miter/>
            </a:ln>
          </p:spPr>
          <p:txBody>
            <a:bodyPr/>
            <a:lstStyle/>
            <a:p>
              <a:endParaRPr lang="de-AT"/>
            </a:p>
          </p:txBody>
        </p:sp>
        <p:sp>
          <p:nvSpPr>
            <p:cNvPr id="34" name="TextBox 10">
              <a:extLst>
                <a:ext uri="{FF2B5EF4-FFF2-40B4-BE49-F238E27FC236}">
                  <a16:creationId xmlns:a16="http://schemas.microsoft.com/office/drawing/2014/main" id="{0AAC13F1-47D6-2F44-E276-8AD6599F9FA1}"/>
                </a:ext>
              </a:extLst>
            </p:cNvPr>
            <p:cNvSpPr txBox="1"/>
            <p:nvPr/>
          </p:nvSpPr>
          <p:spPr>
            <a:xfrm>
              <a:off x="0" y="-38100"/>
              <a:ext cx="1198766" cy="147186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35" name="Group 17">
            <a:extLst>
              <a:ext uri="{FF2B5EF4-FFF2-40B4-BE49-F238E27FC236}">
                <a16:creationId xmlns:a16="http://schemas.microsoft.com/office/drawing/2014/main" id="{EBC6E30F-8373-7B6C-11B7-3C2B0C163707}"/>
              </a:ext>
            </a:extLst>
          </p:cNvPr>
          <p:cNvGrpSpPr/>
          <p:nvPr/>
        </p:nvGrpSpPr>
        <p:grpSpPr>
          <a:xfrm>
            <a:off x="12078433" y="3792984"/>
            <a:ext cx="3694967" cy="3941316"/>
            <a:chOff x="0" y="0"/>
            <a:chExt cx="1198766" cy="1433761"/>
          </a:xfrm>
        </p:grpSpPr>
        <p:sp>
          <p:nvSpPr>
            <p:cNvPr id="36" name="Freeform 18">
              <a:extLst>
                <a:ext uri="{FF2B5EF4-FFF2-40B4-BE49-F238E27FC236}">
                  <a16:creationId xmlns:a16="http://schemas.microsoft.com/office/drawing/2014/main" id="{1FB54055-E9A9-244F-4CB1-15BB5A45E8EA}"/>
                </a:ext>
              </a:extLst>
            </p:cNvPr>
            <p:cNvSpPr/>
            <p:nvPr/>
          </p:nvSpPr>
          <p:spPr>
            <a:xfrm>
              <a:off x="0" y="0"/>
              <a:ext cx="1198766" cy="1433761"/>
            </a:xfrm>
            <a:custGeom>
              <a:avLst/>
              <a:gdLst/>
              <a:ahLst/>
              <a:cxnLst/>
              <a:rect l="l" t="t" r="r" b="b"/>
              <a:pathLst>
                <a:path w="1198766" h="1433761">
                  <a:moveTo>
                    <a:pt x="0" y="0"/>
                  </a:moveTo>
                  <a:lnTo>
                    <a:pt x="1198766" y="0"/>
                  </a:lnTo>
                  <a:lnTo>
                    <a:pt x="1198766" y="1433761"/>
                  </a:lnTo>
                  <a:lnTo>
                    <a:pt x="0" y="1433761"/>
                  </a:lnTo>
                  <a:close/>
                </a:path>
              </a:pathLst>
            </a:custGeom>
            <a:solidFill>
              <a:srgbClr val="FFFFFF"/>
            </a:solidFill>
            <a:ln w="66675" cap="sq">
              <a:solidFill>
                <a:srgbClr val="2B485F"/>
              </a:solidFill>
              <a:prstDash val="solid"/>
              <a:miter/>
            </a:ln>
          </p:spPr>
          <p:txBody>
            <a:bodyPr/>
            <a:lstStyle/>
            <a:p>
              <a:endParaRPr lang="de-AT"/>
            </a:p>
          </p:txBody>
        </p:sp>
        <p:sp>
          <p:nvSpPr>
            <p:cNvPr id="37" name="TextBox 19">
              <a:extLst>
                <a:ext uri="{FF2B5EF4-FFF2-40B4-BE49-F238E27FC236}">
                  <a16:creationId xmlns:a16="http://schemas.microsoft.com/office/drawing/2014/main" id="{5BFD26E8-9B97-9456-F633-E546600F67F7}"/>
                </a:ext>
              </a:extLst>
            </p:cNvPr>
            <p:cNvSpPr txBox="1"/>
            <p:nvPr/>
          </p:nvSpPr>
          <p:spPr>
            <a:xfrm>
              <a:off x="0" y="-38100"/>
              <a:ext cx="1198766" cy="147186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38" name="TextBox 24">
            <a:extLst>
              <a:ext uri="{FF2B5EF4-FFF2-40B4-BE49-F238E27FC236}">
                <a16:creationId xmlns:a16="http://schemas.microsoft.com/office/drawing/2014/main" id="{0D1800A4-549D-6978-9A47-BE959CFC1812}"/>
              </a:ext>
            </a:extLst>
          </p:cNvPr>
          <p:cNvSpPr txBox="1"/>
          <p:nvPr/>
        </p:nvSpPr>
        <p:spPr>
          <a:xfrm>
            <a:off x="12496800" y="4149524"/>
            <a:ext cx="2990016" cy="56412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4759"/>
              </a:lnSpc>
              <a:spcBef>
                <a:spcPct val="0"/>
              </a:spcBef>
            </a:pPr>
            <a:r>
              <a:rPr lang="en-US" sz="3399" b="1" dirty="0" err="1">
                <a:solidFill>
                  <a:srgbClr val="000000"/>
                </a:solidFill>
                <a:latin typeface="Inter Bold"/>
                <a:ea typeface="Inter Bold"/>
                <a:cs typeface="Inter Bold"/>
                <a:sym typeface="Inter Bold"/>
              </a:rPr>
              <a:t>Ms</a:t>
            </a:r>
            <a:r>
              <a:rPr lang="en-US" sz="3399" b="1" dirty="0">
                <a:solidFill>
                  <a:srgbClr val="000000"/>
                </a:solidFill>
                <a:latin typeface="Inter Bold"/>
                <a:ea typeface="Inter Bold"/>
                <a:cs typeface="Inter Bold"/>
                <a:sym typeface="Inter Bold"/>
              </a:rPr>
              <a:t> Kern</a:t>
            </a:r>
          </a:p>
        </p:txBody>
      </p:sp>
      <p:sp>
        <p:nvSpPr>
          <p:cNvPr id="41" name="TextBox 23">
            <a:extLst>
              <a:ext uri="{FF2B5EF4-FFF2-40B4-BE49-F238E27FC236}">
                <a16:creationId xmlns:a16="http://schemas.microsoft.com/office/drawing/2014/main" id="{35CCB615-427E-8D59-558B-DD2B54FBB68D}"/>
              </a:ext>
            </a:extLst>
          </p:cNvPr>
          <p:cNvSpPr txBox="1"/>
          <p:nvPr/>
        </p:nvSpPr>
        <p:spPr>
          <a:xfrm>
            <a:off x="12326184" y="4950299"/>
            <a:ext cx="3256418" cy="170745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342900" indent="-342900" algn="just">
              <a:lnSpc>
                <a:spcPts val="3359"/>
              </a:lnSpc>
              <a:spcBef>
                <a:spcPct val="0"/>
              </a:spcBef>
              <a:buFontTx/>
              <a:buChar char="-"/>
            </a:pPr>
            <a:r>
              <a:rPr lang="en-US" sz="2400" dirty="0" err="1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Github</a:t>
            </a:r>
            <a:r>
              <a:rPr lang="en-US" sz="2400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 repo setup</a:t>
            </a:r>
          </a:p>
          <a:p>
            <a:pPr marL="342900" indent="-342900" algn="just">
              <a:lnSpc>
                <a:spcPts val="3359"/>
              </a:lnSpc>
              <a:spcBef>
                <a:spcPct val="0"/>
              </a:spcBef>
              <a:buFontTx/>
              <a:buChar char="-"/>
            </a:pPr>
            <a:r>
              <a:rPr lang="en-US" sz="2400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Helper functions</a:t>
            </a:r>
          </a:p>
          <a:p>
            <a:pPr marL="342900" indent="-342900" algn="just">
              <a:lnSpc>
                <a:spcPts val="3359"/>
              </a:lnSpc>
              <a:spcBef>
                <a:spcPct val="0"/>
              </a:spcBef>
              <a:buFontTx/>
              <a:buChar char="-"/>
            </a:pPr>
            <a:r>
              <a:rPr lang="en-US" sz="2400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Neural Models</a:t>
            </a:r>
          </a:p>
          <a:p>
            <a:pPr marL="342900" indent="-342900" algn="just">
              <a:lnSpc>
                <a:spcPts val="3359"/>
              </a:lnSpc>
              <a:spcBef>
                <a:spcPct val="0"/>
              </a:spcBef>
              <a:buFontTx/>
              <a:buChar char="-"/>
            </a:pPr>
            <a:r>
              <a:rPr lang="en-US" sz="2400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Slides</a:t>
            </a:r>
          </a:p>
        </p:txBody>
      </p:sp>
    </p:spTree>
    <p:extLst>
      <p:ext uri="{BB962C8B-B14F-4D97-AF65-F5344CB8AC3E}">
        <p14:creationId xmlns:p14="http://schemas.microsoft.com/office/powerpoint/2010/main" val="121020241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6710791" y="4297972"/>
            <a:ext cx="10548509" cy="11857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4759"/>
              </a:lnSpc>
              <a:spcBef>
                <a:spcPct val="0"/>
              </a:spcBef>
            </a:pPr>
            <a:r>
              <a:rPr lang="en-US" sz="3600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Lorem ipsum dolor sit </a:t>
            </a:r>
            <a:r>
              <a:rPr lang="en-US" sz="3600" dirty="0" err="1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amet</a:t>
            </a:r>
            <a:r>
              <a:rPr lang="en-US" sz="3600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, </a:t>
            </a:r>
            <a:r>
              <a:rPr lang="en-US" sz="3600" dirty="0" err="1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consetetur</a:t>
            </a:r>
            <a:r>
              <a:rPr lang="en-US" sz="3600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3600" dirty="0" err="1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sadipscing</a:t>
            </a:r>
            <a:r>
              <a:rPr lang="en-US" sz="3600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3600" dirty="0" err="1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elitr</a:t>
            </a:r>
            <a:endParaRPr lang="en-US" sz="3399" dirty="0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" name="TextBox 3"/>
          <p:cNvSpPr txBox="1"/>
          <p:nvPr/>
        </p:nvSpPr>
        <p:spPr>
          <a:xfrm>
            <a:off x="6715230" y="6218733"/>
            <a:ext cx="10353936" cy="11857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4759"/>
              </a:lnSpc>
              <a:spcBef>
                <a:spcPct val="0"/>
              </a:spcBef>
            </a:pPr>
            <a:r>
              <a:rPr lang="en-US" sz="3600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Lorem ipsum dolor sit </a:t>
            </a:r>
            <a:r>
              <a:rPr lang="en-US" sz="3600" dirty="0" err="1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amet</a:t>
            </a:r>
            <a:r>
              <a:rPr lang="en-US" sz="3600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, </a:t>
            </a:r>
            <a:r>
              <a:rPr lang="en-US" sz="3600" dirty="0" err="1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consetetur</a:t>
            </a:r>
            <a:r>
              <a:rPr lang="en-US" sz="3600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3600" dirty="0" err="1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sadipscing</a:t>
            </a:r>
            <a:r>
              <a:rPr lang="en-US" sz="3600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3600" dirty="0" err="1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elitr</a:t>
            </a:r>
            <a:endParaRPr lang="en-US" sz="3399" dirty="0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4" name="TextBox 4"/>
          <p:cNvSpPr txBox="1"/>
          <p:nvPr/>
        </p:nvSpPr>
        <p:spPr>
          <a:xfrm>
            <a:off x="6710791" y="8430106"/>
            <a:ext cx="10353936" cy="5641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759"/>
              </a:lnSpc>
              <a:spcBef>
                <a:spcPct val="0"/>
              </a:spcBef>
            </a:pPr>
            <a:r>
              <a:rPr lang="en-US" sz="3399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Q4 2025</a:t>
            </a:r>
          </a:p>
        </p:txBody>
      </p:sp>
      <p:grpSp>
        <p:nvGrpSpPr>
          <p:cNvPr id="5" name="Group 5"/>
          <p:cNvGrpSpPr/>
          <p:nvPr/>
        </p:nvGrpSpPr>
        <p:grpSpPr>
          <a:xfrm>
            <a:off x="-1197824" y="1878992"/>
            <a:ext cx="5841871" cy="1577554"/>
            <a:chOff x="0" y="0"/>
            <a:chExt cx="2418659" cy="653141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2418659" cy="653141"/>
            </a:xfrm>
            <a:custGeom>
              <a:avLst/>
              <a:gdLst/>
              <a:ahLst/>
              <a:cxnLst/>
              <a:rect l="l" t="t" r="r" b="b"/>
              <a:pathLst>
                <a:path w="2418659" h="653141">
                  <a:moveTo>
                    <a:pt x="2215459" y="0"/>
                  </a:moveTo>
                  <a:lnTo>
                    <a:pt x="0" y="0"/>
                  </a:lnTo>
                  <a:lnTo>
                    <a:pt x="0" y="653141"/>
                  </a:lnTo>
                  <a:lnTo>
                    <a:pt x="2215459" y="653141"/>
                  </a:lnTo>
                  <a:lnTo>
                    <a:pt x="2418659" y="326570"/>
                  </a:lnTo>
                  <a:lnTo>
                    <a:pt x="2215459" y="0"/>
                  </a:lnTo>
                  <a:close/>
                </a:path>
              </a:pathLst>
            </a:custGeom>
            <a:solidFill>
              <a:srgbClr val="2B485F"/>
            </a:solidFill>
          </p:spPr>
          <p:txBody>
            <a:bodyPr/>
            <a:lstStyle/>
            <a:p>
              <a:endParaRPr lang="de-AT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38100"/>
              <a:ext cx="2304359" cy="69124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304800" y="2214890"/>
            <a:ext cx="7053922" cy="9156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420"/>
              </a:lnSpc>
              <a:spcBef>
                <a:spcPct val="0"/>
              </a:spcBef>
            </a:pPr>
            <a:r>
              <a:rPr lang="en-US" sz="5300" dirty="0">
                <a:solidFill>
                  <a:srgbClr val="FFFFFF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Problem</a:t>
            </a:r>
          </a:p>
        </p:txBody>
      </p:sp>
      <p:grpSp>
        <p:nvGrpSpPr>
          <p:cNvPr id="9" name="Group 9"/>
          <p:cNvGrpSpPr/>
          <p:nvPr/>
        </p:nvGrpSpPr>
        <p:grpSpPr>
          <a:xfrm>
            <a:off x="1766747" y="4435931"/>
            <a:ext cx="4640821" cy="990272"/>
            <a:chOff x="0" y="0"/>
            <a:chExt cx="3060886" cy="653141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3060886" cy="653141"/>
            </a:xfrm>
            <a:custGeom>
              <a:avLst/>
              <a:gdLst/>
              <a:ahLst/>
              <a:cxnLst/>
              <a:rect l="l" t="t" r="r" b="b"/>
              <a:pathLst>
                <a:path w="3060886" h="653141">
                  <a:moveTo>
                    <a:pt x="2857686" y="0"/>
                  </a:moveTo>
                  <a:lnTo>
                    <a:pt x="0" y="0"/>
                  </a:lnTo>
                  <a:lnTo>
                    <a:pt x="0" y="653141"/>
                  </a:lnTo>
                  <a:lnTo>
                    <a:pt x="2857686" y="653141"/>
                  </a:lnTo>
                  <a:lnTo>
                    <a:pt x="3060886" y="326570"/>
                  </a:lnTo>
                  <a:lnTo>
                    <a:pt x="2857686" y="0"/>
                  </a:lnTo>
                  <a:close/>
                </a:path>
              </a:pathLst>
            </a:custGeom>
            <a:solidFill>
              <a:srgbClr val="2B485F"/>
            </a:solidFill>
          </p:spPr>
          <p:txBody>
            <a:bodyPr/>
            <a:lstStyle/>
            <a:p>
              <a:endParaRPr lang="de-AT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0" y="-38100"/>
              <a:ext cx="2946586" cy="69124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2" name="TextBox 12"/>
          <p:cNvSpPr txBox="1"/>
          <p:nvPr/>
        </p:nvSpPr>
        <p:spPr>
          <a:xfrm>
            <a:off x="2033330" y="4635792"/>
            <a:ext cx="3791038" cy="5238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200"/>
              </a:lnSpc>
              <a:spcBef>
                <a:spcPct val="0"/>
              </a:spcBef>
            </a:pPr>
            <a:r>
              <a:rPr lang="en-US" sz="3000" b="1" dirty="0">
                <a:solidFill>
                  <a:srgbClr val="FFFFFF"/>
                </a:solidFill>
                <a:latin typeface="Inter Bold"/>
                <a:ea typeface="Inter Bold"/>
                <a:cs typeface="Inter Bold"/>
                <a:sym typeface="Inter Bold"/>
              </a:rPr>
              <a:t>Company Overview</a:t>
            </a:r>
          </a:p>
        </p:txBody>
      </p:sp>
      <p:grpSp>
        <p:nvGrpSpPr>
          <p:cNvPr id="13" name="Group 13"/>
          <p:cNvGrpSpPr/>
          <p:nvPr/>
        </p:nvGrpSpPr>
        <p:grpSpPr>
          <a:xfrm>
            <a:off x="1766747" y="6349821"/>
            <a:ext cx="4640821" cy="990272"/>
            <a:chOff x="0" y="0"/>
            <a:chExt cx="3060886" cy="653141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3060886" cy="653141"/>
            </a:xfrm>
            <a:custGeom>
              <a:avLst/>
              <a:gdLst/>
              <a:ahLst/>
              <a:cxnLst/>
              <a:rect l="l" t="t" r="r" b="b"/>
              <a:pathLst>
                <a:path w="3060886" h="653141">
                  <a:moveTo>
                    <a:pt x="2857686" y="0"/>
                  </a:moveTo>
                  <a:lnTo>
                    <a:pt x="0" y="0"/>
                  </a:lnTo>
                  <a:lnTo>
                    <a:pt x="0" y="653141"/>
                  </a:lnTo>
                  <a:lnTo>
                    <a:pt x="2857686" y="653141"/>
                  </a:lnTo>
                  <a:lnTo>
                    <a:pt x="3060886" y="326570"/>
                  </a:lnTo>
                  <a:lnTo>
                    <a:pt x="2857686" y="0"/>
                  </a:lnTo>
                  <a:close/>
                </a:path>
              </a:pathLst>
            </a:custGeom>
            <a:solidFill>
              <a:srgbClr val="2B485F"/>
            </a:solidFill>
          </p:spPr>
          <p:txBody>
            <a:bodyPr/>
            <a:lstStyle/>
            <a:p>
              <a:endParaRPr lang="de-AT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38100"/>
              <a:ext cx="2946586" cy="69124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6" name="TextBox 16"/>
          <p:cNvSpPr txBox="1"/>
          <p:nvPr/>
        </p:nvSpPr>
        <p:spPr>
          <a:xfrm>
            <a:off x="2033330" y="6549683"/>
            <a:ext cx="4224475" cy="5238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200"/>
              </a:lnSpc>
              <a:spcBef>
                <a:spcPct val="0"/>
              </a:spcBef>
            </a:pPr>
            <a:r>
              <a:rPr lang="en-US" sz="3000" b="1">
                <a:solidFill>
                  <a:srgbClr val="FFFFFF"/>
                </a:solidFill>
                <a:latin typeface="Inter Bold"/>
                <a:ea typeface="Inter Bold"/>
                <a:cs typeface="Inter Bold"/>
                <a:sym typeface="Inter Bold"/>
              </a:rPr>
              <a:t>Purpose of the Report</a:t>
            </a:r>
          </a:p>
        </p:txBody>
      </p:sp>
      <p:grpSp>
        <p:nvGrpSpPr>
          <p:cNvPr id="17" name="Group 17"/>
          <p:cNvGrpSpPr/>
          <p:nvPr/>
        </p:nvGrpSpPr>
        <p:grpSpPr>
          <a:xfrm>
            <a:off x="1723111" y="8268028"/>
            <a:ext cx="4640821" cy="990272"/>
            <a:chOff x="0" y="0"/>
            <a:chExt cx="3060886" cy="653141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3060886" cy="653141"/>
            </a:xfrm>
            <a:custGeom>
              <a:avLst/>
              <a:gdLst/>
              <a:ahLst/>
              <a:cxnLst/>
              <a:rect l="l" t="t" r="r" b="b"/>
              <a:pathLst>
                <a:path w="3060886" h="653141">
                  <a:moveTo>
                    <a:pt x="2857686" y="0"/>
                  </a:moveTo>
                  <a:lnTo>
                    <a:pt x="0" y="0"/>
                  </a:lnTo>
                  <a:lnTo>
                    <a:pt x="0" y="653141"/>
                  </a:lnTo>
                  <a:lnTo>
                    <a:pt x="2857686" y="653141"/>
                  </a:lnTo>
                  <a:lnTo>
                    <a:pt x="3060886" y="326570"/>
                  </a:lnTo>
                  <a:lnTo>
                    <a:pt x="2857686" y="0"/>
                  </a:lnTo>
                  <a:close/>
                </a:path>
              </a:pathLst>
            </a:custGeom>
            <a:solidFill>
              <a:srgbClr val="2B485F"/>
            </a:solidFill>
          </p:spPr>
          <p:txBody>
            <a:bodyPr/>
            <a:lstStyle/>
            <a:p>
              <a:endParaRPr lang="de-AT"/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0" y="-38100"/>
              <a:ext cx="2946586" cy="69124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20" name="TextBox 20"/>
          <p:cNvSpPr txBox="1"/>
          <p:nvPr/>
        </p:nvSpPr>
        <p:spPr>
          <a:xfrm>
            <a:off x="1989694" y="8467889"/>
            <a:ext cx="4224475" cy="5238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200"/>
              </a:lnSpc>
              <a:spcBef>
                <a:spcPct val="0"/>
              </a:spcBef>
            </a:pPr>
            <a:r>
              <a:rPr lang="en-US" sz="3000" b="1">
                <a:solidFill>
                  <a:srgbClr val="FFFFFF"/>
                </a:solidFill>
                <a:latin typeface="Inter Bold"/>
                <a:ea typeface="Inter Bold"/>
                <a:cs typeface="Inter Bold"/>
                <a:sym typeface="Inter Bold"/>
              </a:rPr>
              <a:t>Reporting Period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12695334" y="715962"/>
            <a:ext cx="4563966" cy="83542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3360"/>
              </a:lnSpc>
              <a:spcBef>
                <a:spcPct val="0"/>
              </a:spcBef>
            </a:pPr>
            <a:r>
              <a:rPr lang="en-US" sz="2400" b="1" dirty="0" err="1">
                <a:solidFill>
                  <a:srgbClr val="2B485F"/>
                </a:solidFill>
                <a:latin typeface="Inter Bold"/>
                <a:ea typeface="Inter Bold"/>
                <a:cs typeface="Inter Bold"/>
                <a:sym typeface="Inter Bold"/>
              </a:rPr>
              <a:t>Broadsoft</a:t>
            </a:r>
            <a:r>
              <a:rPr lang="en-US" sz="2400" b="1" dirty="0">
                <a:solidFill>
                  <a:srgbClr val="2B485F"/>
                </a:solidFill>
                <a:latin typeface="Inter Bold"/>
                <a:ea typeface="Inter Bold"/>
                <a:cs typeface="Inter Bold"/>
                <a:sym typeface="Inter Bold"/>
              </a:rPr>
              <a:t> Consulting Company</a:t>
            </a:r>
          </a:p>
        </p:txBody>
      </p:sp>
      <p:sp>
        <p:nvSpPr>
          <p:cNvPr id="22" name="AutoShape 22"/>
          <p:cNvSpPr/>
          <p:nvPr/>
        </p:nvSpPr>
        <p:spPr>
          <a:xfrm>
            <a:off x="17675977" y="961707"/>
            <a:ext cx="3956611" cy="0"/>
          </a:xfrm>
          <a:prstGeom prst="line">
            <a:avLst/>
          </a:prstGeom>
          <a:ln w="38100" cap="flat">
            <a:solidFill>
              <a:srgbClr val="2B485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de-AT"/>
          </a:p>
        </p:txBody>
      </p:sp>
      <p:sp>
        <p:nvSpPr>
          <p:cNvPr id="23" name="Freeform 23"/>
          <p:cNvSpPr/>
          <p:nvPr/>
        </p:nvSpPr>
        <p:spPr>
          <a:xfrm rot="5400000">
            <a:off x="16429362" y="8884328"/>
            <a:ext cx="455966" cy="1203911"/>
          </a:xfrm>
          <a:custGeom>
            <a:avLst/>
            <a:gdLst/>
            <a:ahLst/>
            <a:cxnLst/>
            <a:rect l="l" t="t" r="r" b="b"/>
            <a:pathLst>
              <a:path w="455966" h="1203911">
                <a:moveTo>
                  <a:pt x="0" y="0"/>
                </a:moveTo>
                <a:lnTo>
                  <a:pt x="455966" y="0"/>
                </a:lnTo>
                <a:lnTo>
                  <a:pt x="455966" y="1203910"/>
                </a:lnTo>
                <a:lnTo>
                  <a:pt x="0" y="120391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de-AT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683C60-03AD-19EB-721E-1DF13EECDE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>
            <a:extLst>
              <a:ext uri="{FF2B5EF4-FFF2-40B4-BE49-F238E27FC236}">
                <a16:creationId xmlns:a16="http://schemas.microsoft.com/office/drawing/2014/main" id="{39DF550F-BDB5-4091-3284-C83FB48A2F85}"/>
              </a:ext>
            </a:extLst>
          </p:cNvPr>
          <p:cNvSpPr txBox="1"/>
          <p:nvPr/>
        </p:nvSpPr>
        <p:spPr>
          <a:xfrm>
            <a:off x="6710791" y="4297972"/>
            <a:ext cx="10548509" cy="117968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759"/>
              </a:lnSpc>
              <a:spcBef>
                <a:spcPct val="0"/>
              </a:spcBef>
            </a:pPr>
            <a:r>
              <a:rPr lang="en-US" sz="3399" dirty="0" err="1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Broadsoft</a:t>
            </a:r>
            <a:r>
              <a:rPr lang="en-US" sz="3399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 is company that proposes a new type of weather app</a:t>
            </a:r>
          </a:p>
        </p:txBody>
      </p:sp>
      <p:sp>
        <p:nvSpPr>
          <p:cNvPr id="3" name="TextBox 3">
            <a:extLst>
              <a:ext uri="{FF2B5EF4-FFF2-40B4-BE49-F238E27FC236}">
                <a16:creationId xmlns:a16="http://schemas.microsoft.com/office/drawing/2014/main" id="{D449A4BD-94C4-0693-F74C-6799D09CC55F}"/>
              </a:ext>
            </a:extLst>
          </p:cNvPr>
          <p:cNvSpPr txBox="1"/>
          <p:nvPr/>
        </p:nvSpPr>
        <p:spPr>
          <a:xfrm>
            <a:off x="6710791" y="6286500"/>
            <a:ext cx="10353936" cy="117968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759"/>
              </a:lnSpc>
              <a:spcBef>
                <a:spcPct val="0"/>
              </a:spcBef>
            </a:pPr>
            <a:r>
              <a:rPr lang="en-US" sz="3399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Able to look at typical weather </a:t>
            </a:r>
            <a:r>
              <a:rPr lang="en-US" sz="3399" dirty="0" err="1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behaviour</a:t>
            </a:r>
            <a:r>
              <a:rPr lang="en-US" sz="3399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 even years in advance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4B73C075-CFD6-96D2-34D1-8260A4F54D6C}"/>
              </a:ext>
            </a:extLst>
          </p:cNvPr>
          <p:cNvSpPr txBox="1"/>
          <p:nvPr/>
        </p:nvSpPr>
        <p:spPr>
          <a:xfrm>
            <a:off x="6710791" y="8430106"/>
            <a:ext cx="10353936" cy="5641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759"/>
              </a:lnSpc>
              <a:spcBef>
                <a:spcPct val="0"/>
              </a:spcBef>
            </a:pPr>
            <a:r>
              <a:rPr lang="en-US" sz="3399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Q4 2025</a:t>
            </a:r>
          </a:p>
        </p:txBody>
      </p:sp>
      <p:grpSp>
        <p:nvGrpSpPr>
          <p:cNvPr id="5" name="Group 5">
            <a:extLst>
              <a:ext uri="{FF2B5EF4-FFF2-40B4-BE49-F238E27FC236}">
                <a16:creationId xmlns:a16="http://schemas.microsoft.com/office/drawing/2014/main" id="{504D84E9-0B63-B012-83B5-AE42310A47CB}"/>
              </a:ext>
            </a:extLst>
          </p:cNvPr>
          <p:cNvGrpSpPr/>
          <p:nvPr/>
        </p:nvGrpSpPr>
        <p:grpSpPr>
          <a:xfrm>
            <a:off x="-1197824" y="1878992"/>
            <a:ext cx="5841871" cy="1577554"/>
            <a:chOff x="0" y="0"/>
            <a:chExt cx="2418659" cy="653141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185DF47D-00D0-F676-7C18-38152154EC18}"/>
                </a:ext>
              </a:extLst>
            </p:cNvPr>
            <p:cNvSpPr/>
            <p:nvPr/>
          </p:nvSpPr>
          <p:spPr>
            <a:xfrm>
              <a:off x="0" y="0"/>
              <a:ext cx="2418659" cy="653141"/>
            </a:xfrm>
            <a:custGeom>
              <a:avLst/>
              <a:gdLst/>
              <a:ahLst/>
              <a:cxnLst/>
              <a:rect l="l" t="t" r="r" b="b"/>
              <a:pathLst>
                <a:path w="2418659" h="653141">
                  <a:moveTo>
                    <a:pt x="2215459" y="0"/>
                  </a:moveTo>
                  <a:lnTo>
                    <a:pt x="0" y="0"/>
                  </a:lnTo>
                  <a:lnTo>
                    <a:pt x="0" y="653141"/>
                  </a:lnTo>
                  <a:lnTo>
                    <a:pt x="2215459" y="653141"/>
                  </a:lnTo>
                  <a:lnTo>
                    <a:pt x="2418659" y="326570"/>
                  </a:lnTo>
                  <a:lnTo>
                    <a:pt x="2215459" y="0"/>
                  </a:lnTo>
                  <a:close/>
                </a:path>
              </a:pathLst>
            </a:custGeom>
            <a:solidFill>
              <a:srgbClr val="2B485F"/>
            </a:solidFill>
          </p:spPr>
          <p:txBody>
            <a:bodyPr/>
            <a:lstStyle/>
            <a:p>
              <a:endParaRPr lang="de-AT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1D1D1AE1-5711-9D06-D188-814D774C5F17}"/>
                </a:ext>
              </a:extLst>
            </p:cNvPr>
            <p:cNvSpPr txBox="1"/>
            <p:nvPr/>
          </p:nvSpPr>
          <p:spPr>
            <a:xfrm>
              <a:off x="0" y="-38100"/>
              <a:ext cx="2304359" cy="69124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8" name="TextBox 8">
            <a:extLst>
              <a:ext uri="{FF2B5EF4-FFF2-40B4-BE49-F238E27FC236}">
                <a16:creationId xmlns:a16="http://schemas.microsoft.com/office/drawing/2014/main" id="{867EFF78-B9CF-6DB4-2362-37C82BDF88A9}"/>
              </a:ext>
            </a:extLst>
          </p:cNvPr>
          <p:cNvSpPr txBox="1"/>
          <p:nvPr/>
        </p:nvSpPr>
        <p:spPr>
          <a:xfrm>
            <a:off x="304800" y="2214890"/>
            <a:ext cx="7053922" cy="9156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420"/>
              </a:lnSpc>
              <a:spcBef>
                <a:spcPct val="0"/>
              </a:spcBef>
            </a:pPr>
            <a:r>
              <a:rPr lang="en-US" sz="5300" dirty="0">
                <a:solidFill>
                  <a:srgbClr val="FFFFFF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Solution</a:t>
            </a:r>
          </a:p>
        </p:txBody>
      </p:sp>
      <p:grpSp>
        <p:nvGrpSpPr>
          <p:cNvPr id="9" name="Group 9">
            <a:extLst>
              <a:ext uri="{FF2B5EF4-FFF2-40B4-BE49-F238E27FC236}">
                <a16:creationId xmlns:a16="http://schemas.microsoft.com/office/drawing/2014/main" id="{F4436A34-323C-F316-F357-1AFA89C4CCAC}"/>
              </a:ext>
            </a:extLst>
          </p:cNvPr>
          <p:cNvGrpSpPr/>
          <p:nvPr/>
        </p:nvGrpSpPr>
        <p:grpSpPr>
          <a:xfrm>
            <a:off x="1766747" y="4435931"/>
            <a:ext cx="4640821" cy="990272"/>
            <a:chOff x="0" y="0"/>
            <a:chExt cx="3060886" cy="653141"/>
          </a:xfrm>
        </p:grpSpPr>
        <p:sp>
          <p:nvSpPr>
            <p:cNvPr id="10" name="Freeform 10">
              <a:extLst>
                <a:ext uri="{FF2B5EF4-FFF2-40B4-BE49-F238E27FC236}">
                  <a16:creationId xmlns:a16="http://schemas.microsoft.com/office/drawing/2014/main" id="{850FACA6-0BA4-5517-6592-203F15BD2E45}"/>
                </a:ext>
              </a:extLst>
            </p:cNvPr>
            <p:cNvSpPr/>
            <p:nvPr/>
          </p:nvSpPr>
          <p:spPr>
            <a:xfrm>
              <a:off x="0" y="0"/>
              <a:ext cx="3060886" cy="653141"/>
            </a:xfrm>
            <a:custGeom>
              <a:avLst/>
              <a:gdLst/>
              <a:ahLst/>
              <a:cxnLst/>
              <a:rect l="l" t="t" r="r" b="b"/>
              <a:pathLst>
                <a:path w="3060886" h="653141">
                  <a:moveTo>
                    <a:pt x="2857686" y="0"/>
                  </a:moveTo>
                  <a:lnTo>
                    <a:pt x="0" y="0"/>
                  </a:lnTo>
                  <a:lnTo>
                    <a:pt x="0" y="653141"/>
                  </a:lnTo>
                  <a:lnTo>
                    <a:pt x="2857686" y="653141"/>
                  </a:lnTo>
                  <a:lnTo>
                    <a:pt x="3060886" y="326570"/>
                  </a:lnTo>
                  <a:lnTo>
                    <a:pt x="2857686" y="0"/>
                  </a:lnTo>
                  <a:close/>
                </a:path>
              </a:pathLst>
            </a:custGeom>
            <a:solidFill>
              <a:srgbClr val="2B485F"/>
            </a:solidFill>
          </p:spPr>
          <p:txBody>
            <a:bodyPr/>
            <a:lstStyle/>
            <a:p>
              <a:endParaRPr lang="de-AT"/>
            </a:p>
          </p:txBody>
        </p:sp>
        <p:sp>
          <p:nvSpPr>
            <p:cNvPr id="11" name="TextBox 11">
              <a:extLst>
                <a:ext uri="{FF2B5EF4-FFF2-40B4-BE49-F238E27FC236}">
                  <a16:creationId xmlns:a16="http://schemas.microsoft.com/office/drawing/2014/main" id="{2528C26A-3535-1EB2-641F-B009034D3B99}"/>
                </a:ext>
              </a:extLst>
            </p:cNvPr>
            <p:cNvSpPr txBox="1"/>
            <p:nvPr/>
          </p:nvSpPr>
          <p:spPr>
            <a:xfrm>
              <a:off x="0" y="-38100"/>
              <a:ext cx="2946586" cy="69124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2" name="TextBox 12">
            <a:extLst>
              <a:ext uri="{FF2B5EF4-FFF2-40B4-BE49-F238E27FC236}">
                <a16:creationId xmlns:a16="http://schemas.microsoft.com/office/drawing/2014/main" id="{25B62BC5-82CD-8F65-6E50-9C411FCA02CD}"/>
              </a:ext>
            </a:extLst>
          </p:cNvPr>
          <p:cNvSpPr txBox="1"/>
          <p:nvPr/>
        </p:nvSpPr>
        <p:spPr>
          <a:xfrm>
            <a:off x="2033330" y="4635792"/>
            <a:ext cx="3791038" cy="5238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200"/>
              </a:lnSpc>
              <a:spcBef>
                <a:spcPct val="0"/>
              </a:spcBef>
            </a:pPr>
            <a:r>
              <a:rPr lang="en-US" sz="3000" b="1" dirty="0">
                <a:solidFill>
                  <a:srgbClr val="FFFFFF"/>
                </a:solidFill>
                <a:latin typeface="Inter Bold"/>
                <a:ea typeface="Inter Bold"/>
                <a:cs typeface="Inter Bold"/>
                <a:sym typeface="Inter Bold"/>
              </a:rPr>
              <a:t>Company Overview</a:t>
            </a:r>
          </a:p>
        </p:txBody>
      </p:sp>
      <p:grpSp>
        <p:nvGrpSpPr>
          <p:cNvPr id="13" name="Group 13">
            <a:extLst>
              <a:ext uri="{FF2B5EF4-FFF2-40B4-BE49-F238E27FC236}">
                <a16:creationId xmlns:a16="http://schemas.microsoft.com/office/drawing/2014/main" id="{046858C0-C421-5DCC-6911-2EC9F0B751D6}"/>
              </a:ext>
            </a:extLst>
          </p:cNvPr>
          <p:cNvGrpSpPr/>
          <p:nvPr/>
        </p:nvGrpSpPr>
        <p:grpSpPr>
          <a:xfrm>
            <a:off x="1766747" y="6349821"/>
            <a:ext cx="4640821" cy="990272"/>
            <a:chOff x="0" y="0"/>
            <a:chExt cx="3060886" cy="653141"/>
          </a:xfrm>
        </p:grpSpPr>
        <p:sp>
          <p:nvSpPr>
            <p:cNvPr id="14" name="Freeform 14">
              <a:extLst>
                <a:ext uri="{FF2B5EF4-FFF2-40B4-BE49-F238E27FC236}">
                  <a16:creationId xmlns:a16="http://schemas.microsoft.com/office/drawing/2014/main" id="{6D6AF5B4-1A1E-E3C7-70E4-199E1C0A01EC}"/>
                </a:ext>
              </a:extLst>
            </p:cNvPr>
            <p:cNvSpPr/>
            <p:nvPr/>
          </p:nvSpPr>
          <p:spPr>
            <a:xfrm>
              <a:off x="0" y="0"/>
              <a:ext cx="3060886" cy="653141"/>
            </a:xfrm>
            <a:custGeom>
              <a:avLst/>
              <a:gdLst/>
              <a:ahLst/>
              <a:cxnLst/>
              <a:rect l="l" t="t" r="r" b="b"/>
              <a:pathLst>
                <a:path w="3060886" h="653141">
                  <a:moveTo>
                    <a:pt x="2857686" y="0"/>
                  </a:moveTo>
                  <a:lnTo>
                    <a:pt x="0" y="0"/>
                  </a:lnTo>
                  <a:lnTo>
                    <a:pt x="0" y="653141"/>
                  </a:lnTo>
                  <a:lnTo>
                    <a:pt x="2857686" y="653141"/>
                  </a:lnTo>
                  <a:lnTo>
                    <a:pt x="3060886" y="326570"/>
                  </a:lnTo>
                  <a:lnTo>
                    <a:pt x="2857686" y="0"/>
                  </a:lnTo>
                  <a:close/>
                </a:path>
              </a:pathLst>
            </a:custGeom>
            <a:solidFill>
              <a:srgbClr val="2B485F"/>
            </a:solidFill>
          </p:spPr>
          <p:txBody>
            <a:bodyPr/>
            <a:lstStyle/>
            <a:p>
              <a:endParaRPr lang="de-AT"/>
            </a:p>
          </p:txBody>
        </p:sp>
        <p:sp>
          <p:nvSpPr>
            <p:cNvPr id="15" name="TextBox 15">
              <a:extLst>
                <a:ext uri="{FF2B5EF4-FFF2-40B4-BE49-F238E27FC236}">
                  <a16:creationId xmlns:a16="http://schemas.microsoft.com/office/drawing/2014/main" id="{6A88057F-628B-EA4E-B4E8-047BAA8F2042}"/>
                </a:ext>
              </a:extLst>
            </p:cNvPr>
            <p:cNvSpPr txBox="1"/>
            <p:nvPr/>
          </p:nvSpPr>
          <p:spPr>
            <a:xfrm>
              <a:off x="0" y="-38100"/>
              <a:ext cx="2946586" cy="69124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6" name="TextBox 16">
            <a:extLst>
              <a:ext uri="{FF2B5EF4-FFF2-40B4-BE49-F238E27FC236}">
                <a16:creationId xmlns:a16="http://schemas.microsoft.com/office/drawing/2014/main" id="{DC22BCA7-4FC9-0562-B641-EAF5A76B7219}"/>
              </a:ext>
            </a:extLst>
          </p:cNvPr>
          <p:cNvSpPr txBox="1"/>
          <p:nvPr/>
        </p:nvSpPr>
        <p:spPr>
          <a:xfrm>
            <a:off x="2033330" y="6549683"/>
            <a:ext cx="4224475" cy="5238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200"/>
              </a:lnSpc>
              <a:spcBef>
                <a:spcPct val="0"/>
              </a:spcBef>
            </a:pPr>
            <a:r>
              <a:rPr lang="en-US" sz="3000" b="1">
                <a:solidFill>
                  <a:srgbClr val="FFFFFF"/>
                </a:solidFill>
                <a:latin typeface="Inter Bold"/>
                <a:ea typeface="Inter Bold"/>
                <a:cs typeface="Inter Bold"/>
                <a:sym typeface="Inter Bold"/>
              </a:rPr>
              <a:t>Purpose of the Report</a:t>
            </a:r>
          </a:p>
        </p:txBody>
      </p:sp>
      <p:grpSp>
        <p:nvGrpSpPr>
          <p:cNvPr id="17" name="Group 17">
            <a:extLst>
              <a:ext uri="{FF2B5EF4-FFF2-40B4-BE49-F238E27FC236}">
                <a16:creationId xmlns:a16="http://schemas.microsoft.com/office/drawing/2014/main" id="{5B41B4D0-8EF3-709A-3D75-E132023C7AED}"/>
              </a:ext>
            </a:extLst>
          </p:cNvPr>
          <p:cNvGrpSpPr/>
          <p:nvPr/>
        </p:nvGrpSpPr>
        <p:grpSpPr>
          <a:xfrm>
            <a:off x="1723111" y="8268028"/>
            <a:ext cx="4640821" cy="990272"/>
            <a:chOff x="0" y="0"/>
            <a:chExt cx="3060886" cy="653141"/>
          </a:xfrm>
        </p:grpSpPr>
        <p:sp>
          <p:nvSpPr>
            <p:cNvPr id="18" name="Freeform 18">
              <a:extLst>
                <a:ext uri="{FF2B5EF4-FFF2-40B4-BE49-F238E27FC236}">
                  <a16:creationId xmlns:a16="http://schemas.microsoft.com/office/drawing/2014/main" id="{893F9A2E-D55D-1443-59FC-139A9B6485E3}"/>
                </a:ext>
              </a:extLst>
            </p:cNvPr>
            <p:cNvSpPr/>
            <p:nvPr/>
          </p:nvSpPr>
          <p:spPr>
            <a:xfrm>
              <a:off x="0" y="0"/>
              <a:ext cx="3060886" cy="653141"/>
            </a:xfrm>
            <a:custGeom>
              <a:avLst/>
              <a:gdLst/>
              <a:ahLst/>
              <a:cxnLst/>
              <a:rect l="l" t="t" r="r" b="b"/>
              <a:pathLst>
                <a:path w="3060886" h="653141">
                  <a:moveTo>
                    <a:pt x="2857686" y="0"/>
                  </a:moveTo>
                  <a:lnTo>
                    <a:pt x="0" y="0"/>
                  </a:lnTo>
                  <a:lnTo>
                    <a:pt x="0" y="653141"/>
                  </a:lnTo>
                  <a:lnTo>
                    <a:pt x="2857686" y="653141"/>
                  </a:lnTo>
                  <a:lnTo>
                    <a:pt x="3060886" y="326570"/>
                  </a:lnTo>
                  <a:lnTo>
                    <a:pt x="2857686" y="0"/>
                  </a:lnTo>
                  <a:close/>
                </a:path>
              </a:pathLst>
            </a:custGeom>
            <a:solidFill>
              <a:srgbClr val="2B485F"/>
            </a:solidFill>
          </p:spPr>
          <p:txBody>
            <a:bodyPr/>
            <a:lstStyle/>
            <a:p>
              <a:endParaRPr lang="de-AT"/>
            </a:p>
          </p:txBody>
        </p:sp>
        <p:sp>
          <p:nvSpPr>
            <p:cNvPr id="19" name="TextBox 19">
              <a:extLst>
                <a:ext uri="{FF2B5EF4-FFF2-40B4-BE49-F238E27FC236}">
                  <a16:creationId xmlns:a16="http://schemas.microsoft.com/office/drawing/2014/main" id="{8ED07622-51F6-080B-3260-4D60FDC7EEDD}"/>
                </a:ext>
              </a:extLst>
            </p:cNvPr>
            <p:cNvSpPr txBox="1"/>
            <p:nvPr/>
          </p:nvSpPr>
          <p:spPr>
            <a:xfrm>
              <a:off x="0" y="-38100"/>
              <a:ext cx="2946586" cy="69124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20" name="TextBox 20">
            <a:extLst>
              <a:ext uri="{FF2B5EF4-FFF2-40B4-BE49-F238E27FC236}">
                <a16:creationId xmlns:a16="http://schemas.microsoft.com/office/drawing/2014/main" id="{6605AC1A-1578-3B16-64A1-ADEEF8835957}"/>
              </a:ext>
            </a:extLst>
          </p:cNvPr>
          <p:cNvSpPr txBox="1"/>
          <p:nvPr/>
        </p:nvSpPr>
        <p:spPr>
          <a:xfrm>
            <a:off x="1989694" y="8467889"/>
            <a:ext cx="4224475" cy="5238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200"/>
              </a:lnSpc>
              <a:spcBef>
                <a:spcPct val="0"/>
              </a:spcBef>
            </a:pPr>
            <a:r>
              <a:rPr lang="en-US" sz="3000" b="1">
                <a:solidFill>
                  <a:srgbClr val="FFFFFF"/>
                </a:solidFill>
                <a:latin typeface="Inter Bold"/>
                <a:ea typeface="Inter Bold"/>
                <a:cs typeface="Inter Bold"/>
                <a:sym typeface="Inter Bold"/>
              </a:rPr>
              <a:t>Reporting Period</a:t>
            </a:r>
          </a:p>
        </p:txBody>
      </p:sp>
      <p:sp>
        <p:nvSpPr>
          <p:cNvPr id="21" name="TextBox 21">
            <a:extLst>
              <a:ext uri="{FF2B5EF4-FFF2-40B4-BE49-F238E27FC236}">
                <a16:creationId xmlns:a16="http://schemas.microsoft.com/office/drawing/2014/main" id="{D3BBD04D-7B98-5FFC-788C-AD9D7C443DEA}"/>
              </a:ext>
            </a:extLst>
          </p:cNvPr>
          <p:cNvSpPr txBox="1"/>
          <p:nvPr/>
        </p:nvSpPr>
        <p:spPr>
          <a:xfrm>
            <a:off x="12695334" y="715962"/>
            <a:ext cx="4563966" cy="83542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3360"/>
              </a:lnSpc>
              <a:spcBef>
                <a:spcPct val="0"/>
              </a:spcBef>
            </a:pPr>
            <a:r>
              <a:rPr lang="en-US" sz="2400" b="1" dirty="0" err="1">
                <a:solidFill>
                  <a:srgbClr val="2B485F"/>
                </a:solidFill>
                <a:latin typeface="Inter Bold"/>
                <a:ea typeface="Inter Bold"/>
                <a:cs typeface="Inter Bold"/>
                <a:sym typeface="Inter Bold"/>
              </a:rPr>
              <a:t>Broadsoft</a:t>
            </a:r>
            <a:r>
              <a:rPr lang="en-US" sz="2400" b="1" dirty="0">
                <a:solidFill>
                  <a:srgbClr val="2B485F"/>
                </a:solidFill>
                <a:latin typeface="Inter Bold"/>
                <a:ea typeface="Inter Bold"/>
                <a:cs typeface="Inter Bold"/>
                <a:sym typeface="Inter Bold"/>
              </a:rPr>
              <a:t> Consulting Company</a:t>
            </a:r>
          </a:p>
        </p:txBody>
      </p:sp>
      <p:sp>
        <p:nvSpPr>
          <p:cNvPr id="22" name="AutoShape 22">
            <a:extLst>
              <a:ext uri="{FF2B5EF4-FFF2-40B4-BE49-F238E27FC236}">
                <a16:creationId xmlns:a16="http://schemas.microsoft.com/office/drawing/2014/main" id="{5103ECF7-AC79-8FF7-A4F8-B296014055E4}"/>
              </a:ext>
            </a:extLst>
          </p:cNvPr>
          <p:cNvSpPr/>
          <p:nvPr/>
        </p:nvSpPr>
        <p:spPr>
          <a:xfrm>
            <a:off x="17675977" y="961707"/>
            <a:ext cx="3956611" cy="0"/>
          </a:xfrm>
          <a:prstGeom prst="line">
            <a:avLst/>
          </a:prstGeom>
          <a:ln w="38100" cap="flat">
            <a:solidFill>
              <a:srgbClr val="2B485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de-AT"/>
          </a:p>
        </p:txBody>
      </p:sp>
      <p:sp>
        <p:nvSpPr>
          <p:cNvPr id="23" name="Freeform 23">
            <a:extLst>
              <a:ext uri="{FF2B5EF4-FFF2-40B4-BE49-F238E27FC236}">
                <a16:creationId xmlns:a16="http://schemas.microsoft.com/office/drawing/2014/main" id="{3BD131F6-BEEE-030A-0E6F-046842263677}"/>
              </a:ext>
            </a:extLst>
          </p:cNvPr>
          <p:cNvSpPr/>
          <p:nvPr/>
        </p:nvSpPr>
        <p:spPr>
          <a:xfrm rot="5400000">
            <a:off x="16429362" y="8884328"/>
            <a:ext cx="455966" cy="1203911"/>
          </a:xfrm>
          <a:custGeom>
            <a:avLst/>
            <a:gdLst/>
            <a:ahLst/>
            <a:cxnLst/>
            <a:rect l="l" t="t" r="r" b="b"/>
            <a:pathLst>
              <a:path w="455966" h="1203911">
                <a:moveTo>
                  <a:pt x="0" y="0"/>
                </a:moveTo>
                <a:lnTo>
                  <a:pt x="455966" y="0"/>
                </a:lnTo>
                <a:lnTo>
                  <a:pt x="455966" y="1203910"/>
                </a:lnTo>
                <a:lnTo>
                  <a:pt x="0" y="120391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424714315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794310-5ED0-0DCA-AD5C-4D813109B6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>
            <a:extLst>
              <a:ext uri="{FF2B5EF4-FFF2-40B4-BE49-F238E27FC236}">
                <a16:creationId xmlns:a16="http://schemas.microsoft.com/office/drawing/2014/main" id="{0BBD0FC0-F7FC-9D4D-0531-F7EAB4DD347D}"/>
              </a:ext>
            </a:extLst>
          </p:cNvPr>
          <p:cNvSpPr txBox="1"/>
          <p:nvPr/>
        </p:nvSpPr>
        <p:spPr>
          <a:xfrm>
            <a:off x="6710791" y="4555319"/>
            <a:ext cx="10548509" cy="5641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4759"/>
              </a:lnSpc>
              <a:spcBef>
                <a:spcPct val="0"/>
              </a:spcBef>
            </a:pPr>
            <a:r>
              <a:rPr lang="en-US" sz="3399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https://dev.meteostat.net/bulk/daily.html</a:t>
            </a:r>
          </a:p>
        </p:txBody>
      </p:sp>
      <p:sp>
        <p:nvSpPr>
          <p:cNvPr id="3" name="TextBox 3">
            <a:extLst>
              <a:ext uri="{FF2B5EF4-FFF2-40B4-BE49-F238E27FC236}">
                <a16:creationId xmlns:a16="http://schemas.microsoft.com/office/drawing/2014/main" id="{7E1BF624-DFD5-3AB2-6C1B-3672ACBEDD2A}"/>
              </a:ext>
            </a:extLst>
          </p:cNvPr>
          <p:cNvSpPr txBox="1"/>
          <p:nvPr/>
        </p:nvSpPr>
        <p:spPr>
          <a:xfrm>
            <a:off x="6710791" y="6560571"/>
            <a:ext cx="10353936" cy="5641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759"/>
              </a:lnSpc>
              <a:spcBef>
                <a:spcPct val="0"/>
              </a:spcBef>
            </a:pPr>
            <a:r>
              <a:rPr lang="en-US" sz="3399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daily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2E478002-46EF-C05E-5978-98AC202AC5F7}"/>
              </a:ext>
            </a:extLst>
          </p:cNvPr>
          <p:cNvSpPr txBox="1"/>
          <p:nvPr/>
        </p:nvSpPr>
        <p:spPr>
          <a:xfrm>
            <a:off x="6710791" y="8430106"/>
            <a:ext cx="10353936" cy="5641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759"/>
              </a:lnSpc>
              <a:spcBef>
                <a:spcPct val="0"/>
              </a:spcBef>
            </a:pPr>
            <a:r>
              <a:rPr lang="en-US" sz="3399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CSV format from the get-go</a:t>
            </a:r>
          </a:p>
        </p:txBody>
      </p:sp>
      <p:grpSp>
        <p:nvGrpSpPr>
          <p:cNvPr id="5" name="Group 5">
            <a:extLst>
              <a:ext uri="{FF2B5EF4-FFF2-40B4-BE49-F238E27FC236}">
                <a16:creationId xmlns:a16="http://schemas.microsoft.com/office/drawing/2014/main" id="{FE254E69-5036-9FD8-C5A1-AA54AC03A58B}"/>
              </a:ext>
            </a:extLst>
          </p:cNvPr>
          <p:cNvGrpSpPr/>
          <p:nvPr/>
        </p:nvGrpSpPr>
        <p:grpSpPr>
          <a:xfrm>
            <a:off x="-1197824" y="1878992"/>
            <a:ext cx="6379424" cy="1577554"/>
            <a:chOff x="0" y="0"/>
            <a:chExt cx="2418659" cy="653141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99D25A2D-1CEB-912D-9970-6DFD5A6AAA2A}"/>
                </a:ext>
              </a:extLst>
            </p:cNvPr>
            <p:cNvSpPr/>
            <p:nvPr/>
          </p:nvSpPr>
          <p:spPr>
            <a:xfrm>
              <a:off x="0" y="0"/>
              <a:ext cx="2418659" cy="653141"/>
            </a:xfrm>
            <a:custGeom>
              <a:avLst/>
              <a:gdLst/>
              <a:ahLst/>
              <a:cxnLst/>
              <a:rect l="l" t="t" r="r" b="b"/>
              <a:pathLst>
                <a:path w="2418659" h="653141">
                  <a:moveTo>
                    <a:pt x="2215459" y="0"/>
                  </a:moveTo>
                  <a:lnTo>
                    <a:pt x="0" y="0"/>
                  </a:lnTo>
                  <a:lnTo>
                    <a:pt x="0" y="653141"/>
                  </a:lnTo>
                  <a:lnTo>
                    <a:pt x="2215459" y="653141"/>
                  </a:lnTo>
                  <a:lnTo>
                    <a:pt x="2418659" y="326570"/>
                  </a:lnTo>
                  <a:lnTo>
                    <a:pt x="2215459" y="0"/>
                  </a:lnTo>
                  <a:close/>
                </a:path>
              </a:pathLst>
            </a:custGeom>
            <a:solidFill>
              <a:srgbClr val="2B485F"/>
            </a:solidFill>
          </p:spPr>
          <p:txBody>
            <a:bodyPr/>
            <a:lstStyle/>
            <a:p>
              <a:endParaRPr lang="de-AT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71A572B7-E250-0D34-91BB-06D2531597B2}"/>
                </a:ext>
              </a:extLst>
            </p:cNvPr>
            <p:cNvSpPr txBox="1"/>
            <p:nvPr/>
          </p:nvSpPr>
          <p:spPr>
            <a:xfrm>
              <a:off x="0" y="-38100"/>
              <a:ext cx="2304359" cy="69124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8" name="TextBox 8">
            <a:extLst>
              <a:ext uri="{FF2B5EF4-FFF2-40B4-BE49-F238E27FC236}">
                <a16:creationId xmlns:a16="http://schemas.microsoft.com/office/drawing/2014/main" id="{7C7BA87A-12F1-4B34-5F49-C7F08DED022C}"/>
              </a:ext>
            </a:extLst>
          </p:cNvPr>
          <p:cNvSpPr txBox="1"/>
          <p:nvPr/>
        </p:nvSpPr>
        <p:spPr>
          <a:xfrm>
            <a:off x="304800" y="2214890"/>
            <a:ext cx="7053922" cy="9156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420"/>
              </a:lnSpc>
              <a:spcBef>
                <a:spcPct val="0"/>
              </a:spcBef>
            </a:pPr>
            <a:r>
              <a:rPr lang="en-US" sz="5300" dirty="0">
                <a:solidFill>
                  <a:srgbClr val="FFFFFF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Data Source</a:t>
            </a:r>
          </a:p>
        </p:txBody>
      </p:sp>
      <p:grpSp>
        <p:nvGrpSpPr>
          <p:cNvPr id="9" name="Group 9">
            <a:extLst>
              <a:ext uri="{FF2B5EF4-FFF2-40B4-BE49-F238E27FC236}">
                <a16:creationId xmlns:a16="http://schemas.microsoft.com/office/drawing/2014/main" id="{BDD9D64C-7032-E29F-58D0-BC4793AE8B36}"/>
              </a:ext>
            </a:extLst>
          </p:cNvPr>
          <p:cNvGrpSpPr/>
          <p:nvPr/>
        </p:nvGrpSpPr>
        <p:grpSpPr>
          <a:xfrm>
            <a:off x="1766747" y="4435931"/>
            <a:ext cx="4640821" cy="990272"/>
            <a:chOff x="0" y="0"/>
            <a:chExt cx="3060886" cy="653141"/>
          </a:xfrm>
        </p:grpSpPr>
        <p:sp>
          <p:nvSpPr>
            <p:cNvPr id="10" name="Freeform 10">
              <a:extLst>
                <a:ext uri="{FF2B5EF4-FFF2-40B4-BE49-F238E27FC236}">
                  <a16:creationId xmlns:a16="http://schemas.microsoft.com/office/drawing/2014/main" id="{9D8C3F1C-B61E-4EEF-6B0A-1C7857BD52CC}"/>
                </a:ext>
              </a:extLst>
            </p:cNvPr>
            <p:cNvSpPr/>
            <p:nvPr/>
          </p:nvSpPr>
          <p:spPr>
            <a:xfrm>
              <a:off x="0" y="0"/>
              <a:ext cx="3060886" cy="653141"/>
            </a:xfrm>
            <a:custGeom>
              <a:avLst/>
              <a:gdLst/>
              <a:ahLst/>
              <a:cxnLst/>
              <a:rect l="l" t="t" r="r" b="b"/>
              <a:pathLst>
                <a:path w="3060886" h="653141">
                  <a:moveTo>
                    <a:pt x="2857686" y="0"/>
                  </a:moveTo>
                  <a:lnTo>
                    <a:pt x="0" y="0"/>
                  </a:lnTo>
                  <a:lnTo>
                    <a:pt x="0" y="653141"/>
                  </a:lnTo>
                  <a:lnTo>
                    <a:pt x="2857686" y="653141"/>
                  </a:lnTo>
                  <a:lnTo>
                    <a:pt x="3060886" y="326570"/>
                  </a:lnTo>
                  <a:lnTo>
                    <a:pt x="2857686" y="0"/>
                  </a:lnTo>
                  <a:close/>
                </a:path>
              </a:pathLst>
            </a:custGeom>
            <a:solidFill>
              <a:srgbClr val="2B485F"/>
            </a:solidFill>
          </p:spPr>
          <p:txBody>
            <a:bodyPr/>
            <a:lstStyle/>
            <a:p>
              <a:endParaRPr lang="de-AT"/>
            </a:p>
          </p:txBody>
        </p:sp>
        <p:sp>
          <p:nvSpPr>
            <p:cNvPr id="11" name="TextBox 11">
              <a:extLst>
                <a:ext uri="{FF2B5EF4-FFF2-40B4-BE49-F238E27FC236}">
                  <a16:creationId xmlns:a16="http://schemas.microsoft.com/office/drawing/2014/main" id="{2B095CD3-9C64-9120-FB5A-66ABEC8F6708}"/>
                </a:ext>
              </a:extLst>
            </p:cNvPr>
            <p:cNvSpPr txBox="1"/>
            <p:nvPr/>
          </p:nvSpPr>
          <p:spPr>
            <a:xfrm>
              <a:off x="0" y="-38100"/>
              <a:ext cx="2946586" cy="69124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2" name="TextBox 12">
            <a:extLst>
              <a:ext uri="{FF2B5EF4-FFF2-40B4-BE49-F238E27FC236}">
                <a16:creationId xmlns:a16="http://schemas.microsoft.com/office/drawing/2014/main" id="{8FD3AF9F-00BC-BDBE-BE2F-056017ACBF55}"/>
              </a:ext>
            </a:extLst>
          </p:cNvPr>
          <p:cNvSpPr txBox="1"/>
          <p:nvPr/>
        </p:nvSpPr>
        <p:spPr>
          <a:xfrm>
            <a:off x="2033330" y="4635792"/>
            <a:ext cx="3791038" cy="4944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200"/>
              </a:lnSpc>
              <a:spcBef>
                <a:spcPct val="0"/>
              </a:spcBef>
            </a:pPr>
            <a:r>
              <a:rPr lang="en-US" sz="3000" b="1" dirty="0">
                <a:solidFill>
                  <a:srgbClr val="FFFFFF"/>
                </a:solidFill>
                <a:latin typeface="Inter Bold"/>
                <a:ea typeface="Inter Bold"/>
                <a:cs typeface="Inter Bold"/>
                <a:sym typeface="Inter Bold"/>
              </a:rPr>
              <a:t>Website</a:t>
            </a:r>
          </a:p>
        </p:txBody>
      </p:sp>
      <p:grpSp>
        <p:nvGrpSpPr>
          <p:cNvPr id="13" name="Group 13">
            <a:extLst>
              <a:ext uri="{FF2B5EF4-FFF2-40B4-BE49-F238E27FC236}">
                <a16:creationId xmlns:a16="http://schemas.microsoft.com/office/drawing/2014/main" id="{0EFE0876-197E-56F1-C9F2-C49B8A46E312}"/>
              </a:ext>
            </a:extLst>
          </p:cNvPr>
          <p:cNvGrpSpPr/>
          <p:nvPr/>
        </p:nvGrpSpPr>
        <p:grpSpPr>
          <a:xfrm>
            <a:off x="1766747" y="6349821"/>
            <a:ext cx="4640821" cy="990272"/>
            <a:chOff x="0" y="0"/>
            <a:chExt cx="3060886" cy="653141"/>
          </a:xfrm>
        </p:grpSpPr>
        <p:sp>
          <p:nvSpPr>
            <p:cNvPr id="14" name="Freeform 14">
              <a:extLst>
                <a:ext uri="{FF2B5EF4-FFF2-40B4-BE49-F238E27FC236}">
                  <a16:creationId xmlns:a16="http://schemas.microsoft.com/office/drawing/2014/main" id="{AFC50CF4-DE0D-557C-05C4-C8CF87917C5B}"/>
                </a:ext>
              </a:extLst>
            </p:cNvPr>
            <p:cNvSpPr/>
            <p:nvPr/>
          </p:nvSpPr>
          <p:spPr>
            <a:xfrm>
              <a:off x="0" y="0"/>
              <a:ext cx="3060886" cy="653141"/>
            </a:xfrm>
            <a:custGeom>
              <a:avLst/>
              <a:gdLst/>
              <a:ahLst/>
              <a:cxnLst/>
              <a:rect l="l" t="t" r="r" b="b"/>
              <a:pathLst>
                <a:path w="3060886" h="653141">
                  <a:moveTo>
                    <a:pt x="2857686" y="0"/>
                  </a:moveTo>
                  <a:lnTo>
                    <a:pt x="0" y="0"/>
                  </a:lnTo>
                  <a:lnTo>
                    <a:pt x="0" y="653141"/>
                  </a:lnTo>
                  <a:lnTo>
                    <a:pt x="2857686" y="653141"/>
                  </a:lnTo>
                  <a:lnTo>
                    <a:pt x="3060886" y="326570"/>
                  </a:lnTo>
                  <a:lnTo>
                    <a:pt x="2857686" y="0"/>
                  </a:lnTo>
                  <a:close/>
                </a:path>
              </a:pathLst>
            </a:custGeom>
            <a:solidFill>
              <a:srgbClr val="2B485F"/>
            </a:solidFill>
          </p:spPr>
          <p:txBody>
            <a:bodyPr/>
            <a:lstStyle/>
            <a:p>
              <a:endParaRPr lang="de-AT"/>
            </a:p>
          </p:txBody>
        </p:sp>
        <p:sp>
          <p:nvSpPr>
            <p:cNvPr id="15" name="TextBox 15">
              <a:extLst>
                <a:ext uri="{FF2B5EF4-FFF2-40B4-BE49-F238E27FC236}">
                  <a16:creationId xmlns:a16="http://schemas.microsoft.com/office/drawing/2014/main" id="{FF592610-CC37-439D-1B56-1B384423F6D7}"/>
                </a:ext>
              </a:extLst>
            </p:cNvPr>
            <p:cNvSpPr txBox="1"/>
            <p:nvPr/>
          </p:nvSpPr>
          <p:spPr>
            <a:xfrm>
              <a:off x="0" y="-38100"/>
              <a:ext cx="2946586" cy="69124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6" name="TextBox 16">
            <a:extLst>
              <a:ext uri="{FF2B5EF4-FFF2-40B4-BE49-F238E27FC236}">
                <a16:creationId xmlns:a16="http://schemas.microsoft.com/office/drawing/2014/main" id="{D4EC9B19-E498-36C0-A95C-798EF6B7C806}"/>
              </a:ext>
            </a:extLst>
          </p:cNvPr>
          <p:cNvSpPr txBox="1"/>
          <p:nvPr/>
        </p:nvSpPr>
        <p:spPr>
          <a:xfrm>
            <a:off x="2033330" y="6549683"/>
            <a:ext cx="4224475" cy="4944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200"/>
              </a:lnSpc>
              <a:spcBef>
                <a:spcPct val="0"/>
              </a:spcBef>
            </a:pPr>
            <a:r>
              <a:rPr lang="en-US" sz="3000" b="1" dirty="0">
                <a:solidFill>
                  <a:srgbClr val="FFFFFF"/>
                </a:solidFill>
                <a:latin typeface="Inter Bold"/>
                <a:ea typeface="Inter Bold"/>
                <a:cs typeface="Inter Bold"/>
                <a:sym typeface="Inter Bold"/>
              </a:rPr>
              <a:t>Updates</a:t>
            </a:r>
          </a:p>
        </p:txBody>
      </p:sp>
      <p:grpSp>
        <p:nvGrpSpPr>
          <p:cNvPr id="17" name="Group 17">
            <a:extLst>
              <a:ext uri="{FF2B5EF4-FFF2-40B4-BE49-F238E27FC236}">
                <a16:creationId xmlns:a16="http://schemas.microsoft.com/office/drawing/2014/main" id="{7A30FF26-6ABA-4CB0-A0BB-3FABC200FB59}"/>
              </a:ext>
            </a:extLst>
          </p:cNvPr>
          <p:cNvGrpSpPr/>
          <p:nvPr/>
        </p:nvGrpSpPr>
        <p:grpSpPr>
          <a:xfrm>
            <a:off x="1723111" y="8268028"/>
            <a:ext cx="4640821" cy="990272"/>
            <a:chOff x="0" y="0"/>
            <a:chExt cx="3060886" cy="653141"/>
          </a:xfrm>
        </p:grpSpPr>
        <p:sp>
          <p:nvSpPr>
            <p:cNvPr id="18" name="Freeform 18">
              <a:extLst>
                <a:ext uri="{FF2B5EF4-FFF2-40B4-BE49-F238E27FC236}">
                  <a16:creationId xmlns:a16="http://schemas.microsoft.com/office/drawing/2014/main" id="{80C72B11-497E-92EF-402E-D4B174734FCB}"/>
                </a:ext>
              </a:extLst>
            </p:cNvPr>
            <p:cNvSpPr/>
            <p:nvPr/>
          </p:nvSpPr>
          <p:spPr>
            <a:xfrm>
              <a:off x="0" y="0"/>
              <a:ext cx="3060886" cy="653141"/>
            </a:xfrm>
            <a:custGeom>
              <a:avLst/>
              <a:gdLst/>
              <a:ahLst/>
              <a:cxnLst/>
              <a:rect l="l" t="t" r="r" b="b"/>
              <a:pathLst>
                <a:path w="3060886" h="653141">
                  <a:moveTo>
                    <a:pt x="2857686" y="0"/>
                  </a:moveTo>
                  <a:lnTo>
                    <a:pt x="0" y="0"/>
                  </a:lnTo>
                  <a:lnTo>
                    <a:pt x="0" y="653141"/>
                  </a:lnTo>
                  <a:lnTo>
                    <a:pt x="2857686" y="653141"/>
                  </a:lnTo>
                  <a:lnTo>
                    <a:pt x="3060886" y="326570"/>
                  </a:lnTo>
                  <a:lnTo>
                    <a:pt x="2857686" y="0"/>
                  </a:lnTo>
                  <a:close/>
                </a:path>
              </a:pathLst>
            </a:custGeom>
            <a:solidFill>
              <a:srgbClr val="2B485F"/>
            </a:solidFill>
          </p:spPr>
          <p:txBody>
            <a:bodyPr/>
            <a:lstStyle/>
            <a:p>
              <a:endParaRPr lang="de-AT"/>
            </a:p>
          </p:txBody>
        </p:sp>
        <p:sp>
          <p:nvSpPr>
            <p:cNvPr id="19" name="TextBox 19">
              <a:extLst>
                <a:ext uri="{FF2B5EF4-FFF2-40B4-BE49-F238E27FC236}">
                  <a16:creationId xmlns:a16="http://schemas.microsoft.com/office/drawing/2014/main" id="{065A810F-CD0F-B439-822B-706147CD36FA}"/>
                </a:ext>
              </a:extLst>
            </p:cNvPr>
            <p:cNvSpPr txBox="1"/>
            <p:nvPr/>
          </p:nvSpPr>
          <p:spPr>
            <a:xfrm>
              <a:off x="0" y="-38100"/>
              <a:ext cx="2946586" cy="69124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20" name="TextBox 20">
            <a:extLst>
              <a:ext uri="{FF2B5EF4-FFF2-40B4-BE49-F238E27FC236}">
                <a16:creationId xmlns:a16="http://schemas.microsoft.com/office/drawing/2014/main" id="{CB70A2FF-42B6-D2BF-8102-F6010B33DF7D}"/>
              </a:ext>
            </a:extLst>
          </p:cNvPr>
          <p:cNvSpPr txBox="1"/>
          <p:nvPr/>
        </p:nvSpPr>
        <p:spPr>
          <a:xfrm>
            <a:off x="1989694" y="8467889"/>
            <a:ext cx="4224475" cy="4944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200"/>
              </a:lnSpc>
              <a:spcBef>
                <a:spcPct val="0"/>
              </a:spcBef>
            </a:pPr>
            <a:r>
              <a:rPr lang="en-US" sz="3000" b="1" dirty="0">
                <a:solidFill>
                  <a:srgbClr val="FFFFFF"/>
                </a:solidFill>
                <a:latin typeface="Inter Bold"/>
                <a:ea typeface="Inter Bold"/>
                <a:cs typeface="Inter Bold"/>
                <a:sym typeface="Inter Bold"/>
              </a:rPr>
              <a:t>Format</a:t>
            </a:r>
          </a:p>
        </p:txBody>
      </p:sp>
      <p:sp>
        <p:nvSpPr>
          <p:cNvPr id="21" name="TextBox 21">
            <a:extLst>
              <a:ext uri="{FF2B5EF4-FFF2-40B4-BE49-F238E27FC236}">
                <a16:creationId xmlns:a16="http://schemas.microsoft.com/office/drawing/2014/main" id="{B54D7C73-3F2C-0F73-3B17-B20787DA6E4F}"/>
              </a:ext>
            </a:extLst>
          </p:cNvPr>
          <p:cNvSpPr txBox="1"/>
          <p:nvPr/>
        </p:nvSpPr>
        <p:spPr>
          <a:xfrm>
            <a:off x="12695334" y="715962"/>
            <a:ext cx="4563966" cy="83542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3360"/>
              </a:lnSpc>
              <a:spcBef>
                <a:spcPct val="0"/>
              </a:spcBef>
            </a:pPr>
            <a:r>
              <a:rPr lang="en-US" sz="2400" b="1" dirty="0" err="1">
                <a:solidFill>
                  <a:srgbClr val="2B485F"/>
                </a:solidFill>
                <a:latin typeface="Inter Bold"/>
                <a:ea typeface="Inter Bold"/>
                <a:cs typeface="Inter Bold"/>
                <a:sym typeface="Inter Bold"/>
              </a:rPr>
              <a:t>Broadsoft</a:t>
            </a:r>
            <a:r>
              <a:rPr lang="en-US" sz="2400" b="1" dirty="0">
                <a:solidFill>
                  <a:srgbClr val="2B485F"/>
                </a:solidFill>
                <a:latin typeface="Inter Bold"/>
                <a:ea typeface="Inter Bold"/>
                <a:cs typeface="Inter Bold"/>
                <a:sym typeface="Inter Bold"/>
              </a:rPr>
              <a:t> Consulting Company</a:t>
            </a:r>
          </a:p>
        </p:txBody>
      </p:sp>
      <p:sp>
        <p:nvSpPr>
          <p:cNvPr id="22" name="AutoShape 22">
            <a:extLst>
              <a:ext uri="{FF2B5EF4-FFF2-40B4-BE49-F238E27FC236}">
                <a16:creationId xmlns:a16="http://schemas.microsoft.com/office/drawing/2014/main" id="{358EC904-DF29-CF80-5CC4-37F3EFDE63B1}"/>
              </a:ext>
            </a:extLst>
          </p:cNvPr>
          <p:cNvSpPr/>
          <p:nvPr/>
        </p:nvSpPr>
        <p:spPr>
          <a:xfrm>
            <a:off x="17675977" y="961707"/>
            <a:ext cx="3956611" cy="0"/>
          </a:xfrm>
          <a:prstGeom prst="line">
            <a:avLst/>
          </a:prstGeom>
          <a:ln w="38100" cap="flat">
            <a:solidFill>
              <a:srgbClr val="2B485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de-AT"/>
          </a:p>
        </p:txBody>
      </p:sp>
      <p:sp>
        <p:nvSpPr>
          <p:cNvPr id="23" name="Freeform 23">
            <a:extLst>
              <a:ext uri="{FF2B5EF4-FFF2-40B4-BE49-F238E27FC236}">
                <a16:creationId xmlns:a16="http://schemas.microsoft.com/office/drawing/2014/main" id="{4AE69A20-6D0C-4BDB-9B0D-9CC37ED7968B}"/>
              </a:ext>
            </a:extLst>
          </p:cNvPr>
          <p:cNvSpPr/>
          <p:nvPr/>
        </p:nvSpPr>
        <p:spPr>
          <a:xfrm rot="5400000">
            <a:off x="16429362" y="8884328"/>
            <a:ext cx="455966" cy="1203911"/>
          </a:xfrm>
          <a:custGeom>
            <a:avLst/>
            <a:gdLst/>
            <a:ahLst/>
            <a:cxnLst/>
            <a:rect l="l" t="t" r="r" b="b"/>
            <a:pathLst>
              <a:path w="455966" h="1203911">
                <a:moveTo>
                  <a:pt x="0" y="0"/>
                </a:moveTo>
                <a:lnTo>
                  <a:pt x="455966" y="0"/>
                </a:lnTo>
                <a:lnTo>
                  <a:pt x="455966" y="1203910"/>
                </a:lnTo>
                <a:lnTo>
                  <a:pt x="0" y="120391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118228691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26E2A4-9CB3-428A-D661-C780299A8A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>
            <a:extLst>
              <a:ext uri="{FF2B5EF4-FFF2-40B4-BE49-F238E27FC236}">
                <a16:creationId xmlns:a16="http://schemas.microsoft.com/office/drawing/2014/main" id="{EF9149E0-E994-EDD4-E7B7-69B1CE7D60DB}"/>
              </a:ext>
            </a:extLst>
          </p:cNvPr>
          <p:cNvSpPr txBox="1"/>
          <p:nvPr/>
        </p:nvSpPr>
        <p:spPr>
          <a:xfrm>
            <a:off x="6710791" y="4297972"/>
            <a:ext cx="10548509" cy="117968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4759"/>
              </a:lnSpc>
              <a:spcBef>
                <a:spcPct val="0"/>
              </a:spcBef>
            </a:pPr>
            <a:r>
              <a:rPr lang="en-US" sz="3200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Lorem ipsum dolor sit </a:t>
            </a:r>
            <a:r>
              <a:rPr lang="en-US" sz="3200" dirty="0" err="1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amet</a:t>
            </a:r>
            <a:r>
              <a:rPr lang="en-US" sz="3200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consetetur</a:t>
            </a:r>
            <a:r>
              <a:rPr lang="en-US" sz="3200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sadipscing</a:t>
            </a:r>
            <a:r>
              <a:rPr lang="en-US" sz="3200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elitr</a:t>
            </a:r>
            <a:endParaRPr lang="en-US" sz="3200" dirty="0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" name="TextBox 3">
            <a:extLst>
              <a:ext uri="{FF2B5EF4-FFF2-40B4-BE49-F238E27FC236}">
                <a16:creationId xmlns:a16="http://schemas.microsoft.com/office/drawing/2014/main" id="{562C4FA7-5D98-E7A3-EE7B-966B2D33E91F}"/>
              </a:ext>
            </a:extLst>
          </p:cNvPr>
          <p:cNvSpPr txBox="1"/>
          <p:nvPr/>
        </p:nvSpPr>
        <p:spPr>
          <a:xfrm>
            <a:off x="6710791" y="6279191"/>
            <a:ext cx="10353936" cy="11857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4759"/>
              </a:lnSpc>
              <a:spcBef>
                <a:spcPct val="0"/>
              </a:spcBef>
            </a:pPr>
            <a:r>
              <a:rPr lang="en-US" sz="3200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Lorem ipsum dolor sit </a:t>
            </a:r>
            <a:r>
              <a:rPr lang="en-US" sz="3200" dirty="0" err="1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amet</a:t>
            </a:r>
            <a:r>
              <a:rPr lang="en-US" sz="3200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consetetur</a:t>
            </a:r>
            <a:r>
              <a:rPr lang="en-US" sz="3200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sadipscing</a:t>
            </a:r>
            <a:r>
              <a:rPr lang="en-US" sz="3200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elitr</a:t>
            </a:r>
            <a:endParaRPr lang="en-US" sz="3200" dirty="0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4D582A7D-FB98-0B57-63FD-B3E4EFDBF4DC}"/>
              </a:ext>
            </a:extLst>
          </p:cNvPr>
          <p:cNvSpPr txBox="1"/>
          <p:nvPr/>
        </p:nvSpPr>
        <p:spPr>
          <a:xfrm>
            <a:off x="6710791" y="8148726"/>
            <a:ext cx="10353936" cy="11857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4759"/>
              </a:lnSpc>
              <a:spcBef>
                <a:spcPct val="0"/>
              </a:spcBef>
            </a:pPr>
            <a:r>
              <a:rPr lang="en-US" sz="3200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Lorem ipsum dolor sit </a:t>
            </a:r>
            <a:r>
              <a:rPr lang="en-US" sz="3200" dirty="0" err="1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amet</a:t>
            </a:r>
            <a:r>
              <a:rPr lang="en-US" sz="3200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consetetur</a:t>
            </a:r>
            <a:r>
              <a:rPr lang="en-US" sz="3200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sadipscing</a:t>
            </a:r>
            <a:r>
              <a:rPr lang="en-US" sz="3200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elitr</a:t>
            </a:r>
            <a:endParaRPr lang="en-US" sz="3200" dirty="0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grpSp>
        <p:nvGrpSpPr>
          <p:cNvPr id="5" name="Group 5">
            <a:extLst>
              <a:ext uri="{FF2B5EF4-FFF2-40B4-BE49-F238E27FC236}">
                <a16:creationId xmlns:a16="http://schemas.microsoft.com/office/drawing/2014/main" id="{9092E83A-D03F-E21E-D11E-FB321D948328}"/>
              </a:ext>
            </a:extLst>
          </p:cNvPr>
          <p:cNvGrpSpPr/>
          <p:nvPr/>
        </p:nvGrpSpPr>
        <p:grpSpPr>
          <a:xfrm>
            <a:off x="-1197824" y="1878992"/>
            <a:ext cx="6912824" cy="1577554"/>
            <a:chOff x="0" y="0"/>
            <a:chExt cx="2418659" cy="653141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88110137-A1D1-726F-0804-8E61B5A64EEB}"/>
                </a:ext>
              </a:extLst>
            </p:cNvPr>
            <p:cNvSpPr/>
            <p:nvPr/>
          </p:nvSpPr>
          <p:spPr>
            <a:xfrm>
              <a:off x="0" y="0"/>
              <a:ext cx="2418659" cy="653141"/>
            </a:xfrm>
            <a:custGeom>
              <a:avLst/>
              <a:gdLst/>
              <a:ahLst/>
              <a:cxnLst/>
              <a:rect l="l" t="t" r="r" b="b"/>
              <a:pathLst>
                <a:path w="2418659" h="653141">
                  <a:moveTo>
                    <a:pt x="2215459" y="0"/>
                  </a:moveTo>
                  <a:lnTo>
                    <a:pt x="0" y="0"/>
                  </a:lnTo>
                  <a:lnTo>
                    <a:pt x="0" y="653141"/>
                  </a:lnTo>
                  <a:lnTo>
                    <a:pt x="2215459" y="653141"/>
                  </a:lnTo>
                  <a:lnTo>
                    <a:pt x="2418659" y="326570"/>
                  </a:lnTo>
                  <a:lnTo>
                    <a:pt x="2215459" y="0"/>
                  </a:lnTo>
                  <a:close/>
                </a:path>
              </a:pathLst>
            </a:custGeom>
            <a:solidFill>
              <a:srgbClr val="2B485F"/>
            </a:solidFill>
          </p:spPr>
          <p:txBody>
            <a:bodyPr/>
            <a:lstStyle/>
            <a:p>
              <a:endParaRPr lang="de-AT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58238CBA-5AFA-19B5-A541-8A206122D822}"/>
                </a:ext>
              </a:extLst>
            </p:cNvPr>
            <p:cNvSpPr txBox="1"/>
            <p:nvPr/>
          </p:nvSpPr>
          <p:spPr>
            <a:xfrm>
              <a:off x="0" y="-38100"/>
              <a:ext cx="2304359" cy="69124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8" name="TextBox 8">
            <a:extLst>
              <a:ext uri="{FF2B5EF4-FFF2-40B4-BE49-F238E27FC236}">
                <a16:creationId xmlns:a16="http://schemas.microsoft.com/office/drawing/2014/main" id="{915DB77C-CC0F-13E8-AD76-05692D565922}"/>
              </a:ext>
            </a:extLst>
          </p:cNvPr>
          <p:cNvSpPr txBox="1"/>
          <p:nvPr/>
        </p:nvSpPr>
        <p:spPr>
          <a:xfrm>
            <a:off x="304800" y="2214890"/>
            <a:ext cx="7053922" cy="9156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420"/>
              </a:lnSpc>
              <a:spcBef>
                <a:spcPct val="0"/>
              </a:spcBef>
            </a:pPr>
            <a:r>
              <a:rPr lang="en-US" sz="5300" dirty="0">
                <a:solidFill>
                  <a:srgbClr val="FFFFFF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Data Insights</a:t>
            </a:r>
          </a:p>
        </p:txBody>
      </p:sp>
      <p:grpSp>
        <p:nvGrpSpPr>
          <p:cNvPr id="9" name="Group 9">
            <a:extLst>
              <a:ext uri="{FF2B5EF4-FFF2-40B4-BE49-F238E27FC236}">
                <a16:creationId xmlns:a16="http://schemas.microsoft.com/office/drawing/2014/main" id="{7411EDDF-BB64-9509-3F5C-8384B4213224}"/>
              </a:ext>
            </a:extLst>
          </p:cNvPr>
          <p:cNvGrpSpPr/>
          <p:nvPr/>
        </p:nvGrpSpPr>
        <p:grpSpPr>
          <a:xfrm>
            <a:off x="1766747" y="4435931"/>
            <a:ext cx="4640821" cy="990272"/>
            <a:chOff x="0" y="0"/>
            <a:chExt cx="3060886" cy="653141"/>
          </a:xfrm>
        </p:grpSpPr>
        <p:sp>
          <p:nvSpPr>
            <p:cNvPr id="10" name="Freeform 10">
              <a:extLst>
                <a:ext uri="{FF2B5EF4-FFF2-40B4-BE49-F238E27FC236}">
                  <a16:creationId xmlns:a16="http://schemas.microsoft.com/office/drawing/2014/main" id="{539A1DE7-D2A4-982D-FAC7-F925BEE8C76F}"/>
                </a:ext>
              </a:extLst>
            </p:cNvPr>
            <p:cNvSpPr/>
            <p:nvPr/>
          </p:nvSpPr>
          <p:spPr>
            <a:xfrm>
              <a:off x="0" y="0"/>
              <a:ext cx="3060886" cy="653141"/>
            </a:xfrm>
            <a:custGeom>
              <a:avLst/>
              <a:gdLst/>
              <a:ahLst/>
              <a:cxnLst/>
              <a:rect l="l" t="t" r="r" b="b"/>
              <a:pathLst>
                <a:path w="3060886" h="653141">
                  <a:moveTo>
                    <a:pt x="2857686" y="0"/>
                  </a:moveTo>
                  <a:lnTo>
                    <a:pt x="0" y="0"/>
                  </a:lnTo>
                  <a:lnTo>
                    <a:pt x="0" y="653141"/>
                  </a:lnTo>
                  <a:lnTo>
                    <a:pt x="2857686" y="653141"/>
                  </a:lnTo>
                  <a:lnTo>
                    <a:pt x="3060886" y="326570"/>
                  </a:lnTo>
                  <a:lnTo>
                    <a:pt x="2857686" y="0"/>
                  </a:lnTo>
                  <a:close/>
                </a:path>
              </a:pathLst>
            </a:custGeom>
            <a:solidFill>
              <a:srgbClr val="2B485F"/>
            </a:solidFill>
          </p:spPr>
          <p:txBody>
            <a:bodyPr/>
            <a:lstStyle/>
            <a:p>
              <a:endParaRPr lang="de-AT"/>
            </a:p>
          </p:txBody>
        </p:sp>
        <p:sp>
          <p:nvSpPr>
            <p:cNvPr id="11" name="TextBox 11">
              <a:extLst>
                <a:ext uri="{FF2B5EF4-FFF2-40B4-BE49-F238E27FC236}">
                  <a16:creationId xmlns:a16="http://schemas.microsoft.com/office/drawing/2014/main" id="{CE6B89C8-CA05-52C9-31D2-5E27B0B4C993}"/>
                </a:ext>
              </a:extLst>
            </p:cNvPr>
            <p:cNvSpPr txBox="1"/>
            <p:nvPr/>
          </p:nvSpPr>
          <p:spPr>
            <a:xfrm>
              <a:off x="0" y="-38100"/>
              <a:ext cx="2946586" cy="69124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2" name="TextBox 12">
            <a:extLst>
              <a:ext uri="{FF2B5EF4-FFF2-40B4-BE49-F238E27FC236}">
                <a16:creationId xmlns:a16="http://schemas.microsoft.com/office/drawing/2014/main" id="{09CA7D61-8EE7-FF8B-574E-9903276EF2DD}"/>
              </a:ext>
            </a:extLst>
          </p:cNvPr>
          <p:cNvSpPr txBox="1"/>
          <p:nvPr/>
        </p:nvSpPr>
        <p:spPr>
          <a:xfrm>
            <a:off x="2033330" y="4635792"/>
            <a:ext cx="3791038" cy="5238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200"/>
              </a:lnSpc>
              <a:spcBef>
                <a:spcPct val="0"/>
              </a:spcBef>
            </a:pPr>
            <a:r>
              <a:rPr lang="en-US" sz="3000" b="1" dirty="0">
                <a:solidFill>
                  <a:srgbClr val="FFFFFF"/>
                </a:solidFill>
                <a:latin typeface="Inter Bold"/>
                <a:ea typeface="Inter Bold"/>
                <a:cs typeface="Inter Bold"/>
                <a:sym typeface="Inter Bold"/>
              </a:rPr>
              <a:t>Company Overview</a:t>
            </a:r>
          </a:p>
        </p:txBody>
      </p:sp>
      <p:grpSp>
        <p:nvGrpSpPr>
          <p:cNvPr id="13" name="Group 13">
            <a:extLst>
              <a:ext uri="{FF2B5EF4-FFF2-40B4-BE49-F238E27FC236}">
                <a16:creationId xmlns:a16="http://schemas.microsoft.com/office/drawing/2014/main" id="{A549CBCC-2615-238F-7AC3-3A8978884181}"/>
              </a:ext>
            </a:extLst>
          </p:cNvPr>
          <p:cNvGrpSpPr/>
          <p:nvPr/>
        </p:nvGrpSpPr>
        <p:grpSpPr>
          <a:xfrm>
            <a:off x="1766747" y="6349821"/>
            <a:ext cx="4640821" cy="990272"/>
            <a:chOff x="0" y="0"/>
            <a:chExt cx="3060886" cy="653141"/>
          </a:xfrm>
        </p:grpSpPr>
        <p:sp>
          <p:nvSpPr>
            <p:cNvPr id="14" name="Freeform 14">
              <a:extLst>
                <a:ext uri="{FF2B5EF4-FFF2-40B4-BE49-F238E27FC236}">
                  <a16:creationId xmlns:a16="http://schemas.microsoft.com/office/drawing/2014/main" id="{734BE94D-EDD9-27A3-C872-AE1B05C90E2F}"/>
                </a:ext>
              </a:extLst>
            </p:cNvPr>
            <p:cNvSpPr/>
            <p:nvPr/>
          </p:nvSpPr>
          <p:spPr>
            <a:xfrm>
              <a:off x="0" y="0"/>
              <a:ext cx="3060886" cy="653141"/>
            </a:xfrm>
            <a:custGeom>
              <a:avLst/>
              <a:gdLst/>
              <a:ahLst/>
              <a:cxnLst/>
              <a:rect l="l" t="t" r="r" b="b"/>
              <a:pathLst>
                <a:path w="3060886" h="653141">
                  <a:moveTo>
                    <a:pt x="2857686" y="0"/>
                  </a:moveTo>
                  <a:lnTo>
                    <a:pt x="0" y="0"/>
                  </a:lnTo>
                  <a:lnTo>
                    <a:pt x="0" y="653141"/>
                  </a:lnTo>
                  <a:lnTo>
                    <a:pt x="2857686" y="653141"/>
                  </a:lnTo>
                  <a:lnTo>
                    <a:pt x="3060886" y="326570"/>
                  </a:lnTo>
                  <a:lnTo>
                    <a:pt x="2857686" y="0"/>
                  </a:lnTo>
                  <a:close/>
                </a:path>
              </a:pathLst>
            </a:custGeom>
            <a:solidFill>
              <a:srgbClr val="2B485F"/>
            </a:solidFill>
          </p:spPr>
          <p:txBody>
            <a:bodyPr/>
            <a:lstStyle/>
            <a:p>
              <a:endParaRPr lang="de-AT"/>
            </a:p>
          </p:txBody>
        </p:sp>
        <p:sp>
          <p:nvSpPr>
            <p:cNvPr id="15" name="TextBox 15">
              <a:extLst>
                <a:ext uri="{FF2B5EF4-FFF2-40B4-BE49-F238E27FC236}">
                  <a16:creationId xmlns:a16="http://schemas.microsoft.com/office/drawing/2014/main" id="{8FC608B9-241C-3411-1919-B02500C2E3F5}"/>
                </a:ext>
              </a:extLst>
            </p:cNvPr>
            <p:cNvSpPr txBox="1"/>
            <p:nvPr/>
          </p:nvSpPr>
          <p:spPr>
            <a:xfrm>
              <a:off x="0" y="-38100"/>
              <a:ext cx="2946586" cy="69124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6" name="TextBox 16">
            <a:extLst>
              <a:ext uri="{FF2B5EF4-FFF2-40B4-BE49-F238E27FC236}">
                <a16:creationId xmlns:a16="http://schemas.microsoft.com/office/drawing/2014/main" id="{54C30BD9-79C9-0623-08C4-CC8CCBF2504E}"/>
              </a:ext>
            </a:extLst>
          </p:cNvPr>
          <p:cNvSpPr txBox="1"/>
          <p:nvPr/>
        </p:nvSpPr>
        <p:spPr>
          <a:xfrm>
            <a:off x="2033330" y="6549683"/>
            <a:ext cx="4224475" cy="5238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200"/>
              </a:lnSpc>
              <a:spcBef>
                <a:spcPct val="0"/>
              </a:spcBef>
            </a:pPr>
            <a:r>
              <a:rPr lang="en-US" sz="3000" b="1">
                <a:solidFill>
                  <a:srgbClr val="FFFFFF"/>
                </a:solidFill>
                <a:latin typeface="Inter Bold"/>
                <a:ea typeface="Inter Bold"/>
                <a:cs typeface="Inter Bold"/>
                <a:sym typeface="Inter Bold"/>
              </a:rPr>
              <a:t>Purpose of the Report</a:t>
            </a:r>
          </a:p>
        </p:txBody>
      </p:sp>
      <p:grpSp>
        <p:nvGrpSpPr>
          <p:cNvPr id="17" name="Group 17">
            <a:extLst>
              <a:ext uri="{FF2B5EF4-FFF2-40B4-BE49-F238E27FC236}">
                <a16:creationId xmlns:a16="http://schemas.microsoft.com/office/drawing/2014/main" id="{A1887736-CD48-1BDC-9A62-5083920FC36E}"/>
              </a:ext>
            </a:extLst>
          </p:cNvPr>
          <p:cNvGrpSpPr/>
          <p:nvPr/>
        </p:nvGrpSpPr>
        <p:grpSpPr>
          <a:xfrm>
            <a:off x="1723111" y="8268028"/>
            <a:ext cx="4640821" cy="990272"/>
            <a:chOff x="0" y="0"/>
            <a:chExt cx="3060886" cy="653141"/>
          </a:xfrm>
        </p:grpSpPr>
        <p:sp>
          <p:nvSpPr>
            <p:cNvPr id="18" name="Freeform 18">
              <a:extLst>
                <a:ext uri="{FF2B5EF4-FFF2-40B4-BE49-F238E27FC236}">
                  <a16:creationId xmlns:a16="http://schemas.microsoft.com/office/drawing/2014/main" id="{4E87106E-DB62-9DD1-7E14-D22365A88DBE}"/>
                </a:ext>
              </a:extLst>
            </p:cNvPr>
            <p:cNvSpPr/>
            <p:nvPr/>
          </p:nvSpPr>
          <p:spPr>
            <a:xfrm>
              <a:off x="0" y="0"/>
              <a:ext cx="3060886" cy="653141"/>
            </a:xfrm>
            <a:custGeom>
              <a:avLst/>
              <a:gdLst/>
              <a:ahLst/>
              <a:cxnLst/>
              <a:rect l="l" t="t" r="r" b="b"/>
              <a:pathLst>
                <a:path w="3060886" h="653141">
                  <a:moveTo>
                    <a:pt x="2857686" y="0"/>
                  </a:moveTo>
                  <a:lnTo>
                    <a:pt x="0" y="0"/>
                  </a:lnTo>
                  <a:lnTo>
                    <a:pt x="0" y="653141"/>
                  </a:lnTo>
                  <a:lnTo>
                    <a:pt x="2857686" y="653141"/>
                  </a:lnTo>
                  <a:lnTo>
                    <a:pt x="3060886" y="326570"/>
                  </a:lnTo>
                  <a:lnTo>
                    <a:pt x="2857686" y="0"/>
                  </a:lnTo>
                  <a:close/>
                </a:path>
              </a:pathLst>
            </a:custGeom>
            <a:solidFill>
              <a:srgbClr val="2B485F"/>
            </a:solidFill>
          </p:spPr>
          <p:txBody>
            <a:bodyPr/>
            <a:lstStyle/>
            <a:p>
              <a:endParaRPr lang="de-AT"/>
            </a:p>
          </p:txBody>
        </p:sp>
        <p:sp>
          <p:nvSpPr>
            <p:cNvPr id="19" name="TextBox 19">
              <a:extLst>
                <a:ext uri="{FF2B5EF4-FFF2-40B4-BE49-F238E27FC236}">
                  <a16:creationId xmlns:a16="http://schemas.microsoft.com/office/drawing/2014/main" id="{12C19232-48A9-7F77-44FD-2AE1FCEE49BA}"/>
                </a:ext>
              </a:extLst>
            </p:cNvPr>
            <p:cNvSpPr txBox="1"/>
            <p:nvPr/>
          </p:nvSpPr>
          <p:spPr>
            <a:xfrm>
              <a:off x="0" y="-38100"/>
              <a:ext cx="2946586" cy="69124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20" name="TextBox 20">
            <a:extLst>
              <a:ext uri="{FF2B5EF4-FFF2-40B4-BE49-F238E27FC236}">
                <a16:creationId xmlns:a16="http://schemas.microsoft.com/office/drawing/2014/main" id="{7A98C108-0C2D-36E5-5571-C480D474AE1E}"/>
              </a:ext>
            </a:extLst>
          </p:cNvPr>
          <p:cNvSpPr txBox="1"/>
          <p:nvPr/>
        </p:nvSpPr>
        <p:spPr>
          <a:xfrm>
            <a:off x="1989694" y="8467889"/>
            <a:ext cx="4224475" cy="5238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200"/>
              </a:lnSpc>
              <a:spcBef>
                <a:spcPct val="0"/>
              </a:spcBef>
            </a:pPr>
            <a:r>
              <a:rPr lang="en-US" sz="3000" b="1">
                <a:solidFill>
                  <a:srgbClr val="FFFFFF"/>
                </a:solidFill>
                <a:latin typeface="Inter Bold"/>
                <a:ea typeface="Inter Bold"/>
                <a:cs typeface="Inter Bold"/>
                <a:sym typeface="Inter Bold"/>
              </a:rPr>
              <a:t>Reporting Period</a:t>
            </a:r>
          </a:p>
        </p:txBody>
      </p:sp>
      <p:sp>
        <p:nvSpPr>
          <p:cNvPr id="21" name="TextBox 21">
            <a:extLst>
              <a:ext uri="{FF2B5EF4-FFF2-40B4-BE49-F238E27FC236}">
                <a16:creationId xmlns:a16="http://schemas.microsoft.com/office/drawing/2014/main" id="{693F1F01-D970-749D-C54B-34856653ED2D}"/>
              </a:ext>
            </a:extLst>
          </p:cNvPr>
          <p:cNvSpPr txBox="1"/>
          <p:nvPr/>
        </p:nvSpPr>
        <p:spPr>
          <a:xfrm>
            <a:off x="12695334" y="715962"/>
            <a:ext cx="4563966" cy="83542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3360"/>
              </a:lnSpc>
              <a:spcBef>
                <a:spcPct val="0"/>
              </a:spcBef>
            </a:pPr>
            <a:r>
              <a:rPr lang="en-US" sz="2400" b="1" dirty="0" err="1">
                <a:solidFill>
                  <a:srgbClr val="2B485F"/>
                </a:solidFill>
                <a:latin typeface="Inter Bold"/>
                <a:ea typeface="Inter Bold"/>
                <a:cs typeface="Inter Bold"/>
                <a:sym typeface="Inter Bold"/>
              </a:rPr>
              <a:t>Broadsoft</a:t>
            </a:r>
            <a:r>
              <a:rPr lang="en-US" sz="2400" b="1" dirty="0">
                <a:solidFill>
                  <a:srgbClr val="2B485F"/>
                </a:solidFill>
                <a:latin typeface="Inter Bold"/>
                <a:ea typeface="Inter Bold"/>
                <a:cs typeface="Inter Bold"/>
                <a:sym typeface="Inter Bold"/>
              </a:rPr>
              <a:t> Consulting Company</a:t>
            </a:r>
          </a:p>
        </p:txBody>
      </p:sp>
      <p:sp>
        <p:nvSpPr>
          <p:cNvPr id="22" name="AutoShape 22">
            <a:extLst>
              <a:ext uri="{FF2B5EF4-FFF2-40B4-BE49-F238E27FC236}">
                <a16:creationId xmlns:a16="http://schemas.microsoft.com/office/drawing/2014/main" id="{CC7997D0-E686-ED45-062A-50EE0E25106A}"/>
              </a:ext>
            </a:extLst>
          </p:cNvPr>
          <p:cNvSpPr/>
          <p:nvPr/>
        </p:nvSpPr>
        <p:spPr>
          <a:xfrm>
            <a:off x="17675977" y="961707"/>
            <a:ext cx="3956611" cy="0"/>
          </a:xfrm>
          <a:prstGeom prst="line">
            <a:avLst/>
          </a:prstGeom>
          <a:ln w="38100" cap="flat">
            <a:solidFill>
              <a:srgbClr val="2B485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de-AT"/>
          </a:p>
        </p:txBody>
      </p:sp>
      <p:sp>
        <p:nvSpPr>
          <p:cNvPr id="23" name="Freeform 23">
            <a:extLst>
              <a:ext uri="{FF2B5EF4-FFF2-40B4-BE49-F238E27FC236}">
                <a16:creationId xmlns:a16="http://schemas.microsoft.com/office/drawing/2014/main" id="{8F8B2638-2245-CC3F-84DD-CAB411D45111}"/>
              </a:ext>
            </a:extLst>
          </p:cNvPr>
          <p:cNvSpPr/>
          <p:nvPr/>
        </p:nvSpPr>
        <p:spPr>
          <a:xfrm rot="5400000">
            <a:off x="16429362" y="8884328"/>
            <a:ext cx="455966" cy="1203911"/>
          </a:xfrm>
          <a:custGeom>
            <a:avLst/>
            <a:gdLst/>
            <a:ahLst/>
            <a:cxnLst/>
            <a:rect l="l" t="t" r="r" b="b"/>
            <a:pathLst>
              <a:path w="455966" h="1203911">
                <a:moveTo>
                  <a:pt x="0" y="0"/>
                </a:moveTo>
                <a:lnTo>
                  <a:pt x="455966" y="0"/>
                </a:lnTo>
                <a:lnTo>
                  <a:pt x="455966" y="1203910"/>
                </a:lnTo>
                <a:lnTo>
                  <a:pt x="0" y="120391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178140601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664362-967A-DD41-F1A3-A86C7A1F23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>
            <a:extLst>
              <a:ext uri="{FF2B5EF4-FFF2-40B4-BE49-F238E27FC236}">
                <a16:creationId xmlns:a16="http://schemas.microsoft.com/office/drawing/2014/main" id="{CEB20B28-7A87-C3DD-7E87-9834DD004F05}"/>
              </a:ext>
            </a:extLst>
          </p:cNvPr>
          <p:cNvGrpSpPr/>
          <p:nvPr/>
        </p:nvGrpSpPr>
        <p:grpSpPr>
          <a:xfrm>
            <a:off x="-1197824" y="1878992"/>
            <a:ext cx="8208224" cy="1577554"/>
            <a:chOff x="0" y="0"/>
            <a:chExt cx="2418659" cy="653141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FFCE4080-918E-C246-6A7C-8E4A87056633}"/>
                </a:ext>
              </a:extLst>
            </p:cNvPr>
            <p:cNvSpPr/>
            <p:nvPr/>
          </p:nvSpPr>
          <p:spPr>
            <a:xfrm>
              <a:off x="0" y="0"/>
              <a:ext cx="2418659" cy="653141"/>
            </a:xfrm>
            <a:custGeom>
              <a:avLst/>
              <a:gdLst/>
              <a:ahLst/>
              <a:cxnLst/>
              <a:rect l="l" t="t" r="r" b="b"/>
              <a:pathLst>
                <a:path w="2418659" h="653141">
                  <a:moveTo>
                    <a:pt x="2215459" y="0"/>
                  </a:moveTo>
                  <a:lnTo>
                    <a:pt x="0" y="0"/>
                  </a:lnTo>
                  <a:lnTo>
                    <a:pt x="0" y="653141"/>
                  </a:lnTo>
                  <a:lnTo>
                    <a:pt x="2215459" y="653141"/>
                  </a:lnTo>
                  <a:lnTo>
                    <a:pt x="2418659" y="326570"/>
                  </a:lnTo>
                  <a:lnTo>
                    <a:pt x="2215459" y="0"/>
                  </a:lnTo>
                  <a:close/>
                </a:path>
              </a:pathLst>
            </a:custGeom>
            <a:solidFill>
              <a:srgbClr val="2B485F"/>
            </a:solidFill>
          </p:spPr>
          <p:txBody>
            <a:bodyPr/>
            <a:lstStyle/>
            <a:p>
              <a:endParaRPr lang="de-AT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A4548718-E45A-710F-FBC7-CD144BD9D104}"/>
                </a:ext>
              </a:extLst>
            </p:cNvPr>
            <p:cNvSpPr txBox="1"/>
            <p:nvPr/>
          </p:nvSpPr>
          <p:spPr>
            <a:xfrm>
              <a:off x="0" y="-38100"/>
              <a:ext cx="2304359" cy="69124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8" name="TextBox 8">
            <a:extLst>
              <a:ext uri="{FF2B5EF4-FFF2-40B4-BE49-F238E27FC236}">
                <a16:creationId xmlns:a16="http://schemas.microsoft.com/office/drawing/2014/main" id="{18494401-8314-29D0-C461-0B7FA60073C8}"/>
              </a:ext>
            </a:extLst>
          </p:cNvPr>
          <p:cNvSpPr txBox="1"/>
          <p:nvPr/>
        </p:nvSpPr>
        <p:spPr>
          <a:xfrm>
            <a:off x="304800" y="2214890"/>
            <a:ext cx="7053922" cy="9156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420"/>
              </a:lnSpc>
              <a:spcBef>
                <a:spcPct val="0"/>
              </a:spcBef>
            </a:pPr>
            <a:r>
              <a:rPr lang="en-US" sz="5300" dirty="0">
                <a:solidFill>
                  <a:srgbClr val="FFFFFF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Data Engineering</a:t>
            </a:r>
          </a:p>
        </p:txBody>
      </p:sp>
      <p:grpSp>
        <p:nvGrpSpPr>
          <p:cNvPr id="9" name="Group 9">
            <a:extLst>
              <a:ext uri="{FF2B5EF4-FFF2-40B4-BE49-F238E27FC236}">
                <a16:creationId xmlns:a16="http://schemas.microsoft.com/office/drawing/2014/main" id="{CF94E7EC-540A-FB0B-B5E8-CF308882FB1B}"/>
              </a:ext>
            </a:extLst>
          </p:cNvPr>
          <p:cNvGrpSpPr/>
          <p:nvPr/>
        </p:nvGrpSpPr>
        <p:grpSpPr>
          <a:xfrm>
            <a:off x="1766747" y="4435931"/>
            <a:ext cx="4640821" cy="990272"/>
            <a:chOff x="0" y="0"/>
            <a:chExt cx="3060886" cy="653141"/>
          </a:xfrm>
        </p:grpSpPr>
        <p:sp>
          <p:nvSpPr>
            <p:cNvPr id="10" name="Freeform 10">
              <a:extLst>
                <a:ext uri="{FF2B5EF4-FFF2-40B4-BE49-F238E27FC236}">
                  <a16:creationId xmlns:a16="http://schemas.microsoft.com/office/drawing/2014/main" id="{1DE1F1CC-F04E-C050-356D-DF72AA1C4B80}"/>
                </a:ext>
              </a:extLst>
            </p:cNvPr>
            <p:cNvSpPr/>
            <p:nvPr/>
          </p:nvSpPr>
          <p:spPr>
            <a:xfrm>
              <a:off x="0" y="0"/>
              <a:ext cx="3060886" cy="653141"/>
            </a:xfrm>
            <a:custGeom>
              <a:avLst/>
              <a:gdLst/>
              <a:ahLst/>
              <a:cxnLst/>
              <a:rect l="l" t="t" r="r" b="b"/>
              <a:pathLst>
                <a:path w="3060886" h="653141">
                  <a:moveTo>
                    <a:pt x="2857686" y="0"/>
                  </a:moveTo>
                  <a:lnTo>
                    <a:pt x="0" y="0"/>
                  </a:lnTo>
                  <a:lnTo>
                    <a:pt x="0" y="653141"/>
                  </a:lnTo>
                  <a:lnTo>
                    <a:pt x="2857686" y="653141"/>
                  </a:lnTo>
                  <a:lnTo>
                    <a:pt x="3060886" y="326570"/>
                  </a:lnTo>
                  <a:lnTo>
                    <a:pt x="2857686" y="0"/>
                  </a:lnTo>
                  <a:close/>
                </a:path>
              </a:pathLst>
            </a:custGeom>
            <a:solidFill>
              <a:srgbClr val="2B485F"/>
            </a:solidFill>
          </p:spPr>
          <p:txBody>
            <a:bodyPr/>
            <a:lstStyle/>
            <a:p>
              <a:endParaRPr lang="de-AT"/>
            </a:p>
          </p:txBody>
        </p:sp>
        <p:sp>
          <p:nvSpPr>
            <p:cNvPr id="11" name="TextBox 11">
              <a:extLst>
                <a:ext uri="{FF2B5EF4-FFF2-40B4-BE49-F238E27FC236}">
                  <a16:creationId xmlns:a16="http://schemas.microsoft.com/office/drawing/2014/main" id="{B9BE37A3-41CE-645B-774F-5691F85B62C3}"/>
                </a:ext>
              </a:extLst>
            </p:cNvPr>
            <p:cNvSpPr txBox="1"/>
            <p:nvPr/>
          </p:nvSpPr>
          <p:spPr>
            <a:xfrm>
              <a:off x="0" y="-38100"/>
              <a:ext cx="2946586" cy="69124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2" name="TextBox 12">
            <a:extLst>
              <a:ext uri="{FF2B5EF4-FFF2-40B4-BE49-F238E27FC236}">
                <a16:creationId xmlns:a16="http://schemas.microsoft.com/office/drawing/2014/main" id="{FE7B617C-8CD4-46CD-5059-928F8FDA9836}"/>
              </a:ext>
            </a:extLst>
          </p:cNvPr>
          <p:cNvSpPr txBox="1"/>
          <p:nvPr/>
        </p:nvSpPr>
        <p:spPr>
          <a:xfrm>
            <a:off x="2033330" y="4635792"/>
            <a:ext cx="3791038" cy="5238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200"/>
              </a:lnSpc>
              <a:spcBef>
                <a:spcPct val="0"/>
              </a:spcBef>
            </a:pPr>
            <a:r>
              <a:rPr lang="en-US" sz="3000" b="1" dirty="0">
                <a:solidFill>
                  <a:srgbClr val="FFFFFF"/>
                </a:solidFill>
                <a:latin typeface="Inter Bold"/>
                <a:ea typeface="Inter Bold"/>
                <a:cs typeface="Inter Bold"/>
                <a:sym typeface="Inter Bold"/>
              </a:rPr>
              <a:t>Company Overview</a:t>
            </a:r>
          </a:p>
        </p:txBody>
      </p:sp>
      <p:grpSp>
        <p:nvGrpSpPr>
          <p:cNvPr id="13" name="Group 13">
            <a:extLst>
              <a:ext uri="{FF2B5EF4-FFF2-40B4-BE49-F238E27FC236}">
                <a16:creationId xmlns:a16="http://schemas.microsoft.com/office/drawing/2014/main" id="{31C1A907-5E48-1FF7-1B29-4DAAAB75D4A4}"/>
              </a:ext>
            </a:extLst>
          </p:cNvPr>
          <p:cNvGrpSpPr/>
          <p:nvPr/>
        </p:nvGrpSpPr>
        <p:grpSpPr>
          <a:xfrm>
            <a:off x="1766747" y="6349821"/>
            <a:ext cx="4640821" cy="990272"/>
            <a:chOff x="0" y="0"/>
            <a:chExt cx="3060886" cy="653141"/>
          </a:xfrm>
        </p:grpSpPr>
        <p:sp>
          <p:nvSpPr>
            <p:cNvPr id="14" name="Freeform 14">
              <a:extLst>
                <a:ext uri="{FF2B5EF4-FFF2-40B4-BE49-F238E27FC236}">
                  <a16:creationId xmlns:a16="http://schemas.microsoft.com/office/drawing/2014/main" id="{F25A8E96-8FDC-148F-97D8-BDCB6A5D5FE0}"/>
                </a:ext>
              </a:extLst>
            </p:cNvPr>
            <p:cNvSpPr/>
            <p:nvPr/>
          </p:nvSpPr>
          <p:spPr>
            <a:xfrm>
              <a:off x="0" y="0"/>
              <a:ext cx="3060886" cy="653141"/>
            </a:xfrm>
            <a:custGeom>
              <a:avLst/>
              <a:gdLst/>
              <a:ahLst/>
              <a:cxnLst/>
              <a:rect l="l" t="t" r="r" b="b"/>
              <a:pathLst>
                <a:path w="3060886" h="653141">
                  <a:moveTo>
                    <a:pt x="2857686" y="0"/>
                  </a:moveTo>
                  <a:lnTo>
                    <a:pt x="0" y="0"/>
                  </a:lnTo>
                  <a:lnTo>
                    <a:pt x="0" y="653141"/>
                  </a:lnTo>
                  <a:lnTo>
                    <a:pt x="2857686" y="653141"/>
                  </a:lnTo>
                  <a:lnTo>
                    <a:pt x="3060886" y="326570"/>
                  </a:lnTo>
                  <a:lnTo>
                    <a:pt x="2857686" y="0"/>
                  </a:lnTo>
                  <a:close/>
                </a:path>
              </a:pathLst>
            </a:custGeom>
            <a:solidFill>
              <a:srgbClr val="2B485F"/>
            </a:solidFill>
          </p:spPr>
          <p:txBody>
            <a:bodyPr/>
            <a:lstStyle/>
            <a:p>
              <a:endParaRPr lang="de-AT"/>
            </a:p>
          </p:txBody>
        </p:sp>
        <p:sp>
          <p:nvSpPr>
            <p:cNvPr id="15" name="TextBox 15">
              <a:extLst>
                <a:ext uri="{FF2B5EF4-FFF2-40B4-BE49-F238E27FC236}">
                  <a16:creationId xmlns:a16="http://schemas.microsoft.com/office/drawing/2014/main" id="{6544BFD7-9017-FDA4-9A2A-A0B0345189CE}"/>
                </a:ext>
              </a:extLst>
            </p:cNvPr>
            <p:cNvSpPr txBox="1"/>
            <p:nvPr/>
          </p:nvSpPr>
          <p:spPr>
            <a:xfrm>
              <a:off x="0" y="-38100"/>
              <a:ext cx="2946586" cy="69124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6" name="TextBox 16">
            <a:extLst>
              <a:ext uri="{FF2B5EF4-FFF2-40B4-BE49-F238E27FC236}">
                <a16:creationId xmlns:a16="http://schemas.microsoft.com/office/drawing/2014/main" id="{9FE8234F-C099-D02E-AF63-8822DE76EAFB}"/>
              </a:ext>
            </a:extLst>
          </p:cNvPr>
          <p:cNvSpPr txBox="1"/>
          <p:nvPr/>
        </p:nvSpPr>
        <p:spPr>
          <a:xfrm>
            <a:off x="2033330" y="6549683"/>
            <a:ext cx="4224475" cy="5238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200"/>
              </a:lnSpc>
              <a:spcBef>
                <a:spcPct val="0"/>
              </a:spcBef>
            </a:pPr>
            <a:r>
              <a:rPr lang="en-US" sz="3000" b="1">
                <a:solidFill>
                  <a:srgbClr val="FFFFFF"/>
                </a:solidFill>
                <a:latin typeface="Inter Bold"/>
                <a:ea typeface="Inter Bold"/>
                <a:cs typeface="Inter Bold"/>
                <a:sym typeface="Inter Bold"/>
              </a:rPr>
              <a:t>Purpose of the Report</a:t>
            </a:r>
          </a:p>
        </p:txBody>
      </p:sp>
      <p:grpSp>
        <p:nvGrpSpPr>
          <p:cNvPr id="17" name="Group 17">
            <a:extLst>
              <a:ext uri="{FF2B5EF4-FFF2-40B4-BE49-F238E27FC236}">
                <a16:creationId xmlns:a16="http://schemas.microsoft.com/office/drawing/2014/main" id="{56ABCBAC-32DD-5901-3561-3C9996B53FFB}"/>
              </a:ext>
            </a:extLst>
          </p:cNvPr>
          <p:cNvGrpSpPr/>
          <p:nvPr/>
        </p:nvGrpSpPr>
        <p:grpSpPr>
          <a:xfrm>
            <a:off x="1723111" y="8268028"/>
            <a:ext cx="4640821" cy="990272"/>
            <a:chOff x="0" y="0"/>
            <a:chExt cx="3060886" cy="653141"/>
          </a:xfrm>
        </p:grpSpPr>
        <p:sp>
          <p:nvSpPr>
            <p:cNvPr id="18" name="Freeform 18">
              <a:extLst>
                <a:ext uri="{FF2B5EF4-FFF2-40B4-BE49-F238E27FC236}">
                  <a16:creationId xmlns:a16="http://schemas.microsoft.com/office/drawing/2014/main" id="{8DF29719-553D-4920-D3D9-18CBBB2D2E64}"/>
                </a:ext>
              </a:extLst>
            </p:cNvPr>
            <p:cNvSpPr/>
            <p:nvPr/>
          </p:nvSpPr>
          <p:spPr>
            <a:xfrm>
              <a:off x="0" y="0"/>
              <a:ext cx="3060886" cy="653141"/>
            </a:xfrm>
            <a:custGeom>
              <a:avLst/>
              <a:gdLst/>
              <a:ahLst/>
              <a:cxnLst/>
              <a:rect l="l" t="t" r="r" b="b"/>
              <a:pathLst>
                <a:path w="3060886" h="653141">
                  <a:moveTo>
                    <a:pt x="2857686" y="0"/>
                  </a:moveTo>
                  <a:lnTo>
                    <a:pt x="0" y="0"/>
                  </a:lnTo>
                  <a:lnTo>
                    <a:pt x="0" y="653141"/>
                  </a:lnTo>
                  <a:lnTo>
                    <a:pt x="2857686" y="653141"/>
                  </a:lnTo>
                  <a:lnTo>
                    <a:pt x="3060886" y="326570"/>
                  </a:lnTo>
                  <a:lnTo>
                    <a:pt x="2857686" y="0"/>
                  </a:lnTo>
                  <a:close/>
                </a:path>
              </a:pathLst>
            </a:custGeom>
            <a:solidFill>
              <a:srgbClr val="2B485F"/>
            </a:solidFill>
          </p:spPr>
          <p:txBody>
            <a:bodyPr/>
            <a:lstStyle/>
            <a:p>
              <a:endParaRPr lang="de-AT"/>
            </a:p>
          </p:txBody>
        </p:sp>
        <p:sp>
          <p:nvSpPr>
            <p:cNvPr id="19" name="TextBox 19">
              <a:extLst>
                <a:ext uri="{FF2B5EF4-FFF2-40B4-BE49-F238E27FC236}">
                  <a16:creationId xmlns:a16="http://schemas.microsoft.com/office/drawing/2014/main" id="{595958BE-B3E6-A695-ACA2-5C1E6CBE46BE}"/>
                </a:ext>
              </a:extLst>
            </p:cNvPr>
            <p:cNvSpPr txBox="1"/>
            <p:nvPr/>
          </p:nvSpPr>
          <p:spPr>
            <a:xfrm>
              <a:off x="0" y="-38100"/>
              <a:ext cx="2946586" cy="69124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20" name="TextBox 20">
            <a:extLst>
              <a:ext uri="{FF2B5EF4-FFF2-40B4-BE49-F238E27FC236}">
                <a16:creationId xmlns:a16="http://schemas.microsoft.com/office/drawing/2014/main" id="{DE9F9B76-9A4D-160B-3A8A-77529CDB5575}"/>
              </a:ext>
            </a:extLst>
          </p:cNvPr>
          <p:cNvSpPr txBox="1"/>
          <p:nvPr/>
        </p:nvSpPr>
        <p:spPr>
          <a:xfrm>
            <a:off x="1989694" y="8467889"/>
            <a:ext cx="4224475" cy="5238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200"/>
              </a:lnSpc>
              <a:spcBef>
                <a:spcPct val="0"/>
              </a:spcBef>
            </a:pPr>
            <a:r>
              <a:rPr lang="en-US" sz="3000" b="1">
                <a:solidFill>
                  <a:srgbClr val="FFFFFF"/>
                </a:solidFill>
                <a:latin typeface="Inter Bold"/>
                <a:ea typeface="Inter Bold"/>
                <a:cs typeface="Inter Bold"/>
                <a:sym typeface="Inter Bold"/>
              </a:rPr>
              <a:t>Reporting Period</a:t>
            </a:r>
          </a:p>
        </p:txBody>
      </p:sp>
      <p:sp>
        <p:nvSpPr>
          <p:cNvPr id="21" name="TextBox 21">
            <a:extLst>
              <a:ext uri="{FF2B5EF4-FFF2-40B4-BE49-F238E27FC236}">
                <a16:creationId xmlns:a16="http://schemas.microsoft.com/office/drawing/2014/main" id="{EE320241-E5CB-0EBC-7352-F40F65724237}"/>
              </a:ext>
            </a:extLst>
          </p:cNvPr>
          <p:cNvSpPr txBox="1"/>
          <p:nvPr/>
        </p:nvSpPr>
        <p:spPr>
          <a:xfrm>
            <a:off x="12695334" y="715962"/>
            <a:ext cx="4563966" cy="83542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3360"/>
              </a:lnSpc>
              <a:spcBef>
                <a:spcPct val="0"/>
              </a:spcBef>
            </a:pPr>
            <a:r>
              <a:rPr lang="en-US" sz="2400" b="1" dirty="0" err="1">
                <a:solidFill>
                  <a:srgbClr val="2B485F"/>
                </a:solidFill>
                <a:latin typeface="Inter Bold"/>
                <a:ea typeface="Inter Bold"/>
                <a:cs typeface="Inter Bold"/>
                <a:sym typeface="Inter Bold"/>
              </a:rPr>
              <a:t>Broadsoft</a:t>
            </a:r>
            <a:r>
              <a:rPr lang="en-US" sz="2400" b="1" dirty="0">
                <a:solidFill>
                  <a:srgbClr val="2B485F"/>
                </a:solidFill>
                <a:latin typeface="Inter Bold"/>
                <a:ea typeface="Inter Bold"/>
                <a:cs typeface="Inter Bold"/>
                <a:sym typeface="Inter Bold"/>
              </a:rPr>
              <a:t> Consulting Company</a:t>
            </a:r>
          </a:p>
        </p:txBody>
      </p:sp>
      <p:sp>
        <p:nvSpPr>
          <p:cNvPr id="22" name="AutoShape 22">
            <a:extLst>
              <a:ext uri="{FF2B5EF4-FFF2-40B4-BE49-F238E27FC236}">
                <a16:creationId xmlns:a16="http://schemas.microsoft.com/office/drawing/2014/main" id="{A1DCB918-EA02-51F6-0DFA-ABB343287C01}"/>
              </a:ext>
            </a:extLst>
          </p:cNvPr>
          <p:cNvSpPr/>
          <p:nvPr/>
        </p:nvSpPr>
        <p:spPr>
          <a:xfrm>
            <a:off x="17675977" y="961707"/>
            <a:ext cx="3956611" cy="0"/>
          </a:xfrm>
          <a:prstGeom prst="line">
            <a:avLst/>
          </a:prstGeom>
          <a:ln w="38100" cap="flat">
            <a:solidFill>
              <a:srgbClr val="2B485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de-AT"/>
          </a:p>
        </p:txBody>
      </p:sp>
      <p:sp>
        <p:nvSpPr>
          <p:cNvPr id="23" name="Freeform 23">
            <a:extLst>
              <a:ext uri="{FF2B5EF4-FFF2-40B4-BE49-F238E27FC236}">
                <a16:creationId xmlns:a16="http://schemas.microsoft.com/office/drawing/2014/main" id="{53DDC3FA-189D-19CC-827C-648A35872173}"/>
              </a:ext>
            </a:extLst>
          </p:cNvPr>
          <p:cNvSpPr/>
          <p:nvPr/>
        </p:nvSpPr>
        <p:spPr>
          <a:xfrm rot="5400000">
            <a:off x="16429362" y="8884328"/>
            <a:ext cx="455966" cy="1203911"/>
          </a:xfrm>
          <a:custGeom>
            <a:avLst/>
            <a:gdLst/>
            <a:ahLst/>
            <a:cxnLst/>
            <a:rect l="l" t="t" r="r" b="b"/>
            <a:pathLst>
              <a:path w="455966" h="1203911">
                <a:moveTo>
                  <a:pt x="0" y="0"/>
                </a:moveTo>
                <a:lnTo>
                  <a:pt x="455966" y="0"/>
                </a:lnTo>
                <a:lnTo>
                  <a:pt x="455966" y="1203910"/>
                </a:lnTo>
                <a:lnTo>
                  <a:pt x="0" y="120391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de-AT"/>
          </a:p>
        </p:txBody>
      </p:sp>
      <p:sp>
        <p:nvSpPr>
          <p:cNvPr id="24" name="TextBox 2">
            <a:extLst>
              <a:ext uri="{FF2B5EF4-FFF2-40B4-BE49-F238E27FC236}">
                <a16:creationId xmlns:a16="http://schemas.microsoft.com/office/drawing/2014/main" id="{9CE41E1B-8017-5BEB-2815-89D74468E126}"/>
              </a:ext>
            </a:extLst>
          </p:cNvPr>
          <p:cNvSpPr txBox="1"/>
          <p:nvPr/>
        </p:nvSpPr>
        <p:spPr>
          <a:xfrm>
            <a:off x="6710791" y="4297972"/>
            <a:ext cx="10548509" cy="117968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4759"/>
              </a:lnSpc>
              <a:spcBef>
                <a:spcPct val="0"/>
              </a:spcBef>
            </a:pPr>
            <a:r>
              <a:rPr lang="en-US" sz="3200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Lorem ipsum dolor sit </a:t>
            </a:r>
            <a:r>
              <a:rPr lang="en-US" sz="3200" dirty="0" err="1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amet</a:t>
            </a:r>
            <a:r>
              <a:rPr lang="en-US" sz="3200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consetetur</a:t>
            </a:r>
            <a:r>
              <a:rPr lang="en-US" sz="3200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sadipscing</a:t>
            </a:r>
            <a:r>
              <a:rPr lang="en-US" sz="3200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elitr</a:t>
            </a:r>
            <a:endParaRPr lang="en-US" sz="3200" dirty="0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5" name="TextBox 3">
            <a:extLst>
              <a:ext uri="{FF2B5EF4-FFF2-40B4-BE49-F238E27FC236}">
                <a16:creationId xmlns:a16="http://schemas.microsoft.com/office/drawing/2014/main" id="{EB2F1CC8-70C6-DC43-3C2C-D45B804797FE}"/>
              </a:ext>
            </a:extLst>
          </p:cNvPr>
          <p:cNvSpPr txBox="1"/>
          <p:nvPr/>
        </p:nvSpPr>
        <p:spPr>
          <a:xfrm>
            <a:off x="6710791" y="6279191"/>
            <a:ext cx="10353936" cy="11857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4759"/>
              </a:lnSpc>
              <a:spcBef>
                <a:spcPct val="0"/>
              </a:spcBef>
            </a:pPr>
            <a:r>
              <a:rPr lang="en-US" sz="3200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Lorem ipsum dolor sit </a:t>
            </a:r>
            <a:r>
              <a:rPr lang="en-US" sz="3200" dirty="0" err="1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amet</a:t>
            </a:r>
            <a:r>
              <a:rPr lang="en-US" sz="3200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consetetur</a:t>
            </a:r>
            <a:r>
              <a:rPr lang="en-US" sz="3200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sadipscing</a:t>
            </a:r>
            <a:r>
              <a:rPr lang="en-US" sz="3200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elitr</a:t>
            </a:r>
            <a:endParaRPr lang="en-US" sz="3200" dirty="0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6" name="TextBox 4">
            <a:extLst>
              <a:ext uri="{FF2B5EF4-FFF2-40B4-BE49-F238E27FC236}">
                <a16:creationId xmlns:a16="http://schemas.microsoft.com/office/drawing/2014/main" id="{75CFFBA3-7656-3047-C1F0-F2A18412B894}"/>
              </a:ext>
            </a:extLst>
          </p:cNvPr>
          <p:cNvSpPr txBox="1"/>
          <p:nvPr/>
        </p:nvSpPr>
        <p:spPr>
          <a:xfrm>
            <a:off x="6710791" y="8148726"/>
            <a:ext cx="10353936" cy="11857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4759"/>
              </a:lnSpc>
              <a:spcBef>
                <a:spcPct val="0"/>
              </a:spcBef>
            </a:pPr>
            <a:r>
              <a:rPr lang="en-US" sz="3200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Lorem ipsum dolor sit </a:t>
            </a:r>
            <a:r>
              <a:rPr lang="en-US" sz="3200" dirty="0" err="1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amet</a:t>
            </a:r>
            <a:r>
              <a:rPr lang="en-US" sz="3200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consetetur</a:t>
            </a:r>
            <a:r>
              <a:rPr lang="en-US" sz="3200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sadipscing</a:t>
            </a:r>
            <a:r>
              <a:rPr lang="en-US" sz="3200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elitr</a:t>
            </a:r>
            <a:endParaRPr lang="en-US" sz="3200" dirty="0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</p:spTree>
    <p:extLst>
      <p:ext uri="{BB962C8B-B14F-4D97-AF65-F5344CB8AC3E}">
        <p14:creationId xmlns:p14="http://schemas.microsoft.com/office/powerpoint/2010/main" val="203476861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762000" y="2781300"/>
            <a:ext cx="3447216" cy="7370316"/>
            <a:chOff x="0" y="0"/>
            <a:chExt cx="1198766" cy="1433761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198766" cy="1433761"/>
            </a:xfrm>
            <a:custGeom>
              <a:avLst/>
              <a:gdLst/>
              <a:ahLst/>
              <a:cxnLst/>
              <a:rect l="l" t="t" r="r" b="b"/>
              <a:pathLst>
                <a:path w="1198766" h="1433761">
                  <a:moveTo>
                    <a:pt x="0" y="0"/>
                  </a:moveTo>
                  <a:lnTo>
                    <a:pt x="1198766" y="0"/>
                  </a:lnTo>
                  <a:lnTo>
                    <a:pt x="1198766" y="1433761"/>
                  </a:lnTo>
                  <a:lnTo>
                    <a:pt x="0" y="1433761"/>
                  </a:lnTo>
                  <a:close/>
                </a:path>
              </a:pathLst>
            </a:custGeom>
            <a:solidFill>
              <a:srgbClr val="598196"/>
            </a:solidFill>
            <a:ln w="66675" cap="sq">
              <a:solidFill>
                <a:srgbClr val="2B485F"/>
              </a:solidFill>
              <a:prstDash val="solid"/>
              <a:miter/>
            </a:ln>
          </p:spPr>
          <p:txBody>
            <a:bodyPr/>
            <a:lstStyle/>
            <a:p>
              <a:endParaRPr lang="de-AT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1198766" cy="147186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4838147" y="2781300"/>
            <a:ext cx="3447216" cy="7370316"/>
            <a:chOff x="0" y="0"/>
            <a:chExt cx="1198766" cy="1433761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1198766" cy="1433761"/>
            </a:xfrm>
            <a:custGeom>
              <a:avLst/>
              <a:gdLst/>
              <a:ahLst/>
              <a:cxnLst/>
              <a:rect l="l" t="t" r="r" b="b"/>
              <a:pathLst>
                <a:path w="1198766" h="1433761">
                  <a:moveTo>
                    <a:pt x="0" y="0"/>
                  </a:moveTo>
                  <a:lnTo>
                    <a:pt x="1198766" y="0"/>
                  </a:lnTo>
                  <a:lnTo>
                    <a:pt x="1198766" y="1433761"/>
                  </a:lnTo>
                  <a:lnTo>
                    <a:pt x="0" y="1433761"/>
                  </a:lnTo>
                  <a:close/>
                </a:path>
              </a:pathLst>
            </a:custGeom>
            <a:solidFill>
              <a:srgbClr val="598196"/>
            </a:solidFill>
            <a:ln w="66675" cap="sq">
              <a:solidFill>
                <a:srgbClr val="2B485F"/>
              </a:solidFill>
              <a:prstDash val="solid"/>
              <a:miter/>
            </a:ln>
          </p:spPr>
          <p:txBody>
            <a:bodyPr/>
            <a:lstStyle/>
            <a:p>
              <a:endParaRPr lang="de-AT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38100"/>
              <a:ext cx="1198766" cy="147186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8915400" y="2781300"/>
            <a:ext cx="4876800" cy="7370316"/>
            <a:chOff x="0" y="0"/>
            <a:chExt cx="1198766" cy="1433761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1198766" cy="1433761"/>
            </a:xfrm>
            <a:custGeom>
              <a:avLst/>
              <a:gdLst/>
              <a:ahLst/>
              <a:cxnLst/>
              <a:rect l="l" t="t" r="r" b="b"/>
              <a:pathLst>
                <a:path w="1198766" h="1433761">
                  <a:moveTo>
                    <a:pt x="0" y="0"/>
                  </a:moveTo>
                  <a:lnTo>
                    <a:pt x="1198766" y="0"/>
                  </a:lnTo>
                  <a:lnTo>
                    <a:pt x="1198766" y="1433761"/>
                  </a:lnTo>
                  <a:lnTo>
                    <a:pt x="0" y="1433761"/>
                  </a:lnTo>
                  <a:close/>
                </a:path>
              </a:pathLst>
            </a:custGeom>
            <a:solidFill>
              <a:srgbClr val="598196"/>
            </a:solidFill>
            <a:ln w="66675" cap="sq">
              <a:solidFill>
                <a:srgbClr val="2B485F"/>
              </a:solidFill>
              <a:prstDash val="solid"/>
              <a:miter/>
            </a:ln>
          </p:spPr>
          <p:txBody>
            <a:bodyPr/>
            <a:lstStyle/>
            <a:p>
              <a:endParaRPr lang="de-AT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38100"/>
              <a:ext cx="1198766" cy="147186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609600" y="2628900"/>
            <a:ext cx="3447216" cy="7370316"/>
            <a:chOff x="0" y="0"/>
            <a:chExt cx="1198766" cy="1433761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1198766" cy="1433761"/>
            </a:xfrm>
            <a:custGeom>
              <a:avLst/>
              <a:gdLst/>
              <a:ahLst/>
              <a:cxnLst/>
              <a:rect l="l" t="t" r="r" b="b"/>
              <a:pathLst>
                <a:path w="1198766" h="1433761">
                  <a:moveTo>
                    <a:pt x="0" y="0"/>
                  </a:moveTo>
                  <a:lnTo>
                    <a:pt x="1198766" y="0"/>
                  </a:lnTo>
                  <a:lnTo>
                    <a:pt x="1198766" y="1433761"/>
                  </a:lnTo>
                  <a:lnTo>
                    <a:pt x="0" y="1433761"/>
                  </a:lnTo>
                  <a:close/>
                </a:path>
              </a:pathLst>
            </a:custGeom>
            <a:solidFill>
              <a:srgbClr val="FFFFFF"/>
            </a:solidFill>
            <a:ln w="66675" cap="sq">
              <a:solidFill>
                <a:srgbClr val="2B485F"/>
              </a:solidFill>
              <a:prstDash val="solid"/>
              <a:miter/>
            </a:ln>
          </p:spPr>
          <p:txBody>
            <a:bodyPr/>
            <a:lstStyle/>
            <a:p>
              <a:endParaRPr lang="de-AT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-38100"/>
              <a:ext cx="1198766" cy="147186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4685747" y="2628900"/>
            <a:ext cx="3447216" cy="7370316"/>
            <a:chOff x="0" y="0"/>
            <a:chExt cx="1198766" cy="1433761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1198766" cy="1433761"/>
            </a:xfrm>
            <a:custGeom>
              <a:avLst/>
              <a:gdLst/>
              <a:ahLst/>
              <a:cxnLst/>
              <a:rect l="l" t="t" r="r" b="b"/>
              <a:pathLst>
                <a:path w="1198766" h="1433761">
                  <a:moveTo>
                    <a:pt x="0" y="0"/>
                  </a:moveTo>
                  <a:lnTo>
                    <a:pt x="1198766" y="0"/>
                  </a:lnTo>
                  <a:lnTo>
                    <a:pt x="1198766" y="1433761"/>
                  </a:lnTo>
                  <a:lnTo>
                    <a:pt x="0" y="1433761"/>
                  </a:lnTo>
                  <a:close/>
                </a:path>
              </a:pathLst>
            </a:custGeom>
            <a:solidFill>
              <a:srgbClr val="FFFFFF"/>
            </a:solidFill>
            <a:ln w="66675" cap="sq">
              <a:solidFill>
                <a:srgbClr val="2B485F"/>
              </a:solidFill>
              <a:prstDash val="solid"/>
              <a:miter/>
            </a:ln>
          </p:spPr>
          <p:txBody>
            <a:bodyPr/>
            <a:lstStyle/>
            <a:p>
              <a:endParaRPr lang="de-AT"/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0" y="-38100"/>
              <a:ext cx="1198766" cy="147186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8763000" y="2628900"/>
            <a:ext cx="4876800" cy="7370316"/>
            <a:chOff x="0" y="0"/>
            <a:chExt cx="1198766" cy="1433761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1198766" cy="1433761"/>
            </a:xfrm>
            <a:custGeom>
              <a:avLst/>
              <a:gdLst/>
              <a:ahLst/>
              <a:cxnLst/>
              <a:rect l="l" t="t" r="r" b="b"/>
              <a:pathLst>
                <a:path w="1198766" h="1433761">
                  <a:moveTo>
                    <a:pt x="0" y="0"/>
                  </a:moveTo>
                  <a:lnTo>
                    <a:pt x="1198766" y="0"/>
                  </a:lnTo>
                  <a:lnTo>
                    <a:pt x="1198766" y="1433761"/>
                  </a:lnTo>
                  <a:lnTo>
                    <a:pt x="0" y="1433761"/>
                  </a:lnTo>
                  <a:close/>
                </a:path>
              </a:pathLst>
            </a:custGeom>
            <a:solidFill>
              <a:srgbClr val="FFFFFF"/>
            </a:solidFill>
            <a:ln w="66675" cap="sq">
              <a:solidFill>
                <a:srgbClr val="2B485F"/>
              </a:solidFill>
              <a:prstDash val="solid"/>
              <a:miter/>
            </a:ln>
          </p:spPr>
          <p:txBody>
            <a:bodyPr/>
            <a:lstStyle/>
            <a:p>
              <a:endParaRPr lang="de-AT"/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0" y="-38100"/>
              <a:ext cx="1198766" cy="147186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20" name="TextBox 20"/>
          <p:cNvSpPr txBox="1"/>
          <p:nvPr/>
        </p:nvSpPr>
        <p:spPr>
          <a:xfrm>
            <a:off x="794838" y="3807299"/>
            <a:ext cx="3166627" cy="301550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342900" indent="-342900" algn="just">
              <a:lnSpc>
                <a:spcPts val="3360"/>
              </a:lnSpc>
              <a:spcBef>
                <a:spcPct val="0"/>
              </a:spcBef>
              <a:buFontTx/>
              <a:buChar char="-"/>
            </a:pPr>
            <a:r>
              <a:rPr lang="en-US" sz="2400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Naïve</a:t>
            </a:r>
          </a:p>
          <a:p>
            <a:pPr marL="342900" indent="-342900" algn="just">
              <a:lnSpc>
                <a:spcPts val="3360"/>
              </a:lnSpc>
              <a:spcBef>
                <a:spcPct val="0"/>
              </a:spcBef>
              <a:buFontTx/>
              <a:buChar char="-"/>
            </a:pPr>
            <a:r>
              <a:rPr lang="en-US" sz="2400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Historic Average</a:t>
            </a:r>
          </a:p>
          <a:p>
            <a:pPr marL="342900" indent="-342900" algn="just">
              <a:lnSpc>
                <a:spcPts val="3360"/>
              </a:lnSpc>
              <a:spcBef>
                <a:spcPct val="0"/>
              </a:spcBef>
              <a:buFontTx/>
              <a:buChar char="-"/>
            </a:pPr>
            <a:r>
              <a:rPr lang="en-US" sz="2400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Seasonal Naïve</a:t>
            </a:r>
          </a:p>
          <a:p>
            <a:pPr marL="342900" indent="-342900" algn="just">
              <a:lnSpc>
                <a:spcPts val="3360"/>
              </a:lnSpc>
              <a:spcBef>
                <a:spcPct val="0"/>
              </a:spcBef>
              <a:buFontTx/>
              <a:buChar char="-"/>
            </a:pPr>
            <a:r>
              <a:rPr lang="en-US" sz="2400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Random Walk with Drift</a:t>
            </a:r>
          </a:p>
          <a:p>
            <a:pPr marL="342900" indent="-342900" algn="just">
              <a:lnSpc>
                <a:spcPts val="3360"/>
              </a:lnSpc>
              <a:spcBef>
                <a:spcPct val="0"/>
              </a:spcBef>
              <a:buFontTx/>
              <a:buChar char="-"/>
            </a:pPr>
            <a:r>
              <a:rPr lang="en-US" sz="2400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Structural (local trend)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1447800" y="2985440"/>
            <a:ext cx="1905000" cy="56412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4759"/>
              </a:lnSpc>
              <a:spcBef>
                <a:spcPct val="0"/>
              </a:spcBef>
            </a:pPr>
            <a:r>
              <a:rPr lang="en-US" sz="3399" b="1" dirty="0">
                <a:solidFill>
                  <a:srgbClr val="000000"/>
                </a:solidFill>
                <a:latin typeface="Inter Bold"/>
                <a:ea typeface="Inter Bold"/>
                <a:cs typeface="Inter Bold"/>
                <a:sym typeface="Inter Bold"/>
              </a:rPr>
              <a:t>Baseline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5257800" y="2985440"/>
            <a:ext cx="2322635" cy="57180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4759"/>
              </a:lnSpc>
              <a:spcBef>
                <a:spcPct val="0"/>
              </a:spcBef>
            </a:pPr>
            <a:r>
              <a:rPr lang="en-US" sz="3399" b="1" dirty="0">
                <a:solidFill>
                  <a:srgbClr val="000000"/>
                </a:solidFill>
                <a:latin typeface="Inter Bold"/>
                <a:ea typeface="Inter Bold"/>
                <a:cs typeface="Inter Bold"/>
                <a:sym typeface="Inter Bold"/>
              </a:rPr>
              <a:t>Statistical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4936142" y="3807299"/>
            <a:ext cx="3065620" cy="475957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342900" indent="-342900" algn="just">
              <a:lnSpc>
                <a:spcPts val="3359"/>
              </a:lnSpc>
              <a:spcBef>
                <a:spcPct val="0"/>
              </a:spcBef>
              <a:buFontTx/>
              <a:buChar char="-"/>
            </a:pPr>
            <a:r>
              <a:rPr lang="en-US" sz="2400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Simple Exponential Smoothing (SES)</a:t>
            </a:r>
          </a:p>
          <a:p>
            <a:pPr marL="342900" indent="-342900" algn="just">
              <a:lnSpc>
                <a:spcPts val="3359"/>
              </a:lnSpc>
              <a:spcBef>
                <a:spcPct val="0"/>
              </a:spcBef>
              <a:buFontTx/>
              <a:buChar char="-"/>
            </a:pPr>
            <a:r>
              <a:rPr lang="en-US" sz="2400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Holt Linear Trend</a:t>
            </a:r>
          </a:p>
          <a:p>
            <a:pPr marL="342900" indent="-342900" algn="just">
              <a:lnSpc>
                <a:spcPts val="3359"/>
              </a:lnSpc>
              <a:spcBef>
                <a:spcPct val="0"/>
              </a:spcBef>
              <a:buFontTx/>
              <a:buChar char="-"/>
            </a:pPr>
            <a:r>
              <a:rPr lang="en-US" sz="2400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Holt-Winters Seasonal</a:t>
            </a:r>
          </a:p>
          <a:p>
            <a:pPr marL="342900" indent="-342900" algn="just">
              <a:lnSpc>
                <a:spcPts val="3359"/>
              </a:lnSpc>
              <a:spcBef>
                <a:spcPct val="0"/>
              </a:spcBef>
              <a:buFontTx/>
              <a:buChar char="-"/>
            </a:pPr>
            <a:r>
              <a:rPr lang="en-US" sz="2400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Autoregressive (AR)</a:t>
            </a:r>
          </a:p>
          <a:p>
            <a:pPr marL="342900" indent="-342900" algn="just">
              <a:lnSpc>
                <a:spcPts val="3359"/>
              </a:lnSpc>
              <a:spcBef>
                <a:spcPct val="0"/>
              </a:spcBef>
              <a:buFontTx/>
              <a:buChar char="-"/>
            </a:pPr>
            <a:r>
              <a:rPr lang="en-US" sz="2400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Moving Average (MA)</a:t>
            </a:r>
          </a:p>
          <a:p>
            <a:pPr marL="342900" indent="-342900" algn="just">
              <a:lnSpc>
                <a:spcPts val="3359"/>
              </a:lnSpc>
              <a:spcBef>
                <a:spcPct val="0"/>
              </a:spcBef>
              <a:buFontTx/>
              <a:buChar char="-"/>
            </a:pPr>
            <a:r>
              <a:rPr lang="en-US" sz="2400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ARIMA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9506136" y="2985440"/>
            <a:ext cx="2478753" cy="57180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4759"/>
              </a:lnSpc>
              <a:spcBef>
                <a:spcPct val="0"/>
              </a:spcBef>
            </a:pPr>
            <a:r>
              <a:rPr lang="en-US" sz="3399" b="1" dirty="0">
                <a:solidFill>
                  <a:srgbClr val="000000"/>
                </a:solidFill>
                <a:latin typeface="Inter Bold"/>
                <a:ea typeface="Inter Bold"/>
                <a:cs typeface="Inter Bold"/>
                <a:sym typeface="Inter Bold"/>
              </a:rPr>
              <a:t>ML</a:t>
            </a:r>
          </a:p>
        </p:txBody>
      </p:sp>
      <p:grpSp>
        <p:nvGrpSpPr>
          <p:cNvPr id="26" name="Group 26"/>
          <p:cNvGrpSpPr/>
          <p:nvPr/>
        </p:nvGrpSpPr>
        <p:grpSpPr>
          <a:xfrm>
            <a:off x="-762000" y="1363882"/>
            <a:ext cx="10729641" cy="990272"/>
            <a:chOff x="0" y="0"/>
            <a:chExt cx="5136921" cy="653141"/>
          </a:xfrm>
        </p:grpSpPr>
        <p:sp>
          <p:nvSpPr>
            <p:cNvPr id="27" name="Freeform 27"/>
            <p:cNvSpPr/>
            <p:nvPr/>
          </p:nvSpPr>
          <p:spPr>
            <a:xfrm>
              <a:off x="0" y="0"/>
              <a:ext cx="5136921" cy="653141"/>
            </a:xfrm>
            <a:custGeom>
              <a:avLst/>
              <a:gdLst/>
              <a:ahLst/>
              <a:cxnLst/>
              <a:rect l="l" t="t" r="r" b="b"/>
              <a:pathLst>
                <a:path w="5136921" h="653141">
                  <a:moveTo>
                    <a:pt x="4933721" y="0"/>
                  </a:moveTo>
                  <a:lnTo>
                    <a:pt x="0" y="0"/>
                  </a:lnTo>
                  <a:lnTo>
                    <a:pt x="0" y="653141"/>
                  </a:lnTo>
                  <a:lnTo>
                    <a:pt x="4933721" y="653141"/>
                  </a:lnTo>
                  <a:lnTo>
                    <a:pt x="5136921" y="326570"/>
                  </a:lnTo>
                  <a:lnTo>
                    <a:pt x="4933721" y="0"/>
                  </a:lnTo>
                  <a:close/>
                </a:path>
              </a:pathLst>
            </a:custGeom>
            <a:solidFill>
              <a:srgbClr val="2B485F"/>
            </a:solidFill>
          </p:spPr>
          <p:txBody>
            <a:bodyPr/>
            <a:lstStyle/>
            <a:p>
              <a:endParaRPr lang="de-AT"/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0" y="-38100"/>
              <a:ext cx="5022621" cy="69124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29" name="TextBox 29"/>
          <p:cNvSpPr txBox="1"/>
          <p:nvPr/>
        </p:nvSpPr>
        <p:spPr>
          <a:xfrm>
            <a:off x="-392105" y="1411014"/>
            <a:ext cx="10240375" cy="91563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7420"/>
              </a:lnSpc>
              <a:spcBef>
                <a:spcPct val="0"/>
              </a:spcBef>
            </a:pPr>
            <a:r>
              <a:rPr lang="en-US" sz="5300" dirty="0">
                <a:solidFill>
                  <a:srgbClr val="FFFFFF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Model Summary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12695334" y="715962"/>
            <a:ext cx="4563966" cy="83542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3360"/>
              </a:lnSpc>
              <a:spcBef>
                <a:spcPct val="0"/>
              </a:spcBef>
            </a:pPr>
            <a:r>
              <a:rPr lang="en-US" sz="2400" b="1" dirty="0" err="1">
                <a:solidFill>
                  <a:srgbClr val="2B485F"/>
                </a:solidFill>
                <a:latin typeface="Inter Bold"/>
                <a:ea typeface="Inter Bold"/>
                <a:cs typeface="Inter Bold"/>
                <a:sym typeface="Inter Bold"/>
              </a:rPr>
              <a:t>Broadsoft</a:t>
            </a:r>
            <a:r>
              <a:rPr lang="en-US" sz="2400" b="1" dirty="0">
                <a:solidFill>
                  <a:srgbClr val="2B485F"/>
                </a:solidFill>
                <a:latin typeface="Inter Bold"/>
                <a:ea typeface="Inter Bold"/>
                <a:cs typeface="Inter Bold"/>
                <a:sym typeface="Inter Bold"/>
              </a:rPr>
              <a:t> Consulting Company</a:t>
            </a:r>
          </a:p>
        </p:txBody>
      </p:sp>
      <p:sp>
        <p:nvSpPr>
          <p:cNvPr id="31" name="AutoShape 31"/>
          <p:cNvSpPr/>
          <p:nvPr/>
        </p:nvSpPr>
        <p:spPr>
          <a:xfrm>
            <a:off x="17675977" y="961707"/>
            <a:ext cx="3956611" cy="0"/>
          </a:xfrm>
          <a:prstGeom prst="line">
            <a:avLst/>
          </a:prstGeom>
          <a:ln w="38100" cap="flat">
            <a:solidFill>
              <a:srgbClr val="2B485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de-AT"/>
          </a:p>
        </p:txBody>
      </p:sp>
      <p:grpSp>
        <p:nvGrpSpPr>
          <p:cNvPr id="32" name="Group 8">
            <a:extLst>
              <a:ext uri="{FF2B5EF4-FFF2-40B4-BE49-F238E27FC236}">
                <a16:creationId xmlns:a16="http://schemas.microsoft.com/office/drawing/2014/main" id="{8EC7E53E-A7EF-BF25-3449-85AF5CC55CC5}"/>
              </a:ext>
            </a:extLst>
          </p:cNvPr>
          <p:cNvGrpSpPr/>
          <p:nvPr/>
        </p:nvGrpSpPr>
        <p:grpSpPr>
          <a:xfrm>
            <a:off x="14231184" y="2802384"/>
            <a:ext cx="3447216" cy="7370316"/>
            <a:chOff x="0" y="0"/>
            <a:chExt cx="1198766" cy="1433761"/>
          </a:xfrm>
        </p:grpSpPr>
        <p:sp>
          <p:nvSpPr>
            <p:cNvPr id="33" name="Freeform 9">
              <a:extLst>
                <a:ext uri="{FF2B5EF4-FFF2-40B4-BE49-F238E27FC236}">
                  <a16:creationId xmlns:a16="http://schemas.microsoft.com/office/drawing/2014/main" id="{852403BE-FBE4-103B-6FA6-716D7713F2AD}"/>
                </a:ext>
              </a:extLst>
            </p:cNvPr>
            <p:cNvSpPr/>
            <p:nvPr/>
          </p:nvSpPr>
          <p:spPr>
            <a:xfrm>
              <a:off x="0" y="0"/>
              <a:ext cx="1198766" cy="1433761"/>
            </a:xfrm>
            <a:custGeom>
              <a:avLst/>
              <a:gdLst/>
              <a:ahLst/>
              <a:cxnLst/>
              <a:rect l="l" t="t" r="r" b="b"/>
              <a:pathLst>
                <a:path w="1198766" h="1433761">
                  <a:moveTo>
                    <a:pt x="0" y="0"/>
                  </a:moveTo>
                  <a:lnTo>
                    <a:pt x="1198766" y="0"/>
                  </a:lnTo>
                  <a:lnTo>
                    <a:pt x="1198766" y="1433761"/>
                  </a:lnTo>
                  <a:lnTo>
                    <a:pt x="0" y="1433761"/>
                  </a:lnTo>
                  <a:close/>
                </a:path>
              </a:pathLst>
            </a:custGeom>
            <a:solidFill>
              <a:srgbClr val="598196"/>
            </a:solidFill>
            <a:ln w="66675" cap="sq">
              <a:solidFill>
                <a:srgbClr val="2B485F"/>
              </a:solidFill>
              <a:prstDash val="solid"/>
              <a:miter/>
            </a:ln>
          </p:spPr>
          <p:txBody>
            <a:bodyPr/>
            <a:lstStyle/>
            <a:p>
              <a:endParaRPr lang="de-AT"/>
            </a:p>
          </p:txBody>
        </p:sp>
        <p:sp>
          <p:nvSpPr>
            <p:cNvPr id="34" name="TextBox 10">
              <a:extLst>
                <a:ext uri="{FF2B5EF4-FFF2-40B4-BE49-F238E27FC236}">
                  <a16:creationId xmlns:a16="http://schemas.microsoft.com/office/drawing/2014/main" id="{F14F5557-886F-AE6E-1FB1-CD654333263C}"/>
                </a:ext>
              </a:extLst>
            </p:cNvPr>
            <p:cNvSpPr txBox="1"/>
            <p:nvPr/>
          </p:nvSpPr>
          <p:spPr>
            <a:xfrm>
              <a:off x="0" y="-38100"/>
              <a:ext cx="1198766" cy="147186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35" name="Group 17">
            <a:extLst>
              <a:ext uri="{FF2B5EF4-FFF2-40B4-BE49-F238E27FC236}">
                <a16:creationId xmlns:a16="http://schemas.microsoft.com/office/drawing/2014/main" id="{4553821E-1036-36B6-6C42-73EB3B1C9729}"/>
              </a:ext>
            </a:extLst>
          </p:cNvPr>
          <p:cNvGrpSpPr/>
          <p:nvPr/>
        </p:nvGrpSpPr>
        <p:grpSpPr>
          <a:xfrm>
            <a:off x="14078784" y="2649984"/>
            <a:ext cx="3447216" cy="7370316"/>
            <a:chOff x="0" y="0"/>
            <a:chExt cx="1198766" cy="1433761"/>
          </a:xfrm>
        </p:grpSpPr>
        <p:sp>
          <p:nvSpPr>
            <p:cNvPr id="36" name="Freeform 18">
              <a:extLst>
                <a:ext uri="{FF2B5EF4-FFF2-40B4-BE49-F238E27FC236}">
                  <a16:creationId xmlns:a16="http://schemas.microsoft.com/office/drawing/2014/main" id="{0E430927-A099-F142-A149-4AFB01ADB84E}"/>
                </a:ext>
              </a:extLst>
            </p:cNvPr>
            <p:cNvSpPr/>
            <p:nvPr/>
          </p:nvSpPr>
          <p:spPr>
            <a:xfrm>
              <a:off x="0" y="0"/>
              <a:ext cx="1198766" cy="1433761"/>
            </a:xfrm>
            <a:custGeom>
              <a:avLst/>
              <a:gdLst/>
              <a:ahLst/>
              <a:cxnLst/>
              <a:rect l="l" t="t" r="r" b="b"/>
              <a:pathLst>
                <a:path w="1198766" h="1433761">
                  <a:moveTo>
                    <a:pt x="0" y="0"/>
                  </a:moveTo>
                  <a:lnTo>
                    <a:pt x="1198766" y="0"/>
                  </a:lnTo>
                  <a:lnTo>
                    <a:pt x="1198766" y="1433761"/>
                  </a:lnTo>
                  <a:lnTo>
                    <a:pt x="0" y="1433761"/>
                  </a:lnTo>
                  <a:close/>
                </a:path>
              </a:pathLst>
            </a:custGeom>
            <a:solidFill>
              <a:srgbClr val="FFFFFF"/>
            </a:solidFill>
            <a:ln w="66675" cap="sq">
              <a:solidFill>
                <a:srgbClr val="2B485F"/>
              </a:solidFill>
              <a:prstDash val="solid"/>
              <a:miter/>
            </a:ln>
          </p:spPr>
          <p:txBody>
            <a:bodyPr/>
            <a:lstStyle/>
            <a:p>
              <a:endParaRPr lang="de-AT"/>
            </a:p>
          </p:txBody>
        </p:sp>
        <p:sp>
          <p:nvSpPr>
            <p:cNvPr id="37" name="TextBox 19">
              <a:extLst>
                <a:ext uri="{FF2B5EF4-FFF2-40B4-BE49-F238E27FC236}">
                  <a16:creationId xmlns:a16="http://schemas.microsoft.com/office/drawing/2014/main" id="{2CD016C5-11CC-57D5-EAB1-6B83083CDB50}"/>
                </a:ext>
              </a:extLst>
            </p:cNvPr>
            <p:cNvSpPr txBox="1"/>
            <p:nvPr/>
          </p:nvSpPr>
          <p:spPr>
            <a:xfrm>
              <a:off x="0" y="-38100"/>
              <a:ext cx="1198766" cy="147186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38" name="TextBox 24">
            <a:extLst>
              <a:ext uri="{FF2B5EF4-FFF2-40B4-BE49-F238E27FC236}">
                <a16:creationId xmlns:a16="http://schemas.microsoft.com/office/drawing/2014/main" id="{179612B3-B05B-8AB3-DA14-17DAD5BD4C30}"/>
              </a:ext>
            </a:extLst>
          </p:cNvPr>
          <p:cNvSpPr txBox="1"/>
          <p:nvPr/>
        </p:nvSpPr>
        <p:spPr>
          <a:xfrm>
            <a:off x="14821921" y="3006524"/>
            <a:ext cx="1752132" cy="57180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4759"/>
              </a:lnSpc>
              <a:spcBef>
                <a:spcPct val="0"/>
              </a:spcBef>
            </a:pPr>
            <a:r>
              <a:rPr lang="en-US" sz="3399" b="1" dirty="0">
                <a:solidFill>
                  <a:srgbClr val="000000"/>
                </a:solidFill>
                <a:latin typeface="Inter Bold"/>
                <a:ea typeface="Inter Bold"/>
                <a:cs typeface="Inter Bold"/>
                <a:sym typeface="Inter Bold"/>
              </a:rPr>
              <a:t>Neural</a:t>
            </a:r>
          </a:p>
        </p:txBody>
      </p:sp>
      <p:sp>
        <p:nvSpPr>
          <p:cNvPr id="40" name="TextBox 23">
            <a:extLst>
              <a:ext uri="{FF2B5EF4-FFF2-40B4-BE49-F238E27FC236}">
                <a16:creationId xmlns:a16="http://schemas.microsoft.com/office/drawing/2014/main" id="{55D1A72F-9476-8ADB-764A-C96DB44FA57D}"/>
              </a:ext>
            </a:extLst>
          </p:cNvPr>
          <p:cNvSpPr txBox="1"/>
          <p:nvPr/>
        </p:nvSpPr>
        <p:spPr>
          <a:xfrm>
            <a:off x="8934174" y="3807299"/>
            <a:ext cx="4400826" cy="563160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342900" indent="-342900" algn="just">
              <a:lnSpc>
                <a:spcPts val="3359"/>
              </a:lnSpc>
              <a:spcBef>
                <a:spcPct val="0"/>
              </a:spcBef>
              <a:buFontTx/>
              <a:buChar char="-"/>
            </a:pPr>
            <a:r>
              <a:rPr lang="en-US" sz="2400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Linear</a:t>
            </a:r>
          </a:p>
          <a:p>
            <a:pPr marL="342900" indent="-342900" algn="just">
              <a:lnSpc>
                <a:spcPts val="3359"/>
              </a:lnSpc>
              <a:spcBef>
                <a:spcPct val="0"/>
              </a:spcBef>
              <a:buFontTx/>
              <a:buChar char="-"/>
            </a:pPr>
            <a:r>
              <a:rPr lang="en-US" sz="2400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Ridge</a:t>
            </a:r>
          </a:p>
          <a:p>
            <a:pPr marL="342900" indent="-342900" algn="just">
              <a:lnSpc>
                <a:spcPts val="3359"/>
              </a:lnSpc>
              <a:spcBef>
                <a:spcPct val="0"/>
              </a:spcBef>
              <a:buFontTx/>
              <a:buChar char="-"/>
            </a:pPr>
            <a:r>
              <a:rPr lang="en-US" sz="2400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Huber</a:t>
            </a:r>
          </a:p>
          <a:p>
            <a:pPr marL="342900" indent="-342900" algn="just">
              <a:lnSpc>
                <a:spcPts val="3359"/>
              </a:lnSpc>
              <a:spcBef>
                <a:spcPct val="0"/>
              </a:spcBef>
              <a:buFontTx/>
              <a:buChar char="-"/>
            </a:pPr>
            <a:r>
              <a:rPr lang="en-US" sz="2400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Tweedie</a:t>
            </a:r>
          </a:p>
          <a:p>
            <a:pPr marL="342900" indent="-342900" algn="just">
              <a:lnSpc>
                <a:spcPts val="3359"/>
              </a:lnSpc>
              <a:spcBef>
                <a:spcPct val="0"/>
              </a:spcBef>
              <a:buFontTx/>
              <a:buChar char="-"/>
            </a:pPr>
            <a:r>
              <a:rPr lang="en-US" sz="2400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KNN</a:t>
            </a:r>
          </a:p>
          <a:p>
            <a:pPr marL="342900" indent="-342900" algn="just">
              <a:lnSpc>
                <a:spcPts val="3359"/>
              </a:lnSpc>
              <a:spcBef>
                <a:spcPct val="0"/>
              </a:spcBef>
              <a:buFontTx/>
              <a:buChar char="-"/>
            </a:pPr>
            <a:r>
              <a:rPr lang="en-US" sz="2400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Radius </a:t>
            </a:r>
            <a:r>
              <a:rPr lang="en-US" sz="2400" dirty="0" err="1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Neighbours</a:t>
            </a:r>
            <a:endParaRPr lang="en-US" sz="2400" dirty="0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  <a:p>
            <a:pPr marL="342900" indent="-342900" algn="just">
              <a:lnSpc>
                <a:spcPts val="3359"/>
              </a:lnSpc>
              <a:spcBef>
                <a:spcPct val="0"/>
              </a:spcBef>
              <a:buFontTx/>
              <a:buChar char="-"/>
            </a:pPr>
            <a:r>
              <a:rPr lang="en-US" sz="2400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Decision Tree</a:t>
            </a:r>
          </a:p>
          <a:p>
            <a:pPr marL="342900" indent="-342900" algn="just">
              <a:lnSpc>
                <a:spcPts val="3359"/>
              </a:lnSpc>
              <a:spcBef>
                <a:spcPct val="0"/>
              </a:spcBef>
              <a:buFontTx/>
              <a:buChar char="-"/>
            </a:pPr>
            <a:r>
              <a:rPr lang="en-US" sz="2400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Random Forest</a:t>
            </a:r>
          </a:p>
          <a:p>
            <a:pPr marL="342900" indent="-342900" algn="just">
              <a:lnSpc>
                <a:spcPts val="3359"/>
              </a:lnSpc>
              <a:spcBef>
                <a:spcPct val="0"/>
              </a:spcBef>
              <a:buFontTx/>
              <a:buChar char="-"/>
            </a:pPr>
            <a:r>
              <a:rPr lang="en-US" sz="2400" dirty="0" err="1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HistGB</a:t>
            </a:r>
            <a:endParaRPr lang="en-US" sz="2400" dirty="0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  <a:p>
            <a:pPr marL="342900" indent="-342900" algn="just">
              <a:lnSpc>
                <a:spcPts val="3359"/>
              </a:lnSpc>
              <a:spcBef>
                <a:spcPct val="0"/>
              </a:spcBef>
              <a:buFontTx/>
              <a:buChar char="-"/>
            </a:pPr>
            <a:r>
              <a:rPr lang="en-US" sz="2400" dirty="0" err="1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LightGBM</a:t>
            </a:r>
            <a:endParaRPr lang="en-US" sz="2400" dirty="0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  <a:p>
            <a:pPr marL="342900" indent="-342900">
              <a:lnSpc>
                <a:spcPts val="3359"/>
              </a:lnSpc>
              <a:spcBef>
                <a:spcPct val="0"/>
              </a:spcBef>
              <a:buFontTx/>
              <a:buChar char="-"/>
            </a:pPr>
            <a:r>
              <a:rPr lang="en-US" sz="2400" dirty="0" err="1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XGBoost</a:t>
            </a:r>
            <a:r>
              <a:rPr lang="en-US" sz="2400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 [+ Random Forest]</a:t>
            </a:r>
          </a:p>
          <a:p>
            <a:pPr marL="342900" indent="-342900" algn="just">
              <a:lnSpc>
                <a:spcPts val="3359"/>
              </a:lnSpc>
              <a:spcBef>
                <a:spcPct val="0"/>
              </a:spcBef>
              <a:buFontTx/>
              <a:buChar char="-"/>
            </a:pPr>
            <a:r>
              <a:rPr lang="en-US" sz="2400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Support Vector Regression</a:t>
            </a:r>
          </a:p>
          <a:p>
            <a:pPr marL="342900" indent="-342900" algn="just">
              <a:lnSpc>
                <a:spcPts val="3359"/>
              </a:lnSpc>
              <a:spcBef>
                <a:spcPct val="0"/>
              </a:spcBef>
              <a:buFontTx/>
              <a:buChar char="-"/>
            </a:pPr>
            <a:r>
              <a:rPr lang="en-US" sz="2400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MLP Regressor</a:t>
            </a:r>
          </a:p>
        </p:txBody>
      </p:sp>
      <p:sp>
        <p:nvSpPr>
          <p:cNvPr id="41" name="TextBox 23">
            <a:extLst>
              <a:ext uri="{FF2B5EF4-FFF2-40B4-BE49-F238E27FC236}">
                <a16:creationId xmlns:a16="http://schemas.microsoft.com/office/drawing/2014/main" id="{BE20EF92-D807-3ED5-7FAD-5470C7794F8D}"/>
              </a:ext>
            </a:extLst>
          </p:cNvPr>
          <p:cNvSpPr txBox="1"/>
          <p:nvPr/>
        </p:nvSpPr>
        <p:spPr>
          <a:xfrm>
            <a:off x="14269582" y="3807299"/>
            <a:ext cx="3065620" cy="214347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342900" indent="-342900" algn="just">
              <a:lnSpc>
                <a:spcPts val="3359"/>
              </a:lnSpc>
              <a:spcBef>
                <a:spcPct val="0"/>
              </a:spcBef>
              <a:buFontTx/>
              <a:buChar char="-"/>
            </a:pPr>
            <a:r>
              <a:rPr lang="en-US" sz="2400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LSTM</a:t>
            </a:r>
          </a:p>
          <a:p>
            <a:pPr marL="342900" indent="-342900" algn="just">
              <a:lnSpc>
                <a:spcPts val="3359"/>
              </a:lnSpc>
              <a:spcBef>
                <a:spcPct val="0"/>
              </a:spcBef>
              <a:buFontTx/>
              <a:buChar char="-"/>
            </a:pPr>
            <a:r>
              <a:rPr lang="en-US" sz="2400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NBEATS</a:t>
            </a:r>
          </a:p>
          <a:p>
            <a:pPr marL="342900" indent="-342900" algn="just">
              <a:lnSpc>
                <a:spcPts val="3359"/>
              </a:lnSpc>
              <a:spcBef>
                <a:spcPct val="0"/>
              </a:spcBef>
              <a:buFontTx/>
              <a:buChar char="-"/>
            </a:pPr>
            <a:r>
              <a:rPr lang="en-US" sz="2400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NHITS</a:t>
            </a:r>
          </a:p>
          <a:p>
            <a:pPr marL="342900" indent="-342900" algn="just">
              <a:lnSpc>
                <a:spcPts val="3359"/>
              </a:lnSpc>
              <a:spcBef>
                <a:spcPct val="0"/>
              </a:spcBef>
              <a:buFontTx/>
              <a:buChar char="-"/>
            </a:pPr>
            <a:r>
              <a:rPr lang="en-US" sz="2400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GRU</a:t>
            </a:r>
          </a:p>
          <a:p>
            <a:pPr marL="342900" indent="-342900" algn="just">
              <a:lnSpc>
                <a:spcPts val="3359"/>
              </a:lnSpc>
              <a:spcBef>
                <a:spcPct val="0"/>
              </a:spcBef>
              <a:buFontTx/>
              <a:buChar char="-"/>
            </a:pPr>
            <a:r>
              <a:rPr lang="en-US" sz="2400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RNN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F0B583-5AFF-FD9D-B6BB-01738F9556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7B8125CD-01FA-5A2D-80B6-DAEB0D712F86}"/>
              </a:ext>
            </a:extLst>
          </p:cNvPr>
          <p:cNvGrpSpPr/>
          <p:nvPr/>
        </p:nvGrpSpPr>
        <p:grpSpPr>
          <a:xfrm>
            <a:off x="1371600" y="3359440"/>
            <a:ext cx="3447216" cy="6584660"/>
            <a:chOff x="0" y="0"/>
            <a:chExt cx="1198766" cy="1433761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330A8478-C55D-584C-C8A3-6097A95F919C}"/>
                </a:ext>
              </a:extLst>
            </p:cNvPr>
            <p:cNvSpPr/>
            <p:nvPr/>
          </p:nvSpPr>
          <p:spPr>
            <a:xfrm>
              <a:off x="0" y="0"/>
              <a:ext cx="1198766" cy="1433761"/>
            </a:xfrm>
            <a:custGeom>
              <a:avLst/>
              <a:gdLst/>
              <a:ahLst/>
              <a:cxnLst/>
              <a:rect l="l" t="t" r="r" b="b"/>
              <a:pathLst>
                <a:path w="1198766" h="1433761">
                  <a:moveTo>
                    <a:pt x="0" y="0"/>
                  </a:moveTo>
                  <a:lnTo>
                    <a:pt x="1198766" y="0"/>
                  </a:lnTo>
                  <a:lnTo>
                    <a:pt x="1198766" y="1433761"/>
                  </a:lnTo>
                  <a:lnTo>
                    <a:pt x="0" y="1433761"/>
                  </a:lnTo>
                  <a:close/>
                </a:path>
              </a:pathLst>
            </a:custGeom>
            <a:solidFill>
              <a:srgbClr val="598196"/>
            </a:solidFill>
            <a:ln w="66675" cap="sq">
              <a:solidFill>
                <a:srgbClr val="2B485F"/>
              </a:solidFill>
              <a:prstDash val="solid"/>
              <a:miter/>
            </a:ln>
          </p:spPr>
          <p:txBody>
            <a:bodyPr/>
            <a:lstStyle/>
            <a:p>
              <a:endParaRPr lang="de-AT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D0387C36-85BA-555F-6B88-4700A2EE4ACE}"/>
                </a:ext>
              </a:extLst>
            </p:cNvPr>
            <p:cNvSpPr txBox="1"/>
            <p:nvPr/>
          </p:nvSpPr>
          <p:spPr>
            <a:xfrm>
              <a:off x="0" y="-38100"/>
              <a:ext cx="1198766" cy="147186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E91A55A4-2174-E75B-FFF9-E88F3BA6C791}"/>
              </a:ext>
            </a:extLst>
          </p:cNvPr>
          <p:cNvGrpSpPr/>
          <p:nvPr/>
        </p:nvGrpSpPr>
        <p:grpSpPr>
          <a:xfrm>
            <a:off x="5447747" y="3359440"/>
            <a:ext cx="3447216" cy="6584660"/>
            <a:chOff x="0" y="0"/>
            <a:chExt cx="1198766" cy="1433761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8A0FB12C-8CE9-BE96-7D8B-EC00E597CB44}"/>
                </a:ext>
              </a:extLst>
            </p:cNvPr>
            <p:cNvSpPr/>
            <p:nvPr/>
          </p:nvSpPr>
          <p:spPr>
            <a:xfrm>
              <a:off x="0" y="0"/>
              <a:ext cx="1198766" cy="1433761"/>
            </a:xfrm>
            <a:custGeom>
              <a:avLst/>
              <a:gdLst/>
              <a:ahLst/>
              <a:cxnLst/>
              <a:rect l="l" t="t" r="r" b="b"/>
              <a:pathLst>
                <a:path w="1198766" h="1433761">
                  <a:moveTo>
                    <a:pt x="0" y="0"/>
                  </a:moveTo>
                  <a:lnTo>
                    <a:pt x="1198766" y="0"/>
                  </a:lnTo>
                  <a:lnTo>
                    <a:pt x="1198766" y="1433761"/>
                  </a:lnTo>
                  <a:lnTo>
                    <a:pt x="0" y="1433761"/>
                  </a:lnTo>
                  <a:close/>
                </a:path>
              </a:pathLst>
            </a:custGeom>
            <a:solidFill>
              <a:srgbClr val="598196"/>
            </a:solidFill>
            <a:ln w="66675" cap="sq">
              <a:solidFill>
                <a:srgbClr val="2B485F"/>
              </a:solidFill>
              <a:prstDash val="solid"/>
              <a:miter/>
            </a:ln>
          </p:spPr>
          <p:txBody>
            <a:bodyPr/>
            <a:lstStyle/>
            <a:p>
              <a:endParaRPr lang="de-AT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C81ACA69-3B42-BB1D-5B05-0275BA97C63F}"/>
                </a:ext>
              </a:extLst>
            </p:cNvPr>
            <p:cNvSpPr txBox="1"/>
            <p:nvPr/>
          </p:nvSpPr>
          <p:spPr>
            <a:xfrm>
              <a:off x="0" y="-38100"/>
              <a:ext cx="1198766" cy="147186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8" name="Group 8">
            <a:extLst>
              <a:ext uri="{FF2B5EF4-FFF2-40B4-BE49-F238E27FC236}">
                <a16:creationId xmlns:a16="http://schemas.microsoft.com/office/drawing/2014/main" id="{9608EF05-4F1A-B5B5-7788-8DEAA7E0674F}"/>
              </a:ext>
            </a:extLst>
          </p:cNvPr>
          <p:cNvGrpSpPr/>
          <p:nvPr/>
        </p:nvGrpSpPr>
        <p:grpSpPr>
          <a:xfrm>
            <a:off x="9562547" y="3359440"/>
            <a:ext cx="3447216" cy="6584660"/>
            <a:chOff x="0" y="0"/>
            <a:chExt cx="1198766" cy="1433761"/>
          </a:xfrm>
        </p:grpSpPr>
        <p:sp>
          <p:nvSpPr>
            <p:cNvPr id="9" name="Freeform 9">
              <a:extLst>
                <a:ext uri="{FF2B5EF4-FFF2-40B4-BE49-F238E27FC236}">
                  <a16:creationId xmlns:a16="http://schemas.microsoft.com/office/drawing/2014/main" id="{48165A93-C1DA-D5B8-53B4-789F2F54C137}"/>
                </a:ext>
              </a:extLst>
            </p:cNvPr>
            <p:cNvSpPr/>
            <p:nvPr/>
          </p:nvSpPr>
          <p:spPr>
            <a:xfrm>
              <a:off x="0" y="0"/>
              <a:ext cx="1198766" cy="1433761"/>
            </a:xfrm>
            <a:custGeom>
              <a:avLst/>
              <a:gdLst/>
              <a:ahLst/>
              <a:cxnLst/>
              <a:rect l="l" t="t" r="r" b="b"/>
              <a:pathLst>
                <a:path w="1198766" h="1433761">
                  <a:moveTo>
                    <a:pt x="0" y="0"/>
                  </a:moveTo>
                  <a:lnTo>
                    <a:pt x="1198766" y="0"/>
                  </a:lnTo>
                  <a:lnTo>
                    <a:pt x="1198766" y="1433761"/>
                  </a:lnTo>
                  <a:lnTo>
                    <a:pt x="0" y="1433761"/>
                  </a:lnTo>
                  <a:close/>
                </a:path>
              </a:pathLst>
            </a:custGeom>
            <a:solidFill>
              <a:srgbClr val="598196"/>
            </a:solidFill>
            <a:ln w="66675" cap="sq">
              <a:solidFill>
                <a:srgbClr val="2B485F"/>
              </a:solidFill>
              <a:prstDash val="solid"/>
              <a:miter/>
            </a:ln>
          </p:spPr>
          <p:txBody>
            <a:bodyPr/>
            <a:lstStyle/>
            <a:p>
              <a:endParaRPr lang="de-AT"/>
            </a:p>
          </p:txBody>
        </p:sp>
        <p:sp>
          <p:nvSpPr>
            <p:cNvPr id="10" name="TextBox 10">
              <a:extLst>
                <a:ext uri="{FF2B5EF4-FFF2-40B4-BE49-F238E27FC236}">
                  <a16:creationId xmlns:a16="http://schemas.microsoft.com/office/drawing/2014/main" id="{5A8AFCB8-DEF0-EA6C-B39C-5B7DB17C3469}"/>
                </a:ext>
              </a:extLst>
            </p:cNvPr>
            <p:cNvSpPr txBox="1"/>
            <p:nvPr/>
          </p:nvSpPr>
          <p:spPr>
            <a:xfrm>
              <a:off x="0" y="-38100"/>
              <a:ext cx="1198766" cy="147186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1" name="Group 11">
            <a:extLst>
              <a:ext uri="{FF2B5EF4-FFF2-40B4-BE49-F238E27FC236}">
                <a16:creationId xmlns:a16="http://schemas.microsoft.com/office/drawing/2014/main" id="{0915AF03-34F1-75BD-9FDF-871B77CF7458}"/>
              </a:ext>
            </a:extLst>
          </p:cNvPr>
          <p:cNvGrpSpPr/>
          <p:nvPr/>
        </p:nvGrpSpPr>
        <p:grpSpPr>
          <a:xfrm>
            <a:off x="1219200" y="3207040"/>
            <a:ext cx="3447216" cy="6584660"/>
            <a:chOff x="0" y="0"/>
            <a:chExt cx="1198766" cy="1433761"/>
          </a:xfrm>
        </p:grpSpPr>
        <p:sp>
          <p:nvSpPr>
            <p:cNvPr id="12" name="Freeform 12">
              <a:extLst>
                <a:ext uri="{FF2B5EF4-FFF2-40B4-BE49-F238E27FC236}">
                  <a16:creationId xmlns:a16="http://schemas.microsoft.com/office/drawing/2014/main" id="{6FBA5130-359B-9A44-6E00-098CBFC774C2}"/>
                </a:ext>
              </a:extLst>
            </p:cNvPr>
            <p:cNvSpPr/>
            <p:nvPr/>
          </p:nvSpPr>
          <p:spPr>
            <a:xfrm>
              <a:off x="0" y="0"/>
              <a:ext cx="1198766" cy="1433761"/>
            </a:xfrm>
            <a:custGeom>
              <a:avLst/>
              <a:gdLst/>
              <a:ahLst/>
              <a:cxnLst/>
              <a:rect l="l" t="t" r="r" b="b"/>
              <a:pathLst>
                <a:path w="1198766" h="1433761">
                  <a:moveTo>
                    <a:pt x="0" y="0"/>
                  </a:moveTo>
                  <a:lnTo>
                    <a:pt x="1198766" y="0"/>
                  </a:lnTo>
                  <a:lnTo>
                    <a:pt x="1198766" y="1433761"/>
                  </a:lnTo>
                  <a:lnTo>
                    <a:pt x="0" y="1433761"/>
                  </a:lnTo>
                  <a:close/>
                </a:path>
              </a:pathLst>
            </a:custGeom>
            <a:solidFill>
              <a:srgbClr val="FFFFFF"/>
            </a:solidFill>
            <a:ln w="66675" cap="sq">
              <a:solidFill>
                <a:srgbClr val="2B485F"/>
              </a:solidFill>
              <a:prstDash val="solid"/>
              <a:miter/>
            </a:ln>
          </p:spPr>
          <p:txBody>
            <a:bodyPr/>
            <a:lstStyle/>
            <a:p>
              <a:endParaRPr lang="de-AT"/>
            </a:p>
          </p:txBody>
        </p:sp>
        <p:sp>
          <p:nvSpPr>
            <p:cNvPr id="13" name="TextBox 13">
              <a:extLst>
                <a:ext uri="{FF2B5EF4-FFF2-40B4-BE49-F238E27FC236}">
                  <a16:creationId xmlns:a16="http://schemas.microsoft.com/office/drawing/2014/main" id="{861CBEF5-28A0-7E0F-CE50-064D9A12B8C3}"/>
                </a:ext>
              </a:extLst>
            </p:cNvPr>
            <p:cNvSpPr txBox="1"/>
            <p:nvPr/>
          </p:nvSpPr>
          <p:spPr>
            <a:xfrm>
              <a:off x="0" y="-38100"/>
              <a:ext cx="1198766" cy="147186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4" name="Group 14">
            <a:extLst>
              <a:ext uri="{FF2B5EF4-FFF2-40B4-BE49-F238E27FC236}">
                <a16:creationId xmlns:a16="http://schemas.microsoft.com/office/drawing/2014/main" id="{6B7F0A28-2B04-671A-7ED9-04BF57E615E3}"/>
              </a:ext>
            </a:extLst>
          </p:cNvPr>
          <p:cNvGrpSpPr/>
          <p:nvPr/>
        </p:nvGrpSpPr>
        <p:grpSpPr>
          <a:xfrm>
            <a:off x="5295347" y="3207040"/>
            <a:ext cx="3447216" cy="6584660"/>
            <a:chOff x="0" y="0"/>
            <a:chExt cx="1198766" cy="1433761"/>
          </a:xfrm>
        </p:grpSpPr>
        <p:sp>
          <p:nvSpPr>
            <p:cNvPr id="15" name="Freeform 15">
              <a:extLst>
                <a:ext uri="{FF2B5EF4-FFF2-40B4-BE49-F238E27FC236}">
                  <a16:creationId xmlns:a16="http://schemas.microsoft.com/office/drawing/2014/main" id="{B6E4E63F-7328-EF86-79E5-30E536FB7FD7}"/>
                </a:ext>
              </a:extLst>
            </p:cNvPr>
            <p:cNvSpPr/>
            <p:nvPr/>
          </p:nvSpPr>
          <p:spPr>
            <a:xfrm>
              <a:off x="0" y="0"/>
              <a:ext cx="1198766" cy="1433761"/>
            </a:xfrm>
            <a:custGeom>
              <a:avLst/>
              <a:gdLst/>
              <a:ahLst/>
              <a:cxnLst/>
              <a:rect l="l" t="t" r="r" b="b"/>
              <a:pathLst>
                <a:path w="1198766" h="1433761">
                  <a:moveTo>
                    <a:pt x="0" y="0"/>
                  </a:moveTo>
                  <a:lnTo>
                    <a:pt x="1198766" y="0"/>
                  </a:lnTo>
                  <a:lnTo>
                    <a:pt x="1198766" y="1433761"/>
                  </a:lnTo>
                  <a:lnTo>
                    <a:pt x="0" y="1433761"/>
                  </a:lnTo>
                  <a:close/>
                </a:path>
              </a:pathLst>
            </a:custGeom>
            <a:solidFill>
              <a:srgbClr val="FFFFFF"/>
            </a:solidFill>
            <a:ln w="66675" cap="sq">
              <a:solidFill>
                <a:srgbClr val="2B485F"/>
              </a:solidFill>
              <a:prstDash val="solid"/>
              <a:miter/>
            </a:ln>
          </p:spPr>
          <p:txBody>
            <a:bodyPr/>
            <a:lstStyle/>
            <a:p>
              <a:endParaRPr lang="de-AT"/>
            </a:p>
          </p:txBody>
        </p:sp>
        <p:sp>
          <p:nvSpPr>
            <p:cNvPr id="16" name="TextBox 16">
              <a:extLst>
                <a:ext uri="{FF2B5EF4-FFF2-40B4-BE49-F238E27FC236}">
                  <a16:creationId xmlns:a16="http://schemas.microsoft.com/office/drawing/2014/main" id="{0D756C7D-878C-ACE6-5BD3-859D23837AE1}"/>
                </a:ext>
              </a:extLst>
            </p:cNvPr>
            <p:cNvSpPr txBox="1"/>
            <p:nvPr/>
          </p:nvSpPr>
          <p:spPr>
            <a:xfrm>
              <a:off x="0" y="-38100"/>
              <a:ext cx="1198766" cy="147186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7" name="Group 17">
            <a:extLst>
              <a:ext uri="{FF2B5EF4-FFF2-40B4-BE49-F238E27FC236}">
                <a16:creationId xmlns:a16="http://schemas.microsoft.com/office/drawing/2014/main" id="{9D4210B1-03DE-8823-F3F7-D8D76FEF9431}"/>
              </a:ext>
            </a:extLst>
          </p:cNvPr>
          <p:cNvGrpSpPr/>
          <p:nvPr/>
        </p:nvGrpSpPr>
        <p:grpSpPr>
          <a:xfrm>
            <a:off x="9410147" y="3207040"/>
            <a:ext cx="3447216" cy="6584660"/>
            <a:chOff x="0" y="0"/>
            <a:chExt cx="1198766" cy="1433761"/>
          </a:xfrm>
        </p:grpSpPr>
        <p:sp>
          <p:nvSpPr>
            <p:cNvPr id="18" name="Freeform 18">
              <a:extLst>
                <a:ext uri="{FF2B5EF4-FFF2-40B4-BE49-F238E27FC236}">
                  <a16:creationId xmlns:a16="http://schemas.microsoft.com/office/drawing/2014/main" id="{6AFF260F-D41F-10CF-3AB3-B2FAC410D25B}"/>
                </a:ext>
              </a:extLst>
            </p:cNvPr>
            <p:cNvSpPr/>
            <p:nvPr/>
          </p:nvSpPr>
          <p:spPr>
            <a:xfrm>
              <a:off x="0" y="0"/>
              <a:ext cx="1198766" cy="1433761"/>
            </a:xfrm>
            <a:custGeom>
              <a:avLst/>
              <a:gdLst/>
              <a:ahLst/>
              <a:cxnLst/>
              <a:rect l="l" t="t" r="r" b="b"/>
              <a:pathLst>
                <a:path w="1198766" h="1433761">
                  <a:moveTo>
                    <a:pt x="0" y="0"/>
                  </a:moveTo>
                  <a:lnTo>
                    <a:pt x="1198766" y="0"/>
                  </a:lnTo>
                  <a:lnTo>
                    <a:pt x="1198766" y="1433761"/>
                  </a:lnTo>
                  <a:lnTo>
                    <a:pt x="0" y="1433761"/>
                  </a:lnTo>
                  <a:close/>
                </a:path>
              </a:pathLst>
            </a:custGeom>
            <a:solidFill>
              <a:srgbClr val="FFFFFF"/>
            </a:solidFill>
            <a:ln w="66675" cap="sq">
              <a:solidFill>
                <a:srgbClr val="2B485F"/>
              </a:solidFill>
              <a:prstDash val="solid"/>
              <a:miter/>
            </a:ln>
          </p:spPr>
          <p:txBody>
            <a:bodyPr/>
            <a:lstStyle/>
            <a:p>
              <a:endParaRPr lang="de-AT"/>
            </a:p>
          </p:txBody>
        </p:sp>
        <p:sp>
          <p:nvSpPr>
            <p:cNvPr id="19" name="TextBox 19">
              <a:extLst>
                <a:ext uri="{FF2B5EF4-FFF2-40B4-BE49-F238E27FC236}">
                  <a16:creationId xmlns:a16="http://schemas.microsoft.com/office/drawing/2014/main" id="{A7A6E9E1-614F-3D7B-9881-CF9C8EF9F7C8}"/>
                </a:ext>
              </a:extLst>
            </p:cNvPr>
            <p:cNvSpPr txBox="1"/>
            <p:nvPr/>
          </p:nvSpPr>
          <p:spPr>
            <a:xfrm>
              <a:off x="0" y="-38100"/>
              <a:ext cx="1198766" cy="147186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20" name="TextBox 20">
            <a:extLst>
              <a:ext uri="{FF2B5EF4-FFF2-40B4-BE49-F238E27FC236}">
                <a16:creationId xmlns:a16="http://schemas.microsoft.com/office/drawing/2014/main" id="{47DFDC27-F18F-9B4F-343A-C15CFF8279C4}"/>
              </a:ext>
            </a:extLst>
          </p:cNvPr>
          <p:cNvSpPr txBox="1"/>
          <p:nvPr/>
        </p:nvSpPr>
        <p:spPr>
          <a:xfrm>
            <a:off x="1404438" y="4385439"/>
            <a:ext cx="3166627" cy="176516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4759"/>
              </a:lnSpc>
              <a:spcBef>
                <a:spcPct val="0"/>
              </a:spcBef>
            </a:pPr>
            <a:r>
              <a:rPr lang="en-US" sz="2400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Lorem ipsum dolor sit </a:t>
            </a:r>
            <a:r>
              <a:rPr lang="en-US" sz="2400" dirty="0" err="1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amet</a:t>
            </a:r>
            <a:r>
              <a:rPr lang="en-US" sz="2400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, </a:t>
            </a:r>
            <a:r>
              <a:rPr lang="en-US" sz="2400" dirty="0" err="1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consetetur</a:t>
            </a:r>
            <a:r>
              <a:rPr lang="en-US" sz="2400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sadipscing</a:t>
            </a:r>
            <a:r>
              <a:rPr lang="en-US" sz="2400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elitr</a:t>
            </a:r>
            <a:endParaRPr lang="en-US" sz="2400" dirty="0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1" name="TextBox 21">
            <a:extLst>
              <a:ext uri="{FF2B5EF4-FFF2-40B4-BE49-F238E27FC236}">
                <a16:creationId xmlns:a16="http://schemas.microsoft.com/office/drawing/2014/main" id="{7FC97156-24A5-6F79-89D7-B4E6D1C19321}"/>
              </a:ext>
            </a:extLst>
          </p:cNvPr>
          <p:cNvSpPr txBox="1"/>
          <p:nvPr/>
        </p:nvSpPr>
        <p:spPr>
          <a:xfrm>
            <a:off x="2057400" y="3563580"/>
            <a:ext cx="1905000" cy="56412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4759"/>
              </a:lnSpc>
              <a:spcBef>
                <a:spcPct val="0"/>
              </a:spcBef>
            </a:pPr>
            <a:r>
              <a:rPr lang="en-US" sz="3399" b="1" dirty="0">
                <a:solidFill>
                  <a:srgbClr val="000000"/>
                </a:solidFill>
                <a:latin typeface="Inter Bold"/>
                <a:ea typeface="Inter Bold"/>
                <a:cs typeface="Inter Bold"/>
                <a:sym typeface="Inter Bold"/>
              </a:rPr>
              <a:t>Baseline</a:t>
            </a:r>
          </a:p>
        </p:txBody>
      </p:sp>
      <p:sp>
        <p:nvSpPr>
          <p:cNvPr id="22" name="TextBox 22">
            <a:extLst>
              <a:ext uri="{FF2B5EF4-FFF2-40B4-BE49-F238E27FC236}">
                <a16:creationId xmlns:a16="http://schemas.microsoft.com/office/drawing/2014/main" id="{B107C353-44D3-7582-07EA-A06649BFCF25}"/>
              </a:ext>
            </a:extLst>
          </p:cNvPr>
          <p:cNvSpPr txBox="1"/>
          <p:nvPr/>
        </p:nvSpPr>
        <p:spPr>
          <a:xfrm>
            <a:off x="5867400" y="3563580"/>
            <a:ext cx="2322635" cy="57180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4759"/>
              </a:lnSpc>
              <a:spcBef>
                <a:spcPct val="0"/>
              </a:spcBef>
            </a:pPr>
            <a:r>
              <a:rPr lang="en-US" sz="3399" b="1" dirty="0">
                <a:solidFill>
                  <a:srgbClr val="000000"/>
                </a:solidFill>
                <a:latin typeface="Inter Bold"/>
                <a:ea typeface="Inter Bold"/>
                <a:cs typeface="Inter Bold"/>
                <a:sym typeface="Inter Bold"/>
              </a:rPr>
              <a:t>Statistical</a:t>
            </a:r>
          </a:p>
        </p:txBody>
      </p:sp>
      <p:sp>
        <p:nvSpPr>
          <p:cNvPr id="23" name="TextBox 23">
            <a:extLst>
              <a:ext uri="{FF2B5EF4-FFF2-40B4-BE49-F238E27FC236}">
                <a16:creationId xmlns:a16="http://schemas.microsoft.com/office/drawing/2014/main" id="{1EBE0122-AC6B-247A-2321-DDBA29B424AF}"/>
              </a:ext>
            </a:extLst>
          </p:cNvPr>
          <p:cNvSpPr txBox="1"/>
          <p:nvPr/>
        </p:nvSpPr>
        <p:spPr>
          <a:xfrm>
            <a:off x="5545742" y="4385439"/>
            <a:ext cx="3065620" cy="176516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4759"/>
              </a:lnSpc>
              <a:spcBef>
                <a:spcPct val="0"/>
              </a:spcBef>
            </a:pPr>
            <a:r>
              <a:rPr lang="en-US" sz="2400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Lorem ipsum dolor sit </a:t>
            </a:r>
            <a:r>
              <a:rPr lang="en-US" sz="2400" dirty="0" err="1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amet</a:t>
            </a:r>
            <a:r>
              <a:rPr lang="en-US" sz="2400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, </a:t>
            </a:r>
            <a:r>
              <a:rPr lang="en-US" sz="2400" dirty="0" err="1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consetetur</a:t>
            </a:r>
            <a:r>
              <a:rPr lang="en-US" sz="2400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sadipscing</a:t>
            </a:r>
            <a:r>
              <a:rPr lang="en-US" sz="2400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elitr</a:t>
            </a:r>
            <a:endParaRPr lang="en-US" sz="2400" dirty="0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5CE30C97-35DA-6A25-1B84-7C603B5903F0}"/>
              </a:ext>
            </a:extLst>
          </p:cNvPr>
          <p:cNvSpPr txBox="1"/>
          <p:nvPr/>
        </p:nvSpPr>
        <p:spPr>
          <a:xfrm>
            <a:off x="10153284" y="3563580"/>
            <a:ext cx="1752132" cy="57180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4759"/>
              </a:lnSpc>
              <a:spcBef>
                <a:spcPct val="0"/>
              </a:spcBef>
            </a:pPr>
            <a:r>
              <a:rPr lang="en-US" sz="3399" b="1" dirty="0">
                <a:solidFill>
                  <a:srgbClr val="000000"/>
                </a:solidFill>
                <a:latin typeface="Inter Bold"/>
                <a:ea typeface="Inter Bold"/>
                <a:cs typeface="Inter Bold"/>
                <a:sym typeface="Inter Bold"/>
              </a:rPr>
              <a:t>ML</a:t>
            </a:r>
          </a:p>
        </p:txBody>
      </p:sp>
      <p:grpSp>
        <p:nvGrpSpPr>
          <p:cNvPr id="26" name="Group 26">
            <a:extLst>
              <a:ext uri="{FF2B5EF4-FFF2-40B4-BE49-F238E27FC236}">
                <a16:creationId xmlns:a16="http://schemas.microsoft.com/office/drawing/2014/main" id="{0DD8BA98-BCF2-96FA-E733-56112F1BB3E5}"/>
              </a:ext>
            </a:extLst>
          </p:cNvPr>
          <p:cNvGrpSpPr/>
          <p:nvPr/>
        </p:nvGrpSpPr>
        <p:grpSpPr>
          <a:xfrm>
            <a:off x="-762000" y="1363882"/>
            <a:ext cx="10729641" cy="990272"/>
            <a:chOff x="0" y="0"/>
            <a:chExt cx="5136921" cy="653141"/>
          </a:xfrm>
        </p:grpSpPr>
        <p:sp>
          <p:nvSpPr>
            <p:cNvPr id="27" name="Freeform 27">
              <a:extLst>
                <a:ext uri="{FF2B5EF4-FFF2-40B4-BE49-F238E27FC236}">
                  <a16:creationId xmlns:a16="http://schemas.microsoft.com/office/drawing/2014/main" id="{0F68A5A0-D4F8-A8D2-8A8A-AE866F3F2FD8}"/>
                </a:ext>
              </a:extLst>
            </p:cNvPr>
            <p:cNvSpPr/>
            <p:nvPr/>
          </p:nvSpPr>
          <p:spPr>
            <a:xfrm>
              <a:off x="0" y="0"/>
              <a:ext cx="5136921" cy="653141"/>
            </a:xfrm>
            <a:custGeom>
              <a:avLst/>
              <a:gdLst/>
              <a:ahLst/>
              <a:cxnLst/>
              <a:rect l="l" t="t" r="r" b="b"/>
              <a:pathLst>
                <a:path w="5136921" h="653141">
                  <a:moveTo>
                    <a:pt x="4933721" y="0"/>
                  </a:moveTo>
                  <a:lnTo>
                    <a:pt x="0" y="0"/>
                  </a:lnTo>
                  <a:lnTo>
                    <a:pt x="0" y="653141"/>
                  </a:lnTo>
                  <a:lnTo>
                    <a:pt x="4933721" y="653141"/>
                  </a:lnTo>
                  <a:lnTo>
                    <a:pt x="5136921" y="326570"/>
                  </a:lnTo>
                  <a:lnTo>
                    <a:pt x="4933721" y="0"/>
                  </a:lnTo>
                  <a:close/>
                </a:path>
              </a:pathLst>
            </a:custGeom>
            <a:solidFill>
              <a:srgbClr val="2B485F"/>
            </a:solidFill>
          </p:spPr>
          <p:txBody>
            <a:bodyPr/>
            <a:lstStyle/>
            <a:p>
              <a:endParaRPr lang="de-AT"/>
            </a:p>
          </p:txBody>
        </p:sp>
        <p:sp>
          <p:nvSpPr>
            <p:cNvPr id="28" name="TextBox 28">
              <a:extLst>
                <a:ext uri="{FF2B5EF4-FFF2-40B4-BE49-F238E27FC236}">
                  <a16:creationId xmlns:a16="http://schemas.microsoft.com/office/drawing/2014/main" id="{12403A54-DFC0-A694-7018-E289CD04962F}"/>
                </a:ext>
              </a:extLst>
            </p:cNvPr>
            <p:cNvSpPr txBox="1"/>
            <p:nvPr/>
          </p:nvSpPr>
          <p:spPr>
            <a:xfrm>
              <a:off x="0" y="-38100"/>
              <a:ext cx="5022621" cy="69124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29" name="TextBox 29">
            <a:extLst>
              <a:ext uri="{FF2B5EF4-FFF2-40B4-BE49-F238E27FC236}">
                <a16:creationId xmlns:a16="http://schemas.microsoft.com/office/drawing/2014/main" id="{A72DB091-2803-3D41-74C6-780D0D572296}"/>
              </a:ext>
            </a:extLst>
          </p:cNvPr>
          <p:cNvSpPr txBox="1"/>
          <p:nvPr/>
        </p:nvSpPr>
        <p:spPr>
          <a:xfrm>
            <a:off x="-392105" y="1411014"/>
            <a:ext cx="10240375" cy="91563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7420"/>
              </a:lnSpc>
              <a:spcBef>
                <a:spcPct val="0"/>
              </a:spcBef>
            </a:pPr>
            <a:r>
              <a:rPr lang="en-US" sz="5300" dirty="0">
                <a:solidFill>
                  <a:srgbClr val="FFFFFF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Model Evaluations</a:t>
            </a:r>
          </a:p>
        </p:txBody>
      </p:sp>
      <p:sp>
        <p:nvSpPr>
          <p:cNvPr id="30" name="TextBox 30">
            <a:extLst>
              <a:ext uri="{FF2B5EF4-FFF2-40B4-BE49-F238E27FC236}">
                <a16:creationId xmlns:a16="http://schemas.microsoft.com/office/drawing/2014/main" id="{879039C0-0B68-91E3-944C-1FA677C8F390}"/>
              </a:ext>
            </a:extLst>
          </p:cNvPr>
          <p:cNvSpPr txBox="1"/>
          <p:nvPr/>
        </p:nvSpPr>
        <p:spPr>
          <a:xfrm>
            <a:off x="12695334" y="715962"/>
            <a:ext cx="4563966" cy="83542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3360"/>
              </a:lnSpc>
              <a:spcBef>
                <a:spcPct val="0"/>
              </a:spcBef>
            </a:pPr>
            <a:r>
              <a:rPr lang="en-US" sz="2400" b="1" dirty="0" err="1">
                <a:solidFill>
                  <a:srgbClr val="2B485F"/>
                </a:solidFill>
                <a:latin typeface="Inter Bold"/>
                <a:ea typeface="Inter Bold"/>
                <a:cs typeface="Inter Bold"/>
                <a:sym typeface="Inter Bold"/>
              </a:rPr>
              <a:t>Broadsoft</a:t>
            </a:r>
            <a:r>
              <a:rPr lang="en-US" sz="2400" b="1" dirty="0">
                <a:solidFill>
                  <a:srgbClr val="2B485F"/>
                </a:solidFill>
                <a:latin typeface="Inter Bold"/>
                <a:ea typeface="Inter Bold"/>
                <a:cs typeface="Inter Bold"/>
                <a:sym typeface="Inter Bold"/>
              </a:rPr>
              <a:t> Consulting Company</a:t>
            </a:r>
          </a:p>
        </p:txBody>
      </p:sp>
      <p:sp>
        <p:nvSpPr>
          <p:cNvPr id="31" name="AutoShape 31">
            <a:extLst>
              <a:ext uri="{FF2B5EF4-FFF2-40B4-BE49-F238E27FC236}">
                <a16:creationId xmlns:a16="http://schemas.microsoft.com/office/drawing/2014/main" id="{2226ECE4-0762-98C3-7BC2-4E226843FBA1}"/>
              </a:ext>
            </a:extLst>
          </p:cNvPr>
          <p:cNvSpPr/>
          <p:nvPr/>
        </p:nvSpPr>
        <p:spPr>
          <a:xfrm>
            <a:off x="17675977" y="961707"/>
            <a:ext cx="3956611" cy="0"/>
          </a:xfrm>
          <a:prstGeom prst="line">
            <a:avLst/>
          </a:prstGeom>
          <a:ln w="38100" cap="flat">
            <a:solidFill>
              <a:srgbClr val="2B485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de-AT"/>
          </a:p>
        </p:txBody>
      </p:sp>
      <p:grpSp>
        <p:nvGrpSpPr>
          <p:cNvPr id="32" name="Group 8">
            <a:extLst>
              <a:ext uri="{FF2B5EF4-FFF2-40B4-BE49-F238E27FC236}">
                <a16:creationId xmlns:a16="http://schemas.microsoft.com/office/drawing/2014/main" id="{01781487-0329-4AA5-3B2F-284FA525E255}"/>
              </a:ext>
            </a:extLst>
          </p:cNvPr>
          <p:cNvGrpSpPr/>
          <p:nvPr/>
        </p:nvGrpSpPr>
        <p:grpSpPr>
          <a:xfrm>
            <a:off x="13659131" y="3380524"/>
            <a:ext cx="3447216" cy="6584660"/>
            <a:chOff x="0" y="0"/>
            <a:chExt cx="1198766" cy="1433761"/>
          </a:xfrm>
        </p:grpSpPr>
        <p:sp>
          <p:nvSpPr>
            <p:cNvPr id="33" name="Freeform 9">
              <a:extLst>
                <a:ext uri="{FF2B5EF4-FFF2-40B4-BE49-F238E27FC236}">
                  <a16:creationId xmlns:a16="http://schemas.microsoft.com/office/drawing/2014/main" id="{F9CE1DE3-38AA-A23A-0B4D-C65A2B0B50C3}"/>
                </a:ext>
              </a:extLst>
            </p:cNvPr>
            <p:cNvSpPr/>
            <p:nvPr/>
          </p:nvSpPr>
          <p:spPr>
            <a:xfrm>
              <a:off x="0" y="0"/>
              <a:ext cx="1198766" cy="1433761"/>
            </a:xfrm>
            <a:custGeom>
              <a:avLst/>
              <a:gdLst/>
              <a:ahLst/>
              <a:cxnLst/>
              <a:rect l="l" t="t" r="r" b="b"/>
              <a:pathLst>
                <a:path w="1198766" h="1433761">
                  <a:moveTo>
                    <a:pt x="0" y="0"/>
                  </a:moveTo>
                  <a:lnTo>
                    <a:pt x="1198766" y="0"/>
                  </a:lnTo>
                  <a:lnTo>
                    <a:pt x="1198766" y="1433761"/>
                  </a:lnTo>
                  <a:lnTo>
                    <a:pt x="0" y="1433761"/>
                  </a:lnTo>
                  <a:close/>
                </a:path>
              </a:pathLst>
            </a:custGeom>
            <a:solidFill>
              <a:srgbClr val="598196"/>
            </a:solidFill>
            <a:ln w="66675" cap="sq">
              <a:solidFill>
                <a:srgbClr val="2B485F"/>
              </a:solidFill>
              <a:prstDash val="solid"/>
              <a:miter/>
            </a:ln>
          </p:spPr>
          <p:txBody>
            <a:bodyPr/>
            <a:lstStyle/>
            <a:p>
              <a:endParaRPr lang="de-AT"/>
            </a:p>
          </p:txBody>
        </p:sp>
        <p:sp>
          <p:nvSpPr>
            <p:cNvPr id="34" name="TextBox 10">
              <a:extLst>
                <a:ext uri="{FF2B5EF4-FFF2-40B4-BE49-F238E27FC236}">
                  <a16:creationId xmlns:a16="http://schemas.microsoft.com/office/drawing/2014/main" id="{11BF896F-9DB5-65D2-17B6-E62686F2270D}"/>
                </a:ext>
              </a:extLst>
            </p:cNvPr>
            <p:cNvSpPr txBox="1"/>
            <p:nvPr/>
          </p:nvSpPr>
          <p:spPr>
            <a:xfrm>
              <a:off x="0" y="-38100"/>
              <a:ext cx="1198766" cy="147186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35" name="Group 17">
            <a:extLst>
              <a:ext uri="{FF2B5EF4-FFF2-40B4-BE49-F238E27FC236}">
                <a16:creationId xmlns:a16="http://schemas.microsoft.com/office/drawing/2014/main" id="{FF27E7D8-4064-89BF-5650-D4EDEAF7BD82}"/>
              </a:ext>
            </a:extLst>
          </p:cNvPr>
          <p:cNvGrpSpPr/>
          <p:nvPr/>
        </p:nvGrpSpPr>
        <p:grpSpPr>
          <a:xfrm>
            <a:off x="13506731" y="3228124"/>
            <a:ext cx="3447216" cy="6584660"/>
            <a:chOff x="0" y="0"/>
            <a:chExt cx="1198766" cy="1433761"/>
          </a:xfrm>
        </p:grpSpPr>
        <p:sp>
          <p:nvSpPr>
            <p:cNvPr id="36" name="Freeform 18">
              <a:extLst>
                <a:ext uri="{FF2B5EF4-FFF2-40B4-BE49-F238E27FC236}">
                  <a16:creationId xmlns:a16="http://schemas.microsoft.com/office/drawing/2014/main" id="{98B6B682-9A39-5D78-096C-D4B5DE9BA20B}"/>
                </a:ext>
              </a:extLst>
            </p:cNvPr>
            <p:cNvSpPr/>
            <p:nvPr/>
          </p:nvSpPr>
          <p:spPr>
            <a:xfrm>
              <a:off x="0" y="0"/>
              <a:ext cx="1198766" cy="1433761"/>
            </a:xfrm>
            <a:custGeom>
              <a:avLst/>
              <a:gdLst/>
              <a:ahLst/>
              <a:cxnLst/>
              <a:rect l="l" t="t" r="r" b="b"/>
              <a:pathLst>
                <a:path w="1198766" h="1433761">
                  <a:moveTo>
                    <a:pt x="0" y="0"/>
                  </a:moveTo>
                  <a:lnTo>
                    <a:pt x="1198766" y="0"/>
                  </a:lnTo>
                  <a:lnTo>
                    <a:pt x="1198766" y="1433761"/>
                  </a:lnTo>
                  <a:lnTo>
                    <a:pt x="0" y="1433761"/>
                  </a:lnTo>
                  <a:close/>
                </a:path>
              </a:pathLst>
            </a:custGeom>
            <a:solidFill>
              <a:srgbClr val="FFFFFF"/>
            </a:solidFill>
            <a:ln w="66675" cap="sq">
              <a:solidFill>
                <a:srgbClr val="2B485F"/>
              </a:solidFill>
              <a:prstDash val="solid"/>
              <a:miter/>
            </a:ln>
          </p:spPr>
          <p:txBody>
            <a:bodyPr/>
            <a:lstStyle/>
            <a:p>
              <a:endParaRPr lang="de-AT"/>
            </a:p>
          </p:txBody>
        </p:sp>
        <p:sp>
          <p:nvSpPr>
            <p:cNvPr id="37" name="TextBox 19">
              <a:extLst>
                <a:ext uri="{FF2B5EF4-FFF2-40B4-BE49-F238E27FC236}">
                  <a16:creationId xmlns:a16="http://schemas.microsoft.com/office/drawing/2014/main" id="{FC678AD9-0E19-1469-038C-BF9BB7231915}"/>
                </a:ext>
              </a:extLst>
            </p:cNvPr>
            <p:cNvSpPr txBox="1"/>
            <p:nvPr/>
          </p:nvSpPr>
          <p:spPr>
            <a:xfrm>
              <a:off x="0" y="-38100"/>
              <a:ext cx="1198766" cy="147186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38" name="TextBox 24">
            <a:extLst>
              <a:ext uri="{FF2B5EF4-FFF2-40B4-BE49-F238E27FC236}">
                <a16:creationId xmlns:a16="http://schemas.microsoft.com/office/drawing/2014/main" id="{7DAE03B2-329F-3694-7446-9BE4D7B99416}"/>
              </a:ext>
            </a:extLst>
          </p:cNvPr>
          <p:cNvSpPr txBox="1"/>
          <p:nvPr/>
        </p:nvSpPr>
        <p:spPr>
          <a:xfrm>
            <a:off x="14249868" y="3584664"/>
            <a:ext cx="1752132" cy="57180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4759"/>
              </a:lnSpc>
              <a:spcBef>
                <a:spcPct val="0"/>
              </a:spcBef>
            </a:pPr>
            <a:r>
              <a:rPr lang="en-US" sz="3399" b="1" dirty="0">
                <a:solidFill>
                  <a:srgbClr val="000000"/>
                </a:solidFill>
                <a:latin typeface="Inter Bold"/>
                <a:ea typeface="Inter Bold"/>
                <a:cs typeface="Inter Bold"/>
                <a:sym typeface="Inter Bold"/>
              </a:rPr>
              <a:t>Neural</a:t>
            </a:r>
          </a:p>
        </p:txBody>
      </p:sp>
      <p:sp>
        <p:nvSpPr>
          <p:cNvPr id="40" name="TextBox 23">
            <a:extLst>
              <a:ext uri="{FF2B5EF4-FFF2-40B4-BE49-F238E27FC236}">
                <a16:creationId xmlns:a16="http://schemas.microsoft.com/office/drawing/2014/main" id="{2D854885-6BCD-FB0F-6CBD-1C92C7ECD7FF}"/>
              </a:ext>
            </a:extLst>
          </p:cNvPr>
          <p:cNvSpPr txBox="1"/>
          <p:nvPr/>
        </p:nvSpPr>
        <p:spPr>
          <a:xfrm>
            <a:off x="9581321" y="4385439"/>
            <a:ext cx="3065620" cy="176516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4759"/>
              </a:lnSpc>
              <a:spcBef>
                <a:spcPct val="0"/>
              </a:spcBef>
            </a:pPr>
            <a:r>
              <a:rPr lang="en-US" sz="2400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Lorem ipsum dolor sit </a:t>
            </a:r>
            <a:r>
              <a:rPr lang="en-US" sz="2400" dirty="0" err="1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amet</a:t>
            </a:r>
            <a:r>
              <a:rPr lang="en-US" sz="2400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, </a:t>
            </a:r>
            <a:r>
              <a:rPr lang="en-US" sz="2400" dirty="0" err="1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consetetur</a:t>
            </a:r>
            <a:r>
              <a:rPr lang="en-US" sz="2400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sadipscing</a:t>
            </a:r>
            <a:r>
              <a:rPr lang="en-US" sz="2400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elitr</a:t>
            </a:r>
            <a:endParaRPr lang="en-US" sz="2400" dirty="0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41" name="TextBox 23">
            <a:extLst>
              <a:ext uri="{FF2B5EF4-FFF2-40B4-BE49-F238E27FC236}">
                <a16:creationId xmlns:a16="http://schemas.microsoft.com/office/drawing/2014/main" id="{47F4C3D2-784D-17FF-51B9-60181D34FAC5}"/>
              </a:ext>
            </a:extLst>
          </p:cNvPr>
          <p:cNvSpPr txBox="1"/>
          <p:nvPr/>
        </p:nvSpPr>
        <p:spPr>
          <a:xfrm>
            <a:off x="13697529" y="4385439"/>
            <a:ext cx="3065620" cy="176516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4759"/>
              </a:lnSpc>
              <a:spcBef>
                <a:spcPct val="0"/>
              </a:spcBef>
            </a:pPr>
            <a:r>
              <a:rPr lang="en-US" sz="2400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Lorem ipsum dolor sit </a:t>
            </a:r>
            <a:r>
              <a:rPr lang="en-US" sz="2400" dirty="0" err="1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amet</a:t>
            </a:r>
            <a:r>
              <a:rPr lang="en-US" sz="2400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, </a:t>
            </a:r>
            <a:r>
              <a:rPr lang="en-US" sz="2400" dirty="0" err="1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consetetur</a:t>
            </a:r>
            <a:r>
              <a:rPr lang="en-US" sz="2400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sadipscing</a:t>
            </a:r>
            <a:r>
              <a:rPr lang="en-US" sz="2400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elitr</a:t>
            </a:r>
            <a:endParaRPr lang="en-US" sz="2400" dirty="0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</p:spTree>
    <p:extLst>
      <p:ext uri="{BB962C8B-B14F-4D97-AF65-F5344CB8AC3E}">
        <p14:creationId xmlns:p14="http://schemas.microsoft.com/office/powerpoint/2010/main" val="87352706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5400000">
            <a:off x="10800013" y="1666399"/>
            <a:ext cx="455966" cy="1203911"/>
          </a:xfrm>
          <a:custGeom>
            <a:avLst/>
            <a:gdLst/>
            <a:ahLst/>
            <a:cxnLst/>
            <a:rect l="l" t="t" r="r" b="b"/>
            <a:pathLst>
              <a:path w="455966" h="1203911">
                <a:moveTo>
                  <a:pt x="0" y="0"/>
                </a:moveTo>
                <a:lnTo>
                  <a:pt x="455966" y="0"/>
                </a:lnTo>
                <a:lnTo>
                  <a:pt x="455966" y="1203910"/>
                </a:lnTo>
                <a:lnTo>
                  <a:pt x="0" y="120391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de-AT"/>
          </a:p>
        </p:txBody>
      </p:sp>
      <p:grpSp>
        <p:nvGrpSpPr>
          <p:cNvPr id="3" name="Group 3"/>
          <p:cNvGrpSpPr/>
          <p:nvPr/>
        </p:nvGrpSpPr>
        <p:grpSpPr>
          <a:xfrm>
            <a:off x="7467600" y="2933700"/>
            <a:ext cx="8572500" cy="6515100"/>
            <a:chOff x="0" y="0"/>
            <a:chExt cx="8308405" cy="10691528"/>
          </a:xfrm>
        </p:grpSpPr>
        <p:pic>
          <p:nvPicPr>
            <p:cNvPr id="4" name="Picture 4"/>
            <p:cNvPicPr>
              <a:picLocks noChangeAspect="1"/>
            </p:cNvPicPr>
            <p:nvPr/>
          </p:nvPicPr>
          <p:blipFill>
            <a:blip r:embed="rId4"/>
            <a:srcRect t="7132" b="7132"/>
            <a:stretch>
              <a:fillRect/>
            </a:stretch>
          </p:blipFill>
          <p:spPr>
            <a:xfrm>
              <a:off x="0" y="0"/>
              <a:ext cx="8308405" cy="10691528"/>
            </a:xfrm>
            <a:prstGeom prst="rect">
              <a:avLst/>
            </a:prstGeom>
          </p:spPr>
        </p:pic>
      </p:grpSp>
      <p:sp>
        <p:nvSpPr>
          <p:cNvPr id="5" name="AutoShape 5"/>
          <p:cNvSpPr/>
          <p:nvPr/>
        </p:nvSpPr>
        <p:spPr>
          <a:xfrm>
            <a:off x="17675977" y="961707"/>
            <a:ext cx="3956611" cy="0"/>
          </a:xfrm>
          <a:prstGeom prst="line">
            <a:avLst/>
          </a:prstGeom>
          <a:ln w="38100" cap="flat">
            <a:solidFill>
              <a:srgbClr val="2B485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de-AT"/>
          </a:p>
        </p:txBody>
      </p:sp>
      <p:grpSp>
        <p:nvGrpSpPr>
          <p:cNvPr id="6" name="Group 6"/>
          <p:cNvGrpSpPr/>
          <p:nvPr/>
        </p:nvGrpSpPr>
        <p:grpSpPr>
          <a:xfrm>
            <a:off x="-1197824" y="1878992"/>
            <a:ext cx="7484172" cy="1577554"/>
            <a:chOff x="0" y="0"/>
            <a:chExt cx="2418659" cy="653141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2418659" cy="653141"/>
            </a:xfrm>
            <a:custGeom>
              <a:avLst/>
              <a:gdLst/>
              <a:ahLst/>
              <a:cxnLst/>
              <a:rect l="l" t="t" r="r" b="b"/>
              <a:pathLst>
                <a:path w="2418659" h="653141">
                  <a:moveTo>
                    <a:pt x="2215459" y="0"/>
                  </a:moveTo>
                  <a:lnTo>
                    <a:pt x="0" y="0"/>
                  </a:lnTo>
                  <a:lnTo>
                    <a:pt x="0" y="653141"/>
                  </a:lnTo>
                  <a:lnTo>
                    <a:pt x="2215459" y="653141"/>
                  </a:lnTo>
                  <a:lnTo>
                    <a:pt x="2418659" y="326570"/>
                  </a:lnTo>
                  <a:lnTo>
                    <a:pt x="2215459" y="0"/>
                  </a:lnTo>
                  <a:close/>
                </a:path>
              </a:pathLst>
            </a:custGeom>
            <a:solidFill>
              <a:srgbClr val="2B485F"/>
            </a:solidFill>
          </p:spPr>
          <p:txBody>
            <a:bodyPr/>
            <a:lstStyle/>
            <a:p>
              <a:endParaRPr lang="de-AT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38100"/>
              <a:ext cx="2304359" cy="69124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0" name="TextBox 10"/>
          <p:cNvSpPr txBox="1"/>
          <p:nvPr/>
        </p:nvSpPr>
        <p:spPr>
          <a:xfrm>
            <a:off x="12695334" y="715962"/>
            <a:ext cx="4563966" cy="83542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3360"/>
              </a:lnSpc>
              <a:spcBef>
                <a:spcPct val="0"/>
              </a:spcBef>
            </a:pPr>
            <a:r>
              <a:rPr lang="en-US" sz="2400" b="1" dirty="0" err="1">
                <a:solidFill>
                  <a:srgbClr val="2B485F"/>
                </a:solidFill>
                <a:latin typeface="Inter Bold"/>
                <a:ea typeface="Inter Bold"/>
                <a:cs typeface="Inter Bold"/>
                <a:sym typeface="Inter Bold"/>
              </a:rPr>
              <a:t>Broadsoft</a:t>
            </a:r>
            <a:r>
              <a:rPr lang="en-US" sz="2400" b="1" dirty="0">
                <a:solidFill>
                  <a:srgbClr val="2B485F"/>
                </a:solidFill>
                <a:latin typeface="Inter Bold"/>
                <a:ea typeface="Inter Bold"/>
                <a:cs typeface="Inter Bold"/>
                <a:sym typeface="Inter Bold"/>
              </a:rPr>
              <a:t> Consulting Company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685800" y="2209951"/>
            <a:ext cx="7484172" cy="9156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420"/>
              </a:lnSpc>
              <a:spcBef>
                <a:spcPct val="0"/>
              </a:spcBef>
            </a:pPr>
            <a:r>
              <a:rPr lang="en-US" sz="5300" dirty="0">
                <a:solidFill>
                  <a:srgbClr val="FFFFFF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Forecast</a:t>
            </a:r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E9A02C84-397E-895E-28BD-4DE6CEB79017}"/>
              </a:ext>
            </a:extLst>
          </p:cNvPr>
          <p:cNvSpPr txBox="1"/>
          <p:nvPr/>
        </p:nvSpPr>
        <p:spPr>
          <a:xfrm>
            <a:off x="685800" y="4381500"/>
            <a:ext cx="5791200" cy="4833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 algn="just">
              <a:lnSpc>
                <a:spcPts val="3359"/>
              </a:lnSpc>
              <a:spcBef>
                <a:spcPct val="0"/>
              </a:spcBef>
              <a:buFontTx/>
              <a:buChar char="-"/>
            </a:pPr>
            <a:r>
              <a:rPr lang="en-US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Lorem ipsum dolor sit </a:t>
            </a:r>
            <a:r>
              <a:rPr lang="en-US" dirty="0" err="1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amet</a:t>
            </a:r>
            <a:r>
              <a:rPr lang="en-US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, </a:t>
            </a:r>
            <a:r>
              <a:rPr lang="en-US" dirty="0" err="1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consetetur</a:t>
            </a:r>
            <a:r>
              <a:rPr lang="en-US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sadipscing</a:t>
            </a:r>
            <a:r>
              <a:rPr lang="en-US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elitr</a:t>
            </a:r>
            <a:r>
              <a:rPr lang="en-US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, sed diam </a:t>
            </a:r>
            <a:r>
              <a:rPr lang="en-US" dirty="0" err="1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nonumy</a:t>
            </a:r>
            <a:r>
              <a:rPr lang="en-US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eirmod</a:t>
            </a:r>
            <a:r>
              <a:rPr lang="en-US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tempor</a:t>
            </a:r>
            <a:r>
              <a:rPr lang="en-US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invidunt</a:t>
            </a:r>
            <a:r>
              <a:rPr lang="en-US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ut</a:t>
            </a:r>
            <a:r>
              <a:rPr lang="en-US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 labore et dolore magna </a:t>
            </a:r>
            <a:r>
              <a:rPr lang="en-US" dirty="0" err="1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aliquyam</a:t>
            </a:r>
            <a:r>
              <a:rPr lang="en-US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erat</a:t>
            </a:r>
            <a:r>
              <a:rPr lang="en-US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, sed diam </a:t>
            </a:r>
            <a:r>
              <a:rPr lang="en-US" dirty="0" err="1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voluptua</a:t>
            </a:r>
            <a:r>
              <a:rPr lang="en-US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. At </a:t>
            </a:r>
            <a:r>
              <a:rPr lang="en-US" dirty="0" err="1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vero</a:t>
            </a:r>
            <a:r>
              <a:rPr lang="en-US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eos</a:t>
            </a:r>
            <a:r>
              <a:rPr lang="en-US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 et </a:t>
            </a:r>
            <a:r>
              <a:rPr lang="en-US" dirty="0" err="1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accusam</a:t>
            </a:r>
            <a:r>
              <a:rPr lang="en-US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 et </a:t>
            </a:r>
            <a:r>
              <a:rPr lang="en-US" dirty="0" err="1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justo</a:t>
            </a:r>
            <a:r>
              <a:rPr lang="en-US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 duo </a:t>
            </a:r>
            <a:r>
              <a:rPr lang="en-US" dirty="0" err="1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dolores</a:t>
            </a:r>
            <a:r>
              <a:rPr lang="en-US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 et </a:t>
            </a:r>
            <a:r>
              <a:rPr lang="en-US" dirty="0" err="1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ea</a:t>
            </a:r>
            <a:r>
              <a:rPr lang="en-US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rebum</a:t>
            </a:r>
            <a:r>
              <a:rPr lang="en-US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. Stet </a:t>
            </a:r>
            <a:r>
              <a:rPr lang="en-US" dirty="0" err="1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clita</a:t>
            </a:r>
            <a:r>
              <a:rPr lang="en-US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kasd</a:t>
            </a:r>
            <a:r>
              <a:rPr lang="en-US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gubergren</a:t>
            </a:r>
            <a:r>
              <a:rPr lang="en-US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, no sea </a:t>
            </a:r>
            <a:r>
              <a:rPr lang="en-US" dirty="0" err="1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takimata</a:t>
            </a:r>
            <a:r>
              <a:rPr lang="en-US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sanctus</a:t>
            </a:r>
            <a:r>
              <a:rPr lang="en-US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 est Lorem ipsum dolor sit </a:t>
            </a:r>
            <a:r>
              <a:rPr lang="en-US" dirty="0" err="1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amet</a:t>
            </a:r>
            <a:r>
              <a:rPr lang="en-US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. Lorem ipsum dolor sit </a:t>
            </a:r>
            <a:r>
              <a:rPr lang="en-US" dirty="0" err="1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amet</a:t>
            </a:r>
            <a:r>
              <a:rPr lang="en-US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, </a:t>
            </a:r>
            <a:r>
              <a:rPr lang="en-US" dirty="0" err="1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consetetur</a:t>
            </a:r>
            <a:r>
              <a:rPr lang="en-US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sadipscing</a:t>
            </a:r>
            <a:r>
              <a:rPr lang="en-US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elitr</a:t>
            </a:r>
            <a:r>
              <a:rPr lang="en-US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, sed diam </a:t>
            </a:r>
            <a:r>
              <a:rPr lang="en-US" dirty="0" err="1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nonumy</a:t>
            </a:r>
            <a:r>
              <a:rPr lang="en-US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eirmod</a:t>
            </a:r>
            <a:r>
              <a:rPr lang="en-US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tempor</a:t>
            </a:r>
            <a:r>
              <a:rPr lang="en-US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invidunt</a:t>
            </a:r>
            <a:r>
              <a:rPr lang="en-US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ut</a:t>
            </a:r>
            <a:r>
              <a:rPr lang="en-US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 labore et dolore magna </a:t>
            </a:r>
            <a:r>
              <a:rPr lang="en-US" dirty="0" err="1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aliquyam</a:t>
            </a:r>
            <a:r>
              <a:rPr lang="en-US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erat</a:t>
            </a:r>
            <a:r>
              <a:rPr lang="en-US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, sed diam </a:t>
            </a:r>
            <a:r>
              <a:rPr lang="en-US" dirty="0" err="1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voluptua</a:t>
            </a:r>
            <a:r>
              <a:rPr lang="en-US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. </a:t>
            </a:r>
            <a:endParaRPr lang="en-US" sz="1800" dirty="0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1197824" y="1878992"/>
            <a:ext cx="5841871" cy="1577554"/>
            <a:chOff x="0" y="0"/>
            <a:chExt cx="2418659" cy="653141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18659" cy="653141"/>
            </a:xfrm>
            <a:custGeom>
              <a:avLst/>
              <a:gdLst/>
              <a:ahLst/>
              <a:cxnLst/>
              <a:rect l="l" t="t" r="r" b="b"/>
              <a:pathLst>
                <a:path w="2418659" h="653141">
                  <a:moveTo>
                    <a:pt x="2215459" y="0"/>
                  </a:moveTo>
                  <a:lnTo>
                    <a:pt x="0" y="0"/>
                  </a:lnTo>
                  <a:lnTo>
                    <a:pt x="0" y="653141"/>
                  </a:lnTo>
                  <a:lnTo>
                    <a:pt x="2215459" y="653141"/>
                  </a:lnTo>
                  <a:lnTo>
                    <a:pt x="2418659" y="326570"/>
                  </a:lnTo>
                  <a:lnTo>
                    <a:pt x="2215459" y="0"/>
                  </a:lnTo>
                  <a:close/>
                </a:path>
              </a:pathLst>
            </a:custGeom>
            <a:solidFill>
              <a:srgbClr val="2B485F"/>
            </a:solidFill>
          </p:spPr>
          <p:txBody>
            <a:bodyPr/>
            <a:lstStyle/>
            <a:p>
              <a:endParaRPr lang="de-AT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2304359" cy="69124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5" name="AutoShape 5"/>
          <p:cNvSpPr/>
          <p:nvPr/>
        </p:nvSpPr>
        <p:spPr>
          <a:xfrm>
            <a:off x="17675977" y="961707"/>
            <a:ext cx="3956611" cy="0"/>
          </a:xfrm>
          <a:prstGeom prst="line">
            <a:avLst/>
          </a:prstGeom>
          <a:ln w="38100" cap="flat">
            <a:solidFill>
              <a:srgbClr val="2B485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de-AT"/>
          </a:p>
        </p:txBody>
      </p:sp>
      <p:grpSp>
        <p:nvGrpSpPr>
          <p:cNvPr id="6" name="Group 6"/>
          <p:cNvGrpSpPr/>
          <p:nvPr/>
        </p:nvGrpSpPr>
        <p:grpSpPr>
          <a:xfrm rot="5400000">
            <a:off x="11107550" y="7457624"/>
            <a:ext cx="5518901" cy="3601352"/>
            <a:chOff x="0" y="0"/>
            <a:chExt cx="1000907" cy="653141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000907" cy="653141"/>
            </a:xfrm>
            <a:custGeom>
              <a:avLst/>
              <a:gdLst/>
              <a:ahLst/>
              <a:cxnLst/>
              <a:rect l="l" t="t" r="r" b="b"/>
              <a:pathLst>
                <a:path w="1000907" h="653141">
                  <a:moveTo>
                    <a:pt x="797707" y="0"/>
                  </a:moveTo>
                  <a:lnTo>
                    <a:pt x="0" y="0"/>
                  </a:lnTo>
                  <a:lnTo>
                    <a:pt x="0" y="653141"/>
                  </a:lnTo>
                  <a:lnTo>
                    <a:pt x="797707" y="653141"/>
                  </a:lnTo>
                  <a:lnTo>
                    <a:pt x="1000907" y="326570"/>
                  </a:lnTo>
                  <a:lnTo>
                    <a:pt x="797707" y="0"/>
                  </a:lnTo>
                  <a:close/>
                </a:path>
              </a:pathLst>
            </a:custGeom>
            <a:solidFill>
              <a:srgbClr val="598196"/>
            </a:solidFill>
          </p:spPr>
          <p:txBody>
            <a:bodyPr/>
            <a:lstStyle/>
            <a:p>
              <a:endParaRPr lang="de-AT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38100"/>
              <a:ext cx="886607" cy="69124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9" name="Freeform 9"/>
          <p:cNvSpPr/>
          <p:nvPr/>
        </p:nvSpPr>
        <p:spPr>
          <a:xfrm rot="5400000">
            <a:off x="11492805" y="2293797"/>
            <a:ext cx="455966" cy="1203911"/>
          </a:xfrm>
          <a:custGeom>
            <a:avLst/>
            <a:gdLst/>
            <a:ahLst/>
            <a:cxnLst/>
            <a:rect l="l" t="t" r="r" b="b"/>
            <a:pathLst>
              <a:path w="455966" h="1203911">
                <a:moveTo>
                  <a:pt x="0" y="0"/>
                </a:moveTo>
                <a:lnTo>
                  <a:pt x="455966" y="0"/>
                </a:lnTo>
                <a:lnTo>
                  <a:pt x="455966" y="1203910"/>
                </a:lnTo>
                <a:lnTo>
                  <a:pt x="0" y="120391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de-AT"/>
          </a:p>
        </p:txBody>
      </p:sp>
      <p:grpSp>
        <p:nvGrpSpPr>
          <p:cNvPr id="10" name="Group 10"/>
          <p:cNvGrpSpPr/>
          <p:nvPr/>
        </p:nvGrpSpPr>
        <p:grpSpPr>
          <a:xfrm>
            <a:off x="10474702" y="2654143"/>
            <a:ext cx="6784598" cy="6784598"/>
            <a:chOff x="0" y="0"/>
            <a:chExt cx="812800" cy="81280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blipFill>
              <a:blip r:embed="rId4"/>
              <a:stretch>
                <a:fillRect l="-25187" r="-25187"/>
              </a:stretch>
            </a:blipFill>
          </p:spPr>
          <p:txBody>
            <a:bodyPr/>
            <a:lstStyle/>
            <a:p>
              <a:endParaRPr lang="de-AT"/>
            </a:p>
          </p:txBody>
        </p:sp>
      </p:grpSp>
      <p:sp>
        <p:nvSpPr>
          <p:cNvPr id="12" name="TextBox 12"/>
          <p:cNvSpPr txBox="1"/>
          <p:nvPr/>
        </p:nvSpPr>
        <p:spPr>
          <a:xfrm>
            <a:off x="2090078" y="4355691"/>
            <a:ext cx="7719097" cy="326720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394"/>
              </a:lnSpc>
            </a:pPr>
            <a:r>
              <a:rPr lang="en-US" sz="260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Lorem ipsum dolor sit amet, consectetur adipiscing elit. Aliquam tincidunt blandit arcu at facilisis. Vivamus bibendum, augue a aliquam auctor, velit ipsum interdum tellus, sed ornare justo lacus a nisi. In sapien ex, egestas eu convallis nec, finibus ut urna.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738662" y="2233530"/>
            <a:ext cx="7053922" cy="9156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420"/>
              </a:lnSpc>
              <a:spcBef>
                <a:spcPct val="0"/>
              </a:spcBef>
            </a:pPr>
            <a:r>
              <a:rPr lang="en-US" sz="5300" dirty="0">
                <a:solidFill>
                  <a:srgbClr val="FFFFFF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Value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2695334" y="715962"/>
            <a:ext cx="4563966" cy="83542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3360"/>
              </a:lnSpc>
              <a:spcBef>
                <a:spcPct val="0"/>
              </a:spcBef>
            </a:pPr>
            <a:r>
              <a:rPr lang="en-US" sz="2400" b="1" dirty="0" err="1">
                <a:solidFill>
                  <a:srgbClr val="2B485F"/>
                </a:solidFill>
                <a:latin typeface="Inter Bold"/>
                <a:ea typeface="Inter Bold"/>
                <a:cs typeface="Inter Bold"/>
                <a:sym typeface="Inter Bold"/>
              </a:rPr>
              <a:t>Broadsoft</a:t>
            </a:r>
            <a:r>
              <a:rPr lang="en-US" sz="2400" b="1" dirty="0">
                <a:solidFill>
                  <a:srgbClr val="2B485F"/>
                </a:solidFill>
                <a:latin typeface="Inter Bold"/>
                <a:ea typeface="Inter Bold"/>
                <a:cs typeface="Inter Bold"/>
                <a:sym typeface="Inter Bold"/>
              </a:rPr>
              <a:t> Consulting Company</a:t>
            </a:r>
          </a:p>
        </p:txBody>
      </p:sp>
      <p:sp>
        <p:nvSpPr>
          <p:cNvPr id="15" name="Freeform 15"/>
          <p:cNvSpPr/>
          <p:nvPr/>
        </p:nvSpPr>
        <p:spPr>
          <a:xfrm rot="5400000">
            <a:off x="1495128" y="8428362"/>
            <a:ext cx="455966" cy="1203911"/>
          </a:xfrm>
          <a:custGeom>
            <a:avLst/>
            <a:gdLst/>
            <a:ahLst/>
            <a:cxnLst/>
            <a:rect l="l" t="t" r="r" b="b"/>
            <a:pathLst>
              <a:path w="455966" h="1203911">
                <a:moveTo>
                  <a:pt x="0" y="0"/>
                </a:moveTo>
                <a:lnTo>
                  <a:pt x="455966" y="0"/>
                </a:lnTo>
                <a:lnTo>
                  <a:pt x="455966" y="1203910"/>
                </a:lnTo>
                <a:lnTo>
                  <a:pt x="0" y="120391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de-AT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589980" y="1688841"/>
            <a:ext cx="6909318" cy="6909318"/>
            <a:chOff x="0" y="0"/>
            <a:chExt cx="812800" cy="8128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blipFill>
              <a:blip r:embed="rId2"/>
              <a:stretch>
                <a:fillRect l="-16666" r="-16666"/>
              </a:stretch>
            </a:blipFill>
          </p:spPr>
          <p:txBody>
            <a:bodyPr/>
            <a:lstStyle/>
            <a:p>
              <a:endParaRPr lang="de-AT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7985938" y="3600450"/>
            <a:ext cx="11015853" cy="3086100"/>
            <a:chOff x="0" y="0"/>
            <a:chExt cx="2901295" cy="8128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901295" cy="812800"/>
            </a:xfrm>
            <a:custGeom>
              <a:avLst/>
              <a:gdLst/>
              <a:ahLst/>
              <a:cxnLst/>
              <a:rect l="l" t="t" r="r" b="b"/>
              <a:pathLst>
                <a:path w="2901295" h="812800">
                  <a:moveTo>
                    <a:pt x="0" y="0"/>
                  </a:moveTo>
                  <a:lnTo>
                    <a:pt x="2901295" y="0"/>
                  </a:lnTo>
                  <a:lnTo>
                    <a:pt x="2901295" y="812800"/>
                  </a:lnTo>
                  <a:lnTo>
                    <a:pt x="0" y="812800"/>
                  </a:lnTo>
                  <a:close/>
                </a:path>
              </a:pathLst>
            </a:custGeom>
            <a:solidFill>
              <a:srgbClr val="2B485F"/>
            </a:solidFill>
          </p:spPr>
          <p:txBody>
            <a:bodyPr/>
            <a:lstStyle/>
            <a:p>
              <a:endParaRPr lang="de-AT"/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0" y="-38100"/>
              <a:ext cx="2901295" cy="8509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-425645" y="3600450"/>
            <a:ext cx="3257995" cy="3045824"/>
            <a:chOff x="0" y="0"/>
            <a:chExt cx="812800" cy="759868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812800" cy="759868"/>
            </a:xfrm>
            <a:custGeom>
              <a:avLst/>
              <a:gdLst/>
              <a:ahLst/>
              <a:cxnLst/>
              <a:rect l="l" t="t" r="r" b="b"/>
              <a:pathLst>
                <a:path w="812800" h="759868">
                  <a:moveTo>
                    <a:pt x="609600" y="0"/>
                  </a:moveTo>
                  <a:lnTo>
                    <a:pt x="0" y="0"/>
                  </a:lnTo>
                  <a:lnTo>
                    <a:pt x="0" y="759868"/>
                  </a:lnTo>
                  <a:lnTo>
                    <a:pt x="609600" y="759868"/>
                  </a:lnTo>
                  <a:lnTo>
                    <a:pt x="812800" y="379934"/>
                  </a:lnTo>
                  <a:lnTo>
                    <a:pt x="609600" y="0"/>
                  </a:lnTo>
                  <a:close/>
                </a:path>
              </a:pathLst>
            </a:custGeom>
            <a:solidFill>
              <a:srgbClr val="2B485F"/>
            </a:solidFill>
          </p:spPr>
          <p:txBody>
            <a:bodyPr/>
            <a:lstStyle/>
            <a:p>
              <a:endParaRPr lang="de-AT"/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0" y="-38100"/>
              <a:ext cx="698500" cy="79796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0" name="Group 10"/>
          <p:cNvGrpSpPr/>
          <p:nvPr/>
        </p:nvGrpSpPr>
        <p:grpSpPr>
          <a:xfrm rot="-10800000">
            <a:off x="7089597" y="3600450"/>
            <a:ext cx="1183468" cy="3086100"/>
            <a:chOff x="0" y="0"/>
            <a:chExt cx="291397" cy="759868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291397" cy="759868"/>
            </a:xfrm>
            <a:custGeom>
              <a:avLst/>
              <a:gdLst/>
              <a:ahLst/>
              <a:cxnLst/>
              <a:rect l="l" t="t" r="r" b="b"/>
              <a:pathLst>
                <a:path w="291397" h="759868">
                  <a:moveTo>
                    <a:pt x="88197" y="0"/>
                  </a:moveTo>
                  <a:lnTo>
                    <a:pt x="0" y="0"/>
                  </a:lnTo>
                  <a:lnTo>
                    <a:pt x="0" y="759868"/>
                  </a:lnTo>
                  <a:lnTo>
                    <a:pt x="88197" y="759868"/>
                  </a:lnTo>
                  <a:lnTo>
                    <a:pt x="291397" y="379934"/>
                  </a:lnTo>
                  <a:lnTo>
                    <a:pt x="88197" y="0"/>
                  </a:lnTo>
                  <a:close/>
                </a:path>
              </a:pathLst>
            </a:custGeom>
            <a:solidFill>
              <a:srgbClr val="2B485F"/>
            </a:solidFill>
          </p:spPr>
          <p:txBody>
            <a:bodyPr/>
            <a:lstStyle/>
            <a:p>
              <a:endParaRPr lang="de-AT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-38100"/>
              <a:ext cx="177097" cy="79796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3" name="TextBox 13"/>
          <p:cNvSpPr txBox="1"/>
          <p:nvPr/>
        </p:nvSpPr>
        <p:spPr>
          <a:xfrm>
            <a:off x="11572170" y="1357053"/>
            <a:ext cx="4563966" cy="18335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4899"/>
              </a:lnSpc>
              <a:spcBef>
                <a:spcPct val="0"/>
              </a:spcBef>
            </a:pPr>
            <a:r>
              <a:rPr lang="en-US" sz="3499" b="1" dirty="0" err="1">
                <a:solidFill>
                  <a:srgbClr val="000000"/>
                </a:solidFill>
                <a:latin typeface="Inter Bold"/>
                <a:ea typeface="Inter Bold"/>
                <a:cs typeface="Inter Bold"/>
                <a:sym typeface="Inter Bold"/>
              </a:rPr>
              <a:t>Broadsoft</a:t>
            </a:r>
            <a:r>
              <a:rPr lang="en-US" sz="3499" b="1" dirty="0">
                <a:solidFill>
                  <a:srgbClr val="000000"/>
                </a:solidFill>
                <a:latin typeface="Inter Bold"/>
                <a:ea typeface="Inter Bold"/>
                <a:cs typeface="Inter Bold"/>
                <a:sym typeface="Inter Bold"/>
              </a:rPr>
              <a:t> Consulting Company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7681331" y="4080188"/>
            <a:ext cx="8454806" cy="145098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11899"/>
              </a:lnSpc>
              <a:spcBef>
                <a:spcPct val="0"/>
              </a:spcBef>
            </a:pPr>
            <a:r>
              <a:rPr lang="en-US" sz="8499">
                <a:solidFill>
                  <a:srgbClr val="FFFFFF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Thank You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8791002" y="5454972"/>
            <a:ext cx="7345135" cy="5899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4759"/>
              </a:lnSpc>
              <a:spcBef>
                <a:spcPct val="0"/>
              </a:spcBef>
            </a:pPr>
            <a:r>
              <a:rPr lang="en-US" sz="3399" b="1">
                <a:solidFill>
                  <a:srgbClr val="FFFFFF"/>
                </a:solidFill>
                <a:latin typeface="Inter Bold"/>
                <a:ea typeface="Inter Bold"/>
                <a:cs typeface="Inter Bold"/>
                <a:sym typeface="Inter Bold"/>
              </a:rPr>
              <a:t>for your attention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0694108" y="8258175"/>
            <a:ext cx="5442029" cy="5641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4759"/>
              </a:lnSpc>
              <a:spcBef>
                <a:spcPct val="0"/>
              </a:spcBef>
            </a:pPr>
            <a:r>
              <a:rPr lang="en-US" sz="3399" b="1" dirty="0" err="1">
                <a:solidFill>
                  <a:srgbClr val="000000"/>
                </a:solidFill>
                <a:latin typeface="Inter Bold"/>
                <a:ea typeface="Inter Bold"/>
                <a:cs typeface="Inter Bold"/>
                <a:sym typeface="Inter Bold"/>
              </a:rPr>
              <a:t>xth</a:t>
            </a:r>
            <a:r>
              <a:rPr lang="en-US" sz="3399" b="1" dirty="0">
                <a:solidFill>
                  <a:srgbClr val="000000"/>
                </a:solidFill>
                <a:latin typeface="Inter Bold"/>
                <a:ea typeface="Inter Bold"/>
                <a:cs typeface="Inter Bold"/>
                <a:sym typeface="Inter Bold"/>
              </a:rPr>
              <a:t> January, 2026</a:t>
            </a:r>
          </a:p>
        </p:txBody>
      </p:sp>
      <p:sp>
        <p:nvSpPr>
          <p:cNvPr id="17" name="Freeform 17"/>
          <p:cNvSpPr/>
          <p:nvPr/>
        </p:nvSpPr>
        <p:spPr>
          <a:xfrm rot="5400000">
            <a:off x="198762" y="7504437"/>
            <a:ext cx="455966" cy="1203911"/>
          </a:xfrm>
          <a:custGeom>
            <a:avLst/>
            <a:gdLst/>
            <a:ahLst/>
            <a:cxnLst/>
            <a:rect l="l" t="t" r="r" b="b"/>
            <a:pathLst>
              <a:path w="455966" h="1203911">
                <a:moveTo>
                  <a:pt x="0" y="0"/>
                </a:moveTo>
                <a:lnTo>
                  <a:pt x="455966" y="0"/>
                </a:lnTo>
                <a:lnTo>
                  <a:pt x="455966" y="1203910"/>
                </a:lnTo>
                <a:lnTo>
                  <a:pt x="0" y="120391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de-AT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518</Words>
  <Application>Microsoft Office PowerPoint</Application>
  <PresentationFormat>Benutzerdefiniert</PresentationFormat>
  <Paragraphs>127</Paragraphs>
  <Slides>13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5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13</vt:i4>
      </vt:variant>
    </vt:vector>
  </HeadingPairs>
  <TitlesOfParts>
    <vt:vector size="19" baseType="lpstr">
      <vt:lpstr>Inter</vt:lpstr>
      <vt:lpstr>Inter Bold</vt:lpstr>
      <vt:lpstr>Calibri</vt:lpstr>
      <vt:lpstr>League Spartan</vt:lpstr>
      <vt:lpstr>Arial</vt:lpstr>
      <vt:lpstr>Office Theme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White and Blue Minimalist Financial Report Presentation</dc:title>
  <cp:lastModifiedBy>Simone Kern</cp:lastModifiedBy>
  <cp:revision>44</cp:revision>
  <dcterms:created xsi:type="dcterms:W3CDTF">2006-08-16T00:00:00Z</dcterms:created>
  <dcterms:modified xsi:type="dcterms:W3CDTF">2025-12-18T16:44:32Z</dcterms:modified>
  <dc:identifier>DAG7mWnch2A</dc:identifier>
</cp:coreProperties>
</file>